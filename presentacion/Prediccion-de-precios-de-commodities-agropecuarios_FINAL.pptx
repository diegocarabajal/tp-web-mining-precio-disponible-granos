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9" r:id="rId14"/>
    <p:sldId id="270" r:id="rId15"/>
    <p:sldId id="271" r:id="rId16"/>
    <p:sldId id="272" r:id="rId17"/>
  </p:sldIdLst>
  <p:sldSz cx="12192000" cy="6858000"/>
  <p:notesSz cx="6858000" cy="12192000"/>
  <p:embeddedFontLst>
    <p:embeddedFont>
      <p:font typeface="Consolas" panose="020B0609020204030204" pitchFamily="49" charset="0"/>
      <p:regular r:id="rId19"/>
      <p:bold r:id="rId20"/>
      <p:italic r:id="rId21"/>
      <p:boldItalic r:id="rId22"/>
    </p:embeddedFont>
    <p:embeddedFont>
      <p:font typeface="JetBrains Mono Bold" panose="020B0604020202020204" charset="0"/>
      <p:regular r:id="rId23"/>
    </p:embeddedFont>
    <p:embeddedFont>
      <p:font typeface="JetBrains Mono Medium" panose="020B0604020202020204" charset="0"/>
      <p:regular r:id="rId24"/>
    </p:embeddedFont>
    <p:embeddedFont>
      <p:font typeface="Montserrat" panose="00000500000000000000" pitchFamily="2" charset="0"/>
      <p:regular r:id="rId25"/>
      <p:bold r:id="rId26"/>
      <p:italic r:id="rId27"/>
      <p:boldItalic r:id="rId28"/>
    </p:embeddedFont>
    <p:embeddedFont>
      <p:font typeface="Public Sans" panose="020B0604020202020204" charset="0"/>
      <p:regular r:id="rId29"/>
    </p:embeddedFont>
    <p:embeddedFont>
      <p:font typeface="Public Sans Bold" panose="020B0604020202020204" charset="0"/>
      <p:regular r:id="rId30"/>
    </p:embeddedFont>
    <p:embeddedFont>
      <p:font typeface="Public Sans SemiBold" panose="020B0604020202020204" charset="0"/>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6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r>
              <a:rPr lang="es-AR" sz="1800" b="1">
                <a:solidFill>
                  <a:srgbClr val="142E3A"/>
                </a:solidFill>
                <a:latin typeface="Rubik"/>
                <a:ea typeface="Rubik"/>
                <a:cs typeface="Rubik"/>
              </a:rPr>
              <a:t>XGBoost a 90 días</a:t>
            </a:r>
          </a:p>
        </c:rich>
      </c:tx>
      <c:overlay val="0"/>
    </c:title>
    <c:autoTitleDeleted val="0"/>
    <c:plotArea>
      <c:layout/>
      <c:barChart>
        <c:barDir val="col"/>
        <c:grouping val="clustered"/>
        <c:varyColors val="0"/>
        <c:ser>
          <c:idx val="0"/>
          <c:order val="0"/>
          <c:tx>
            <c:v>Puntaje R²</c:v>
          </c:tx>
          <c:spPr>
            <a:solidFill>
              <a:srgbClr val="0A8574"/>
            </a:solidFill>
            <a:ln w="0">
              <a:noFill/>
              <a:prstDash val="solid"/>
            </a:ln>
          </c:spPr>
          <c:invertIfNegative val="0"/>
          <c:dPt>
            <c:idx val="0"/>
            <c:invertIfNegative val="0"/>
            <c:bubble3D val="0"/>
            <c:spPr>
              <a:solidFill>
                <a:srgbClr val="90A7A1"/>
              </a:solidFill>
            </c:spPr>
            <c:extLst>
              <c:ext xmlns:c16="http://schemas.microsoft.com/office/drawing/2014/chart" uri="{C3380CC4-5D6E-409C-BE32-E72D297353CC}">
                <c16:uniqueId val="{00000001-575E-4479-9394-9198A19C68B4}"/>
              </c:ext>
            </c:extLst>
          </c:dPt>
          <c:dPt>
            <c:idx val="1"/>
            <c:invertIfNegative val="0"/>
            <c:bubble3D val="0"/>
            <c:spPr>
              <a:solidFill>
                <a:srgbClr val="0A8574"/>
              </a:solidFill>
            </c:spPr>
            <c:extLst>
              <c:ext xmlns:c16="http://schemas.microsoft.com/office/drawing/2014/chart" uri="{C3380CC4-5D6E-409C-BE32-E72D297353CC}">
                <c16:uniqueId val="{00000003-575E-4479-9394-9198A19C68B4}"/>
              </c:ext>
            </c:extLst>
          </c:dPt>
          <c:dPt>
            <c:idx val="2"/>
            <c:invertIfNegative val="0"/>
            <c:bubble3D val="0"/>
            <c:spPr>
              <a:solidFill>
                <a:srgbClr val="D3AF63"/>
              </a:solidFill>
            </c:spPr>
            <c:extLst>
              <c:ext xmlns:c16="http://schemas.microsoft.com/office/drawing/2014/chart" uri="{C3380CC4-5D6E-409C-BE32-E72D297353CC}">
                <c16:uniqueId val="{00000005-575E-4479-9394-9198A19C68B4}"/>
              </c:ext>
            </c:extLst>
          </c:dPt>
          <c:dLbls>
            <c:dLbl>
              <c:idx val="0"/>
              <c:tx>
                <c:rich>
                  <a:bodyPr/>
                  <a:lstStyle/>
                  <a:p>
                    <a:r>
                      <a:rPr lang="en-US" sz="1425" b="1">
                        <a:solidFill>
                          <a:srgbClr val="142E3A"/>
                        </a:solidFill>
                        <a:latin typeface="Rubik"/>
                        <a:ea typeface="Rubik"/>
                        <a:cs typeface="Rubik"/>
                      </a:rPr>
                      <a:t>−0,76</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575E-4479-9394-9198A19C68B4}"/>
                </c:ext>
              </c:extLst>
            </c:dLbl>
            <c:dLbl>
              <c:idx val="1"/>
              <c:tx>
                <c:rich>
                  <a:bodyPr/>
                  <a:lstStyle/>
                  <a:p>
                    <a:r>
                      <a:rPr lang="en-US" sz="1425" b="1">
                        <a:solidFill>
                          <a:srgbClr val="142E3A"/>
                        </a:solidFill>
                        <a:latin typeface="Rubik"/>
                        <a:ea typeface="Rubik"/>
                        <a:cs typeface="Rubik"/>
                      </a:rPr>
                      <a:t>−0,18</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575E-4479-9394-9198A19C68B4}"/>
                </c:ext>
              </c:extLst>
            </c:dLbl>
            <c:dLbl>
              <c:idx val="2"/>
              <c:tx>
                <c:rich>
                  <a:bodyPr/>
                  <a:lstStyle/>
                  <a:p>
                    <a:r>
                      <a:rPr lang="en-US" sz="1425" b="1">
                        <a:solidFill>
                          <a:srgbClr val="142E3A"/>
                        </a:solidFill>
                        <a:latin typeface="Rubik"/>
                        <a:ea typeface="Rubik"/>
                        <a:cs typeface="Rubik"/>
                      </a:rPr>
                      <a:t>−0,15</a:t>
                    </a:r>
                  </a:p>
                </c:rich>
              </c:tx>
              <c:spPr/>
              <c:showLegendKey val="1"/>
              <c:showVal val="1"/>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575E-4479-9394-9198A19C68B4}"/>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Data'!$A$2:$A$4</c:f>
              <c:strCache>
                <c:ptCount val="3"/>
                <c:pt idx="0">
                  <c:v>Precio</c:v>
                </c:pt>
                <c:pt idx="1">
                  <c:v>+ Chicago</c:v>
                </c:pt>
                <c:pt idx="2">
                  <c:v>+ Lluvia</c:v>
                </c:pt>
              </c:strCache>
            </c:strRef>
          </c:cat>
          <c:val>
            <c:numRef>
              <c:f>'Chart Data'!$B$2:$B$4</c:f>
              <c:numCache>
                <c:formatCode>0</c:formatCode>
                <c:ptCount val="3"/>
                <c:pt idx="0">
                  <c:v>-0.76</c:v>
                </c:pt>
                <c:pt idx="1">
                  <c:v>-0.18</c:v>
                </c:pt>
                <c:pt idx="2">
                  <c:v>-0.15</c:v>
                </c:pt>
              </c:numCache>
            </c:numRef>
          </c:val>
          <c:extLst>
            <c:ext xmlns:c16="http://schemas.microsoft.com/office/drawing/2014/chart" uri="{C3380CC4-5D6E-409C-BE32-E72D297353CC}">
              <c16:uniqueId val="{00000006-575E-4479-9394-9198A19C68B4}"/>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BE4DE"/>
            </a:solidFill>
            <a:prstDash val="solid"/>
          </a:ln>
        </c:spPr>
        <c:txPr>
          <a:bodyPr anchorCtr="1"/>
          <a:lstStyle/>
          <a:p>
            <a:pPr>
              <a:defRPr sz="1275">
                <a:solidFill>
                  <a:srgbClr val="42565E"/>
                </a:solidFill>
                <a:latin typeface="Rubik"/>
                <a:ea typeface="Rubik"/>
                <a:cs typeface="Rubik"/>
              </a:defRPr>
            </a:pPr>
            <a:endParaRPr lang="es-AR"/>
          </a:p>
        </c:txPr>
        <c:crossAx val="48672768"/>
        <c:crosses val="autoZero"/>
        <c:auto val="1"/>
        <c:lblAlgn val="ctr"/>
        <c:lblOffset val="100"/>
        <c:noMultiLvlLbl val="1"/>
      </c:catAx>
      <c:valAx>
        <c:axId val="48672768"/>
        <c:scaling>
          <c:orientation val="minMax"/>
          <c:max val="0"/>
          <c:min val="-1"/>
        </c:scaling>
        <c:delete val="0"/>
        <c:axPos val="l"/>
        <c:majorGridlines>
          <c:spPr>
            <a:ln w="9525">
              <a:solidFill>
                <a:srgbClr val="DBE4DE"/>
              </a:solidFill>
              <a:prstDash val="solid"/>
            </a:ln>
          </c:spPr>
        </c:majorGridlines>
        <c:numFmt formatCode="0" sourceLinked="1"/>
        <c:majorTickMark val="none"/>
        <c:minorTickMark val="none"/>
        <c:tickLblPos val="nextTo"/>
        <c:spPr>
          <a:ln w="0">
            <a:noFill/>
            <a:prstDash val="solid"/>
          </a:ln>
        </c:spPr>
        <c:txPr>
          <a:bodyPr anchorCtr="1"/>
          <a:lstStyle/>
          <a:p>
            <a:pPr>
              <a:defRPr sz="1125">
                <a:solidFill>
                  <a:srgbClr val="6C7F84"/>
                </a:solidFill>
                <a:latin typeface="Rubik"/>
                <a:ea typeface="Rubik"/>
                <a:cs typeface="Rubik"/>
              </a:defRPr>
            </a:pPr>
            <a:endParaRPr lang="es-AR"/>
          </a:p>
        </c:txPr>
        <c:crossAx val="48650112"/>
        <c:crosses val="autoZero"/>
        <c:crossBetween val="between"/>
        <c:majorUnit val="1"/>
      </c:valAx>
      <c:spPr>
        <a:solidFill>
          <a:srgbClr val="F8F9F5"/>
        </a:solidFill>
        <a:ln w="0">
          <a:noFill/>
          <a:prstDash val="solid"/>
        </a:ln>
      </c:spPr>
    </c:plotArea>
    <c:plotVisOnly val="1"/>
    <c:dispBlanksAs val="zero"/>
    <c:showDLblsOverMax val="1"/>
  </c:chart>
  <c:spPr>
    <a:solidFill>
      <a:srgbClr val="F8F9F5"/>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5380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trabajo final de Web Mining: predecir el precio disponible de soja, maíz y trigo en Rosario a 30, 60 y 90 días combinando historia local, Chicago y lluvias del Corn Belt. Del archivo de Matba se utiliza únicamente el precio disponible y se descartan los contratos futuros.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foco es resolver si la información pública permite superar el supuesto de precio constante. Usamos 908 ruedas por grano entre 2023 y 2026, descartando los futuros del archivo de Matba y evaluando qué fuente externa agrega valor real.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técnico cubre desde la captura sin costo hasta la evaluación. Nótese el énfasis en no usar información del futuro en ningún paso del armado de variables.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se construyó íntegramente con recursos abiertos. Se descartaron los contratos futuros provistos en el archivo de Matba para aislar el precio disponible. La NOAA cubre los estados clave del Corn Belt.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scraper de Chicago requirió robustez operativa ante bloqueos temporales del sitio de la BCR. Se implementaron reintentos con backoff exponencial, almacenamiento transaccional en JSONL y parsing flexible de tablas complejas.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Ambas fuentes se conectaron mediante peticiones HTTP estándar. En Matba se implementó filtrado propio por inconsistencias del endpoint, mientras que en NOAA el control cruzado entre series diarias y mensuales reveló inconsistencias de origen.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tratamiento riguroso de cada fuente garantizó que no se inventaran datos ante faltantes ni se generaran saltos artificiales por cambios de vencimiento en los contratos internacionales.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Predecir retornos en lugar de niveles brutos evita el sesgo de persistencia: predecir el precio absoluto con la última observación genera métricas engañosas sin aportar capacidad predictiva real.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respetó la estructura temporal sin partición aleatoria. El corte de prueba se fijó en enero de 2025 y la purga garantizó que las etiquetas de horizontes largos no se filtraran en ventanas intermedias.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granos se modelaron juntos para triplicar las observaciones disponibles. Se comparan algoritmos lineales penalizados, métodos no lineales y modelos de series de tiempo frente a dos puntos de referencia simples.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principal. Cero es empatar con suponer que el precio no cambia; positivo es mejorar. El mejor fue ARIMAX, con Chicago y clima: mejora apenas a 60 y 90 días, y en soja a 90 días llega a +0,09. Pero ninguna mejora es estadísticamente significativa. Seguir la tendencia empeora siempre, y XGBoost fue el peor.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saber qué fuente sirve, entrenamos el mismo modelo sumando información de a una. Con solo su propio precio, XGBoost es muy malo. Al agregar Chicago mejora mucho: a 90 días pasa de −0,76 a −0,18. El clima del Corn Belt casi no cambia nada, probablemente porque Chicago ya lo refleja. Con ARIMA pasa lo mismo en chico: con Chicago y clima pasa a terreno positivo a 60 y 90 días. ElasticNet, con regularización fuerte, se quedó con casi ninguna variable.</a:t>
            </a:r>
          </a:p>
          <a:p>
            <a:endParaRPr/>
          </a:p>
          <a:p>
            <a:r>
              <a:t>ElasticNet descartó casi todas las variables y mostró resultados similares con una, dos o tres fuentes. La hipótesis de que Chicago ya refleja parte del clima es una posible interpretación, no un resultado demostrado por esta comparación. Gráfico editable con valores literales del XGBoost a 90 días: −0,76, −0,18 y −0,15.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 todos los datos, ARIMAX pronostica precios casi estables hasta fin de año: soja alrededor de 370 dólares, maíz 197 y trigo 232 a 90 días. Lo importante es el rango: el precio real cayó dentro de esas bandas 8 de cada 10 veces en la prueba, y son amplias. A 90 días la soja puede terminar entre 336 y 432 sin que ningún modelo lo anticipe. XGBoost predice subas, pero fue el peor en la prueba.</a:t>
            </a:r>
          </a:p>
          <a:p>
            <a:endParaRPr/>
          </a:p>
          <a:p>
            <a:r>
              <a:t>Las bandas mostradas corresponden al rango presentado en el original para el pronóstico a 90 días. XGBoost marca subas de 3% a 5%, pero fue el modelo con peor desempeño en la prueba. La cobertura del 80% es observada en la evaluación histórica y no una garantía futura.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conclusiones. Primero, la web alcanzó para armar el dataset completo: con un scraping de 837 páginas de la Bolsa de Comercio de Rosario y dos APIs públicas, sin pagar ningún dato. Segundo, la mayor parte del trabajo no fue modelar sino limpiar e integrar: cada fuente tenía su formato, sus huecos y sus trampas, y las tres usan calendarios distintos. Tercero, con estos datos ningún modelo mejora con claridad al precio de hoy: Chicago es la fuente que más aporta y la lluvia del Corn Belt casi nada.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hubiéramos tenido el doble de tiempo, lo primero sería más historia: scrapear la Bolsa de Comercio y CEM2 hacia atrás, porque tres años y medio cubren pocas campañas. Segundo, automatizar el scraping para que corra solo todos los días, con reintentos y una base de datos. Tercero, minería de texto. Cuarto, sumar el dólar y las retenciones. Quinto, lluvia de Argentina y Brasil, y pesar cada estado del Corn Belt por lo que produce. Y por último, combinar modelos y evaluar mejor los rangos de pronóstico.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Los dos notebooks están listos para correr en Google Colab: el 01b arma el dataset y el 02b entrena y evalúa los modelos. Quedamos abiertos a preguntas.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bg>
      <p:bgPr>
        <a:solidFill>
          <a:srgbClr val="FBFCFB"/>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245875-0E6F-4900-9C26-3DB49702A2B1}"/>
              </a:ext>
            </a:extLst>
          </p:cNvPr>
          <p:cNvSpPr>
            <a:spLocks noGrp="1"/>
          </p:cNvSpPr>
          <p:nvPr>
            <p:ph type="title"/>
          </p:nvPr>
        </p:nvSpPr>
        <p:spPr>
          <a:xfrm>
            <a:off x="812800" y="876300"/>
            <a:ext cx="10566400" cy="502841"/>
          </a:xfrm>
          <a:prstGeom prst="rect">
            <a:avLst/>
          </a:prstGeom>
          <a:noFill/>
        </p:spPr>
        <p:txBody>
          <a:bodyPr wrap="square" lIns="0" tIns="0" rIns="0" bIns="0" anchor="t"/>
          <a:lstStyle>
            <a:lvl1pPr marL="0" indent="0" algn="l">
              <a:lnSpc>
                <a:spcPct val="115000"/>
              </a:lnSpc>
              <a:buNone/>
              <a:defRPr sz="3600">
                <a:solidFill>
                  <a:srgbClr val="0D1136"/>
                </a:solidFill>
                <a:latin typeface="Montserrat"/>
                <a:ea typeface="Montserrat"/>
                <a:cs typeface="Montserrat"/>
              </a:defRPr>
            </a:lvl1pPr>
          </a:lstStyle>
          <a:p>
            <a:pPr marL="0" indent="0" algn="l">
              <a:lnSpc>
                <a:spcPct val="115000"/>
              </a:lnSpc>
              <a:buNone/>
            </a:pPr>
            <a:endParaRPr sz="3600"/>
          </a:p>
        </p:txBody>
      </p:sp>
      <p:sp>
        <p:nvSpPr>
          <p:cNvPr id="3" name="Text Placeholder 2">
            <a:extLst>
              <a:ext uri="{FF2B5EF4-FFF2-40B4-BE49-F238E27FC236}">
                <a16:creationId xmlns:a16="http://schemas.microsoft.com/office/drawing/2014/main" id="{57683A36-B67D-4369-8A54-F628B6126206}"/>
              </a:ext>
            </a:extLst>
          </p:cNvPr>
          <p:cNvSpPr>
            <a:spLocks noGrp="1"/>
          </p:cNvSpPr>
          <p:nvPr>
            <p:ph type="body" idx="101"/>
          </p:nvPr>
        </p:nvSpPr>
        <p:spPr>
          <a:xfrm>
            <a:off x="812800" y="1683941"/>
            <a:ext cx="10566400" cy="4361259"/>
          </a:xfrm>
          <a:prstGeom prst="rect">
            <a:avLst/>
          </a:prstGeom>
          <a:noFill/>
        </p:spPr>
        <p:txBody>
          <a:bodyPr wrap="square" lIns="0" tIns="0" rIns="0" bIns="0" anchor="t"/>
          <a:lstStyle>
            <a:lvl1pPr marL="0" indent="0" algn="l">
              <a:lnSpc>
                <a:spcPct val="140000"/>
              </a:lnSpc>
              <a:buNone/>
              <a:defRPr sz="1600">
                <a:solidFill>
                  <a:srgbClr val="0D1136"/>
                </a:solidFill>
                <a:latin typeface="Inter"/>
                <a:ea typeface="Inter"/>
                <a:cs typeface="Inter"/>
              </a:defRPr>
            </a:lvl1pPr>
          </a:lstStyle>
          <a:p>
            <a:pPr marL="0" indent="0" algn="l">
              <a:lnSpc>
                <a:spcPct val="140000"/>
              </a:lnSpc>
              <a:buNone/>
            </a:pPr>
            <a:endParaRPr sz="1600"/>
          </a:p>
        </p:txBody>
      </p:sp>
    </p:spTree>
    <p:extLst>
      <p:ext uri="{BB962C8B-B14F-4D97-AF65-F5344CB8AC3E}">
        <p14:creationId xmlns:p14="http://schemas.microsoft.com/office/powerpoint/2010/main" val="31034552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E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5" y="1543050"/>
            <a:ext cx="482588" cy="584200"/>
          </a:xfrm>
          <a:prstGeom prst="rect">
            <a:avLst/>
          </a:prstGeom>
        </p:spPr>
      </p:pic>
      <p:sp>
        <p:nvSpPr>
          <p:cNvPr id="3" name="Text 0"/>
          <p:cNvSpPr/>
          <p:nvPr/>
        </p:nvSpPr>
        <p:spPr>
          <a:xfrm>
            <a:off x="1412145" y="1735527"/>
            <a:ext cx="5852073" cy="217289"/>
          </a:xfrm>
          <a:prstGeom prst="rect">
            <a:avLst/>
          </a:prstGeom>
          <a:noFill/>
          <a:ln/>
        </p:spPr>
        <p:txBody>
          <a:bodyPr wrap="none" lIns="0" tIns="0" rIns="0" bIns="0" rtlCol="0" anchor="t"/>
          <a:lstStyle/>
          <a:p>
            <a:pPr marL="0" indent="0" algn="l">
              <a:lnSpc>
                <a:spcPct val="98000"/>
              </a:lnSpc>
              <a:buNone/>
            </a:pPr>
            <a:r>
              <a:rPr lang="en-US" sz="1450" b="1" kern="100" spc="87" dirty="0">
                <a:solidFill>
                  <a:srgbClr val="D3AF63"/>
                </a:solidFill>
                <a:latin typeface="JetBrains Mono Bold" pitchFamily="34" charset="0"/>
                <a:ea typeface="JetBrains Mono Bold" pitchFamily="34" charset="-122"/>
                <a:cs typeface="JetBrains Mono Bold" pitchFamily="34" charset="0"/>
              </a:rPr>
              <a:t>WEB MINING</a:t>
            </a:r>
            <a:r>
              <a:rPr lang="en-US" sz="1450" kern="100" spc="87" dirty="0">
                <a:solidFill>
                  <a:srgbClr val="16B69A"/>
                </a:solidFill>
                <a:latin typeface="JetBrains Mono Medium" pitchFamily="34" charset="0"/>
                <a:ea typeface="JetBrains Mono Medium" pitchFamily="34" charset="-122"/>
                <a:cs typeface="JetBrains Mono Medium" pitchFamily="34" charset="0"/>
              </a:rPr>
              <a:t> · Universidad Austral</a:t>
            </a:r>
            <a:endParaRPr lang="en-US" sz="1450" dirty="0"/>
          </a:p>
        </p:txBody>
      </p:sp>
      <p:sp>
        <p:nvSpPr>
          <p:cNvPr id="4" name="Text 1"/>
          <p:cNvSpPr/>
          <p:nvPr/>
        </p:nvSpPr>
        <p:spPr>
          <a:xfrm>
            <a:off x="609585" y="2330727"/>
            <a:ext cx="6654634" cy="987425"/>
          </a:xfrm>
          <a:prstGeom prst="rect">
            <a:avLst/>
          </a:prstGeom>
          <a:noFill/>
          <a:ln/>
        </p:spPr>
        <p:txBody>
          <a:bodyPr wrap="square" lIns="0" tIns="0" rIns="0" bIns="0" rtlCol="0" anchor="t">
            <a:normAutofit lnSpcReduction="10000"/>
          </a:bodyPr>
          <a:lstStyle/>
          <a:p>
            <a:pPr marL="0" indent="0" algn="l">
              <a:lnSpc>
                <a:spcPct val="90000"/>
              </a:lnSpc>
              <a:buNone/>
            </a:pPr>
            <a:r>
              <a:rPr lang="en-US" sz="3600" b="1" kern="100" spc="-29" dirty="0">
                <a:solidFill>
                  <a:srgbClr val="FFFFFF"/>
                </a:solidFill>
                <a:latin typeface="Public Sans Bold" pitchFamily="34" charset="0"/>
                <a:ea typeface="Public Sans Bold" pitchFamily="34" charset="-122"/>
                <a:cs typeface="Public Sans Bold" pitchFamily="34" charset="0"/>
              </a:rPr>
              <a:t>Predicción de precios de commodities agropecuarios</a:t>
            </a:r>
            <a:endParaRPr lang="en-US" sz="3600" dirty="0"/>
          </a:p>
        </p:txBody>
      </p:sp>
      <p:sp>
        <p:nvSpPr>
          <p:cNvPr id="5" name="Text 2"/>
          <p:cNvSpPr/>
          <p:nvPr/>
        </p:nvSpPr>
        <p:spPr>
          <a:xfrm>
            <a:off x="609585" y="3469958"/>
            <a:ext cx="7111822" cy="325041"/>
          </a:xfrm>
          <a:prstGeom prst="rect">
            <a:avLst/>
          </a:prstGeom>
          <a:noFill/>
          <a:ln/>
        </p:spPr>
        <p:txBody>
          <a:bodyPr wrap="none" lIns="0" tIns="0" rIns="0" bIns="0" rtlCol="0" anchor="t"/>
          <a:lstStyle/>
          <a:p>
            <a:pPr marL="0" indent="0" algn="l">
              <a:lnSpc>
                <a:spcPct val="107000"/>
              </a:lnSpc>
              <a:buNone/>
            </a:pPr>
            <a:r>
              <a:rPr lang="en-US" sz="2000" dirty="0">
                <a:solidFill>
                  <a:srgbClr val="FFFFFF"/>
                </a:solidFill>
                <a:latin typeface="Public Sans" pitchFamily="34" charset="0"/>
                <a:ea typeface="Public Sans" pitchFamily="34" charset="-122"/>
                <a:cs typeface="Public Sans" pitchFamily="34" charset="0"/>
              </a:rPr>
              <a:t>Soja, maíz y trigo en Rosario</a:t>
            </a:r>
            <a:endParaRPr lang="en-US" sz="2000" dirty="0"/>
          </a:p>
        </p:txBody>
      </p:sp>
      <p:sp>
        <p:nvSpPr>
          <p:cNvPr id="6" name="Text 3"/>
          <p:cNvSpPr/>
          <p:nvPr/>
        </p:nvSpPr>
        <p:spPr>
          <a:xfrm>
            <a:off x="609585" y="3946636"/>
            <a:ext cx="7111822" cy="251916"/>
          </a:xfrm>
          <a:prstGeom prst="rect">
            <a:avLst/>
          </a:prstGeom>
          <a:noFill/>
          <a:ln/>
        </p:spPr>
        <p:txBody>
          <a:bodyPr wrap="none" lIns="0" tIns="0" rIns="0" bIns="0" rtlCol="0" anchor="t"/>
          <a:lstStyle/>
          <a:p>
            <a:pPr marL="0" indent="0" algn="l">
              <a:lnSpc>
                <a:spcPct val="103000"/>
              </a:lnSpc>
              <a:buNone/>
            </a:pPr>
            <a:r>
              <a:rPr lang="en-US" sz="1600" dirty="0">
                <a:solidFill>
                  <a:srgbClr val="EEF3F0"/>
                </a:solidFill>
                <a:latin typeface="Public Sans" pitchFamily="34" charset="0"/>
                <a:ea typeface="Public Sans" pitchFamily="34" charset="-122"/>
                <a:cs typeface="Public Sans" pitchFamily="34" charset="0"/>
              </a:rPr>
              <a:t>Pronósticos a 30, 60 y 90 días</a:t>
            </a:r>
            <a:endParaRPr lang="en-US" sz="1600" dirty="0"/>
          </a:p>
        </p:txBody>
      </p:sp>
      <p:sp>
        <p:nvSpPr>
          <p:cNvPr id="7" name="Shape 4"/>
          <p:cNvSpPr/>
          <p:nvPr/>
        </p:nvSpPr>
        <p:spPr>
          <a:xfrm>
            <a:off x="609585" y="4409182"/>
            <a:ext cx="6654634" cy="38100"/>
          </a:xfrm>
          <a:prstGeom prst="roundRect">
            <a:avLst>
              <a:gd name="adj" fmla="val 49999"/>
            </a:avLst>
          </a:prstGeom>
          <a:solidFill>
            <a:srgbClr val="D9E1DF"/>
          </a:solidFill>
          <a:ln/>
        </p:spPr>
        <p:txBody>
          <a:bodyPr/>
          <a:lstStyle/>
          <a:p>
            <a:endParaRPr lang="es-AR"/>
          </a:p>
        </p:txBody>
      </p:sp>
      <p:sp>
        <p:nvSpPr>
          <p:cNvPr id="8" name="Text 5"/>
          <p:cNvSpPr/>
          <p:nvPr/>
        </p:nvSpPr>
        <p:spPr>
          <a:xfrm>
            <a:off x="609585" y="4672770"/>
            <a:ext cx="7111822" cy="260052"/>
          </a:xfrm>
          <a:prstGeom prst="rect">
            <a:avLst/>
          </a:prstGeom>
          <a:noFill/>
          <a:ln/>
        </p:spPr>
        <p:txBody>
          <a:bodyPr wrap="none" lIns="0" tIns="0" rIns="0" bIns="0" rtlCol="0" anchor="t"/>
          <a:lstStyle/>
          <a:p>
            <a:pPr marL="0" indent="0" algn="l">
              <a:lnSpc>
                <a:spcPct val="107000"/>
              </a:lnSpc>
              <a:buNone/>
            </a:pPr>
            <a:r>
              <a:rPr lang="en-US" sz="1600" dirty="0">
                <a:solidFill>
                  <a:srgbClr val="FFFFFF"/>
                </a:solidFill>
                <a:latin typeface="Public Sans" pitchFamily="34" charset="0"/>
                <a:ea typeface="Public Sans" pitchFamily="34" charset="-122"/>
                <a:cs typeface="Public Sans" pitchFamily="34" charset="0"/>
              </a:rPr>
              <a:t>Jorge Barbona · Sofía Cremydas · Diego Carabajal · Nicolás Caggiano</a:t>
            </a:r>
            <a:endParaRPr lang="en-US" sz="1600" dirty="0"/>
          </a:p>
        </p:txBody>
      </p:sp>
      <p:sp>
        <p:nvSpPr>
          <p:cNvPr id="9" name="Text 6"/>
          <p:cNvSpPr/>
          <p:nvPr/>
        </p:nvSpPr>
        <p:spPr>
          <a:xfrm>
            <a:off x="609585" y="5086429"/>
            <a:ext cx="7111822" cy="236141"/>
          </a:xfrm>
          <a:prstGeom prst="rect">
            <a:avLst/>
          </a:prstGeom>
          <a:noFill/>
          <a:ln/>
        </p:spPr>
        <p:txBody>
          <a:bodyPr wrap="none" lIns="0" tIns="0" rIns="0" bIns="0" rtlCol="0" anchor="t"/>
          <a:lstStyle/>
          <a:p>
            <a:pPr marL="0" indent="0" algn="l">
              <a:lnSpc>
                <a:spcPct val="103000"/>
              </a:lnSpc>
              <a:buNone/>
            </a:pPr>
            <a:r>
              <a:rPr lang="en-US" sz="1500" dirty="0">
                <a:solidFill>
                  <a:srgbClr val="D9E1DF"/>
                </a:solidFill>
                <a:latin typeface="Public Sans" pitchFamily="34" charset="0"/>
                <a:ea typeface="Public Sans" pitchFamily="34" charset="-122"/>
                <a:cs typeface="Public Sans" pitchFamily="34" charset="0"/>
              </a:rPr>
              <a:t>Trabajo final del Grupo 6 · Octubre de 2026</a:t>
            </a:r>
            <a:endParaRPr lang="en-US" sz="1500" dirty="0"/>
          </a:p>
        </p:txBody>
      </p:sp>
      <p:pic>
        <p:nvPicPr>
          <p:cNvPr id="10" name="Image 1" descr="preencoded.png"/>
          <p:cNvPicPr>
            <a:picLocks noChangeAspect="1"/>
          </p:cNvPicPr>
          <p:nvPr/>
        </p:nvPicPr>
        <p:blipFill>
          <a:blip r:embed="rId4"/>
          <a:stretch>
            <a:fillRect/>
          </a:stretch>
        </p:blipFill>
        <p:spPr>
          <a:xfrm>
            <a:off x="7721407" y="0"/>
            <a:ext cx="447028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CONTEXTO Y DEFINICIÓN</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El problema</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Anticipar el precio disponible de Rosario con datos públicos</a:t>
            </a:r>
            <a:endParaRPr lang="en-US" sz="1600" dirty="0"/>
          </a:p>
        </p:txBody>
      </p:sp>
      <p:sp>
        <p:nvSpPr>
          <p:cNvPr id="5" name="Shape 3"/>
          <p:cNvSpPr/>
          <p:nvPr/>
        </p:nvSpPr>
        <p:spPr>
          <a:xfrm>
            <a:off x="609585" y="1904107"/>
            <a:ext cx="10972526" cy="6350"/>
          </a:xfrm>
          <a:prstGeom prst="rect">
            <a:avLst/>
          </a:prstGeom>
          <a:solidFill>
            <a:srgbClr val="D9E1DF"/>
          </a:solidFill>
          <a:ln/>
        </p:spPr>
        <p:txBody>
          <a:bodyPr/>
          <a:lstStyle/>
          <a:p>
            <a:endParaRPr lang="es-AR"/>
          </a:p>
        </p:txBody>
      </p:sp>
      <p:sp>
        <p:nvSpPr>
          <p:cNvPr id="6" name="Shape 4"/>
          <p:cNvSpPr/>
          <p:nvPr/>
        </p:nvSpPr>
        <p:spPr>
          <a:xfrm>
            <a:off x="609585" y="3855244"/>
            <a:ext cx="10972526" cy="6350"/>
          </a:xfrm>
          <a:prstGeom prst="rect">
            <a:avLst/>
          </a:prstGeom>
          <a:solidFill>
            <a:srgbClr val="D9E1DF"/>
          </a:solidFill>
          <a:ln/>
        </p:spPr>
        <p:txBody>
          <a:bodyPr/>
          <a:lstStyle/>
          <a:p>
            <a:endParaRPr lang="es-AR"/>
          </a:p>
        </p:txBody>
      </p:sp>
      <p:sp>
        <p:nvSpPr>
          <p:cNvPr id="7" name="Shape 5"/>
          <p:cNvSpPr/>
          <p:nvPr/>
        </p:nvSpPr>
        <p:spPr>
          <a:xfrm>
            <a:off x="609585" y="2037457"/>
            <a:ext cx="10972526" cy="1690787"/>
          </a:xfrm>
          <a:prstGeom prst="rect">
            <a:avLst/>
          </a:prstGeom>
          <a:solidFill>
            <a:srgbClr val="FFFFFF"/>
          </a:solidFill>
          <a:ln/>
        </p:spPr>
        <p:txBody>
          <a:bodyPr/>
          <a:lstStyle/>
          <a:p>
            <a:endParaRPr lang="es-AR"/>
          </a:p>
        </p:txBody>
      </p:sp>
      <p:sp>
        <p:nvSpPr>
          <p:cNvPr id="8" name="Text 6"/>
          <p:cNvSpPr/>
          <p:nvPr/>
        </p:nvSpPr>
        <p:spPr>
          <a:xfrm>
            <a:off x="914377" y="2275079"/>
            <a:ext cx="10667733"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PREGUNTA DE INVESTIGACIÓN</a:t>
            </a:r>
            <a:endParaRPr lang="en-US" sz="1450" dirty="0"/>
          </a:p>
        </p:txBody>
      </p:sp>
      <p:sp>
        <p:nvSpPr>
          <p:cNvPr id="9" name="Text 7"/>
          <p:cNvSpPr/>
          <p:nvPr/>
        </p:nvSpPr>
        <p:spPr>
          <a:xfrm>
            <a:off x="914377" y="2555147"/>
            <a:ext cx="10362941" cy="353516"/>
          </a:xfrm>
          <a:prstGeom prst="rect">
            <a:avLst/>
          </a:prstGeom>
          <a:noFill/>
          <a:ln/>
        </p:spPr>
        <p:txBody>
          <a:bodyPr wrap="none" lIns="0" tIns="0" rIns="0" bIns="0" rtlCol="0" anchor="t"/>
          <a:lstStyle/>
          <a:p>
            <a:pPr marL="0" indent="0" algn="l">
              <a:lnSpc>
                <a:spcPct val="97000"/>
              </a:lnSpc>
              <a:buNone/>
            </a:pPr>
            <a:r>
              <a:rPr lang="en-US" sz="2400" b="1" kern="100" spc="-5" dirty="0">
                <a:solidFill>
                  <a:srgbClr val="142E3A"/>
                </a:solidFill>
                <a:latin typeface="Public Sans Bold" pitchFamily="34" charset="0"/>
                <a:ea typeface="Public Sans Bold" pitchFamily="34" charset="-122"/>
                <a:cs typeface="Public Sans Bold" pitchFamily="34" charset="0"/>
              </a:rPr>
              <a:t>¿Qué aporta más: el propio precio, Chicago o el clima del Corn Belt?</a:t>
            </a:r>
            <a:endParaRPr lang="en-US" sz="2400" dirty="0"/>
          </a:p>
        </p:txBody>
      </p:sp>
      <p:sp>
        <p:nvSpPr>
          <p:cNvPr id="10" name="Text 8"/>
          <p:cNvSpPr/>
          <p:nvPr/>
        </p:nvSpPr>
        <p:spPr>
          <a:xfrm>
            <a:off x="914377" y="3034983"/>
            <a:ext cx="10362941"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142E3A"/>
                </a:solidFill>
                <a:latin typeface="Public Sans" pitchFamily="34" charset="0"/>
                <a:ea typeface="Public Sans" pitchFamily="34" charset="-122"/>
                <a:cs typeface="Public Sans" pitchFamily="34" charset="0"/>
              </a:rPr>
              <a:t>Evaluamos si los modelos pueden superar la referencia de que el precio no cambia, identificando qué fuente externa agrega capacidad predictiva real.</a:t>
            </a:r>
            <a:endParaRPr lang="en-US" sz="1500" dirty="0"/>
          </a:p>
        </p:txBody>
      </p:sp>
      <p:sp>
        <p:nvSpPr>
          <p:cNvPr id="11" name="Text 9"/>
          <p:cNvSpPr/>
          <p:nvPr/>
        </p:nvSpPr>
        <p:spPr>
          <a:xfrm>
            <a:off x="1701460" y="4132965"/>
            <a:ext cx="2514537" cy="518120"/>
          </a:xfrm>
          <a:prstGeom prst="rect">
            <a:avLst/>
          </a:prstGeom>
          <a:noFill/>
          <a:ln/>
        </p:spPr>
        <p:txBody>
          <a:bodyPr wrap="none" lIns="0" tIns="0" rIns="0" bIns="0" rtlCol="0" anchor="t"/>
          <a:lstStyle/>
          <a:p>
            <a:pPr marL="0" indent="0" algn="l">
              <a:lnSpc>
                <a:spcPct val="85000"/>
              </a:lnSpc>
              <a:buNone/>
            </a:pPr>
            <a:r>
              <a:rPr lang="en-US" sz="4000" b="1" kern="100" spc="-56" dirty="0">
                <a:solidFill>
                  <a:srgbClr val="142E3A"/>
                </a:solidFill>
                <a:latin typeface="Public Sans Bold" pitchFamily="34" charset="0"/>
                <a:ea typeface="Public Sans Bold" pitchFamily="34" charset="-122"/>
                <a:cs typeface="Public Sans Bold" pitchFamily="34" charset="0"/>
              </a:rPr>
              <a:t>3</a:t>
            </a:r>
            <a:endParaRPr lang="en-US" sz="4000" dirty="0"/>
          </a:p>
        </p:txBody>
      </p:sp>
      <p:sp>
        <p:nvSpPr>
          <p:cNvPr id="12" name="Text 10"/>
          <p:cNvSpPr/>
          <p:nvPr/>
        </p:nvSpPr>
        <p:spPr>
          <a:xfrm>
            <a:off x="1531105" y="4783002"/>
            <a:ext cx="1280981" cy="260052"/>
          </a:xfrm>
          <a:prstGeom prst="rect">
            <a:avLst/>
          </a:prstGeom>
          <a:noFill/>
          <a:ln/>
        </p:spPr>
        <p:txBody>
          <a:bodyPr wrap="none" lIns="0" tIns="0" rIns="0" bIns="0" rtlCol="0" anchor="t"/>
          <a:lstStyle/>
          <a:p>
            <a:pPr marL="0" indent="0" algn="l">
              <a:lnSpc>
                <a:spcPct val="107000"/>
              </a:lnSpc>
              <a:buNone/>
            </a:pPr>
            <a:r>
              <a:rPr lang="en-US" sz="1600" dirty="0">
                <a:solidFill>
                  <a:srgbClr val="142E3A"/>
                </a:solidFill>
                <a:latin typeface="Public Sans" pitchFamily="34" charset="0"/>
                <a:ea typeface="Public Sans" pitchFamily="34" charset="-122"/>
                <a:cs typeface="Public Sans" pitchFamily="34" charset="0"/>
              </a:rPr>
              <a:t>Granos</a:t>
            </a:r>
            <a:endParaRPr lang="en-US" sz="1600" dirty="0"/>
          </a:p>
        </p:txBody>
      </p:sp>
      <p:sp>
        <p:nvSpPr>
          <p:cNvPr id="13" name="Text 11"/>
          <p:cNvSpPr/>
          <p:nvPr/>
        </p:nvSpPr>
        <p:spPr>
          <a:xfrm>
            <a:off x="1116580" y="5142686"/>
            <a:ext cx="2110032" cy="236141"/>
          </a:xfrm>
          <a:prstGeom prst="rect">
            <a:avLst/>
          </a:prstGeom>
          <a:noFill/>
          <a:ln/>
        </p:spPr>
        <p:txBody>
          <a:bodyPr wrap="none" lIns="0" tIns="0" rIns="0" bIns="0" rtlCol="0" anchor="t"/>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Soja, maíz y trigo</a:t>
            </a:r>
            <a:endParaRPr lang="en-US" sz="1500" dirty="0"/>
          </a:p>
        </p:txBody>
      </p:sp>
      <p:sp>
        <p:nvSpPr>
          <p:cNvPr id="14" name="Text 12"/>
          <p:cNvSpPr/>
          <p:nvPr/>
        </p:nvSpPr>
        <p:spPr>
          <a:xfrm>
            <a:off x="4558888" y="4132965"/>
            <a:ext cx="2285943" cy="518120"/>
          </a:xfrm>
          <a:prstGeom prst="rect">
            <a:avLst/>
          </a:prstGeom>
          <a:noFill/>
          <a:ln/>
        </p:spPr>
        <p:txBody>
          <a:bodyPr wrap="none" lIns="0" tIns="0" rIns="0" bIns="0" rtlCol="0" anchor="t"/>
          <a:lstStyle/>
          <a:p>
            <a:pPr marL="0" indent="0" algn="l">
              <a:lnSpc>
                <a:spcPct val="85000"/>
              </a:lnSpc>
              <a:buNone/>
            </a:pPr>
            <a:r>
              <a:rPr lang="en-US" sz="4000" b="1" kern="100" spc="-56" dirty="0">
                <a:solidFill>
                  <a:srgbClr val="142E3A"/>
                </a:solidFill>
                <a:latin typeface="Public Sans Bold" pitchFamily="34" charset="0"/>
                <a:ea typeface="Public Sans Bold" pitchFamily="34" charset="-122"/>
                <a:cs typeface="Public Sans Bold" pitchFamily="34" charset="0"/>
              </a:rPr>
              <a:t>3</a:t>
            </a:r>
            <a:endParaRPr lang="en-US" sz="4000" dirty="0"/>
          </a:p>
        </p:txBody>
      </p:sp>
      <p:sp>
        <p:nvSpPr>
          <p:cNvPr id="15" name="Text 13"/>
          <p:cNvSpPr/>
          <p:nvPr/>
        </p:nvSpPr>
        <p:spPr>
          <a:xfrm>
            <a:off x="4345176" y="4783002"/>
            <a:ext cx="1367795" cy="260052"/>
          </a:xfrm>
          <a:prstGeom prst="rect">
            <a:avLst/>
          </a:prstGeom>
          <a:noFill/>
          <a:ln/>
        </p:spPr>
        <p:txBody>
          <a:bodyPr wrap="none" lIns="0" tIns="0" rIns="0" bIns="0" rtlCol="0" anchor="t"/>
          <a:lstStyle/>
          <a:p>
            <a:pPr marL="0" indent="0" algn="l">
              <a:lnSpc>
                <a:spcPct val="107000"/>
              </a:lnSpc>
              <a:buNone/>
            </a:pPr>
            <a:r>
              <a:rPr lang="en-US" sz="1600" dirty="0">
                <a:solidFill>
                  <a:srgbClr val="142E3A"/>
                </a:solidFill>
                <a:latin typeface="Public Sans" pitchFamily="34" charset="0"/>
                <a:ea typeface="Public Sans" pitchFamily="34" charset="-122"/>
                <a:cs typeface="Public Sans" pitchFamily="34" charset="0"/>
              </a:rPr>
              <a:t>Fuentes</a:t>
            </a:r>
            <a:endParaRPr lang="en-US" sz="1600" dirty="0"/>
          </a:p>
        </p:txBody>
      </p:sp>
      <p:sp>
        <p:nvSpPr>
          <p:cNvPr id="16" name="Text 14"/>
          <p:cNvSpPr/>
          <p:nvPr/>
        </p:nvSpPr>
        <p:spPr>
          <a:xfrm>
            <a:off x="3705628" y="5142686"/>
            <a:ext cx="2390219" cy="236141"/>
          </a:xfrm>
          <a:prstGeom prst="rect">
            <a:avLst/>
          </a:prstGeom>
          <a:noFill/>
          <a:ln/>
        </p:spPr>
        <p:txBody>
          <a:bodyPr wrap="none" lIns="0" tIns="0" rIns="0" bIns="0" rtlCol="0" anchor="t"/>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Matba, Chicago y clima</a:t>
            </a:r>
            <a:endParaRPr lang="en-US" sz="1500" dirty="0"/>
          </a:p>
        </p:txBody>
      </p:sp>
      <p:sp>
        <p:nvSpPr>
          <p:cNvPr id="17" name="Text 15"/>
          <p:cNvSpPr/>
          <p:nvPr/>
        </p:nvSpPr>
        <p:spPr>
          <a:xfrm>
            <a:off x="7302020" y="4132965"/>
            <a:ext cx="2285943" cy="518120"/>
          </a:xfrm>
          <a:prstGeom prst="rect">
            <a:avLst/>
          </a:prstGeom>
          <a:noFill/>
          <a:ln/>
        </p:spPr>
        <p:txBody>
          <a:bodyPr wrap="none" lIns="0" tIns="0" rIns="0" bIns="0" rtlCol="0" anchor="t"/>
          <a:lstStyle/>
          <a:p>
            <a:pPr marL="0" indent="0" algn="l">
              <a:lnSpc>
                <a:spcPct val="85000"/>
              </a:lnSpc>
              <a:buNone/>
            </a:pPr>
            <a:r>
              <a:rPr lang="en-US" sz="4000" b="1" kern="100" spc="-56" dirty="0">
                <a:solidFill>
                  <a:srgbClr val="142E3A"/>
                </a:solidFill>
                <a:latin typeface="Public Sans Bold" pitchFamily="34" charset="0"/>
                <a:ea typeface="Public Sans Bold" pitchFamily="34" charset="-122"/>
                <a:cs typeface="Public Sans Bold" pitchFamily="34" charset="0"/>
              </a:rPr>
              <a:t>3</a:t>
            </a:r>
            <a:endParaRPr lang="en-US" sz="4000" dirty="0"/>
          </a:p>
        </p:txBody>
      </p:sp>
      <p:sp>
        <p:nvSpPr>
          <p:cNvPr id="18" name="Text 16"/>
          <p:cNvSpPr/>
          <p:nvPr/>
        </p:nvSpPr>
        <p:spPr>
          <a:xfrm>
            <a:off x="7159446" y="4783002"/>
            <a:ext cx="1225519" cy="260052"/>
          </a:xfrm>
          <a:prstGeom prst="rect">
            <a:avLst/>
          </a:prstGeom>
          <a:noFill/>
          <a:ln/>
        </p:spPr>
        <p:txBody>
          <a:bodyPr wrap="none" lIns="0" tIns="0" rIns="0" bIns="0" rtlCol="0" anchor="t"/>
          <a:lstStyle/>
          <a:p>
            <a:pPr marL="0" indent="0" algn="l">
              <a:lnSpc>
                <a:spcPct val="107000"/>
              </a:lnSpc>
              <a:buNone/>
            </a:pPr>
            <a:r>
              <a:rPr lang="en-US" sz="1600" dirty="0">
                <a:solidFill>
                  <a:srgbClr val="142E3A"/>
                </a:solidFill>
                <a:latin typeface="Public Sans" pitchFamily="34" charset="0"/>
                <a:ea typeface="Public Sans" pitchFamily="34" charset="-122"/>
                <a:cs typeface="Public Sans" pitchFamily="34" charset="0"/>
              </a:rPr>
              <a:t>Plazos</a:t>
            </a:r>
            <a:endParaRPr lang="en-US" sz="1600" dirty="0"/>
          </a:p>
        </p:txBody>
      </p:sp>
      <p:sp>
        <p:nvSpPr>
          <p:cNvPr id="19" name="Text 17"/>
          <p:cNvSpPr/>
          <p:nvPr/>
        </p:nvSpPr>
        <p:spPr>
          <a:xfrm>
            <a:off x="6770915" y="5142686"/>
            <a:ext cx="2002482" cy="236141"/>
          </a:xfrm>
          <a:prstGeom prst="rect">
            <a:avLst/>
          </a:prstGeom>
          <a:noFill/>
          <a:ln/>
        </p:spPr>
        <p:txBody>
          <a:bodyPr wrap="none" lIns="0" tIns="0" rIns="0" bIns="0" rtlCol="0" anchor="t"/>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30, 60 y 90 días</a:t>
            </a:r>
            <a:endParaRPr lang="en-US" sz="1500" dirty="0"/>
          </a:p>
        </p:txBody>
      </p:sp>
      <p:sp>
        <p:nvSpPr>
          <p:cNvPr id="20" name="Text 18"/>
          <p:cNvSpPr/>
          <p:nvPr/>
        </p:nvSpPr>
        <p:spPr>
          <a:xfrm>
            <a:off x="9835507" y="4132965"/>
            <a:ext cx="2514537" cy="518120"/>
          </a:xfrm>
          <a:prstGeom prst="rect">
            <a:avLst/>
          </a:prstGeom>
          <a:noFill/>
          <a:ln/>
        </p:spPr>
        <p:txBody>
          <a:bodyPr wrap="none" lIns="0" tIns="0" rIns="0" bIns="0" rtlCol="0" anchor="t"/>
          <a:lstStyle/>
          <a:p>
            <a:pPr marL="0" indent="0" algn="l">
              <a:lnSpc>
                <a:spcPct val="85000"/>
              </a:lnSpc>
              <a:buNone/>
            </a:pPr>
            <a:r>
              <a:rPr lang="en-US" sz="4000" b="1" kern="100" spc="-56" dirty="0">
                <a:solidFill>
                  <a:srgbClr val="118D77"/>
                </a:solidFill>
                <a:latin typeface="Public Sans Bold" pitchFamily="34" charset="0"/>
                <a:ea typeface="Public Sans Bold" pitchFamily="34" charset="-122"/>
                <a:cs typeface="Public Sans Bold" pitchFamily="34" charset="0"/>
              </a:rPr>
              <a:t>908</a:t>
            </a:r>
            <a:endParaRPr lang="en-US" sz="4000" dirty="0"/>
          </a:p>
        </p:txBody>
      </p:sp>
      <p:sp>
        <p:nvSpPr>
          <p:cNvPr id="21" name="Text 19"/>
          <p:cNvSpPr/>
          <p:nvPr/>
        </p:nvSpPr>
        <p:spPr>
          <a:xfrm>
            <a:off x="9972723" y="4783002"/>
            <a:ext cx="1313822" cy="260052"/>
          </a:xfrm>
          <a:prstGeom prst="rect">
            <a:avLst/>
          </a:prstGeom>
          <a:noFill/>
          <a:ln/>
        </p:spPr>
        <p:txBody>
          <a:bodyPr wrap="none" lIns="0" tIns="0" rIns="0" bIns="0" rtlCol="0" anchor="t"/>
          <a:lstStyle/>
          <a:p>
            <a:pPr marL="0" indent="0" algn="l">
              <a:lnSpc>
                <a:spcPct val="107000"/>
              </a:lnSpc>
              <a:buNone/>
            </a:pPr>
            <a:r>
              <a:rPr lang="en-US" sz="1600" dirty="0">
                <a:solidFill>
                  <a:srgbClr val="142E3A"/>
                </a:solidFill>
                <a:latin typeface="Public Sans" pitchFamily="34" charset="0"/>
                <a:ea typeface="Public Sans" pitchFamily="34" charset="-122"/>
                <a:cs typeface="Public Sans" pitchFamily="34" charset="0"/>
              </a:rPr>
              <a:t>Ruedas</a:t>
            </a:r>
            <a:endParaRPr lang="en-US" sz="1600" dirty="0"/>
          </a:p>
        </p:txBody>
      </p:sp>
      <p:sp>
        <p:nvSpPr>
          <p:cNvPr id="22" name="Text 20"/>
          <p:cNvSpPr/>
          <p:nvPr/>
        </p:nvSpPr>
        <p:spPr>
          <a:xfrm>
            <a:off x="9418203" y="5142686"/>
            <a:ext cx="2163907" cy="236141"/>
          </a:xfrm>
          <a:prstGeom prst="rect">
            <a:avLst/>
          </a:prstGeom>
          <a:noFill/>
          <a:ln/>
        </p:spPr>
        <p:txBody>
          <a:bodyPr wrap="none" lIns="0" tIns="0" rIns="0" bIns="0" rtlCol="0" anchor="t"/>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Ene 2023 – sep 2026</a:t>
            </a:r>
            <a:endParaRPr lang="en-US" sz="1500" dirty="0"/>
          </a:p>
        </p:txBody>
      </p:sp>
      <p:sp>
        <p:nvSpPr>
          <p:cNvPr id="23" name="Shape 21"/>
          <p:cNvSpPr/>
          <p:nvPr/>
        </p:nvSpPr>
        <p:spPr>
          <a:xfrm>
            <a:off x="3346366" y="4090194"/>
            <a:ext cx="12700" cy="1281013"/>
          </a:xfrm>
          <a:prstGeom prst="rect">
            <a:avLst/>
          </a:prstGeom>
          <a:solidFill>
            <a:srgbClr val="D9E1DF"/>
          </a:solidFill>
          <a:ln/>
        </p:spPr>
        <p:txBody>
          <a:bodyPr/>
          <a:lstStyle/>
          <a:p>
            <a:endParaRPr lang="es-AR"/>
          </a:p>
        </p:txBody>
      </p:sp>
      <p:sp>
        <p:nvSpPr>
          <p:cNvPr id="24" name="Shape 22"/>
          <p:cNvSpPr/>
          <p:nvPr/>
        </p:nvSpPr>
        <p:spPr>
          <a:xfrm>
            <a:off x="6089498" y="4090194"/>
            <a:ext cx="12700" cy="1281013"/>
          </a:xfrm>
          <a:prstGeom prst="rect">
            <a:avLst/>
          </a:prstGeom>
          <a:solidFill>
            <a:srgbClr val="D9E1DF"/>
          </a:solidFill>
          <a:ln/>
        </p:spPr>
        <p:txBody>
          <a:bodyPr/>
          <a:lstStyle/>
          <a:p>
            <a:endParaRPr lang="es-AR"/>
          </a:p>
        </p:txBody>
      </p:sp>
      <p:sp>
        <p:nvSpPr>
          <p:cNvPr id="25" name="Shape 23"/>
          <p:cNvSpPr/>
          <p:nvPr/>
        </p:nvSpPr>
        <p:spPr>
          <a:xfrm>
            <a:off x="8832629" y="4090194"/>
            <a:ext cx="12700" cy="1281013"/>
          </a:xfrm>
          <a:prstGeom prst="rect">
            <a:avLst/>
          </a:prstGeom>
          <a:solidFill>
            <a:srgbClr val="D9E1DF"/>
          </a:solidFill>
          <a:ln/>
        </p:spPr>
        <p:txBody>
          <a:bodyPr/>
          <a:lstStyle/>
          <a:p>
            <a:endParaRPr lang="es-AR"/>
          </a:p>
        </p:txBody>
      </p:sp>
      <p:sp>
        <p:nvSpPr>
          <p:cNvPr id="26" name="Text 24"/>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27" name="Text 25"/>
          <p:cNvSpPr/>
          <p:nvPr/>
        </p:nvSpPr>
        <p:spPr>
          <a:xfrm>
            <a:off x="11513949" y="6581676"/>
            <a:ext cx="677746"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PIPELINE DE TRABAJO</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El proceso</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Del dato publicado en la web al modelo, en seis pasos ordenados</a:t>
            </a:r>
            <a:endParaRPr lang="en-US" sz="1600" dirty="0"/>
          </a:p>
        </p:txBody>
      </p:sp>
      <p:sp>
        <p:nvSpPr>
          <p:cNvPr id="5" name="Shape 3"/>
          <p:cNvSpPr/>
          <p:nvPr/>
        </p:nvSpPr>
        <p:spPr>
          <a:xfrm>
            <a:off x="609585" y="1853307"/>
            <a:ext cx="3581310" cy="1994793"/>
          </a:xfrm>
          <a:prstGeom prst="roundRect">
            <a:avLst>
              <a:gd name="adj" fmla="val 573"/>
            </a:avLst>
          </a:prstGeom>
          <a:solidFill>
            <a:srgbClr val="F8F9F5"/>
          </a:solidFill>
          <a:ln/>
        </p:spPr>
        <p:txBody>
          <a:bodyPr/>
          <a:lstStyle/>
          <a:p>
            <a:endParaRPr lang="es-AR"/>
          </a:p>
        </p:txBody>
      </p:sp>
      <p:pic>
        <p:nvPicPr>
          <p:cNvPr id="6" name="Image 0" descr="preencoded.png"/>
          <p:cNvPicPr>
            <a:picLocks noChangeAspect="1"/>
          </p:cNvPicPr>
          <p:nvPr/>
        </p:nvPicPr>
        <p:blipFill>
          <a:blip r:embed="rId3"/>
          <a:stretch>
            <a:fillRect/>
          </a:stretch>
        </p:blipFill>
        <p:spPr>
          <a:xfrm>
            <a:off x="761981" y="1980307"/>
            <a:ext cx="533387" cy="533400"/>
          </a:xfrm>
          <a:prstGeom prst="rect">
            <a:avLst/>
          </a:prstGeom>
        </p:spPr>
      </p:pic>
      <p:sp>
        <p:nvSpPr>
          <p:cNvPr id="7" name="Text 4"/>
          <p:cNvSpPr/>
          <p:nvPr/>
        </p:nvSpPr>
        <p:spPr>
          <a:xfrm>
            <a:off x="761981" y="2615815"/>
            <a:ext cx="3276518"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Web scraping</a:t>
            </a:r>
            <a:endParaRPr lang="en-US" sz="1900" dirty="0"/>
          </a:p>
        </p:txBody>
      </p:sp>
      <p:sp>
        <p:nvSpPr>
          <p:cNvPr id="8" name="Text 5"/>
          <p:cNvSpPr/>
          <p:nvPr/>
        </p:nvSpPr>
        <p:spPr>
          <a:xfrm>
            <a:off x="761981" y="3020298"/>
            <a:ext cx="3276518" cy="708422"/>
          </a:xfrm>
          <a:prstGeom prst="rect">
            <a:avLst/>
          </a:prstGeom>
          <a:noFill/>
          <a:ln/>
        </p:spPr>
        <p:txBody>
          <a:bodyPr wrap="square" lIns="0" tIns="0" rIns="0" bIns="0" rtlCol="0" anchor="t">
            <a:normAutofit/>
          </a:bodyPr>
          <a:lstStyle/>
          <a:p>
            <a:pPr marL="0" indent="0" algn="just">
              <a:lnSpc>
                <a:spcPct val="103000"/>
              </a:lnSpc>
              <a:buNone/>
            </a:pPr>
            <a:r>
              <a:rPr lang="en-US" sz="1500" dirty="0">
                <a:solidFill>
                  <a:srgbClr val="5E6B70"/>
                </a:solidFill>
                <a:latin typeface="Public Sans" pitchFamily="34" charset="0"/>
                <a:ea typeface="Public Sans" pitchFamily="34" charset="-122"/>
                <a:cs typeface="Public Sans" pitchFamily="34" charset="0"/>
              </a:rPr>
              <a:t>Cotizaciones de Chicago: extracción del HTML de páginas diarias de la BCR por ID con Beautiful Soup.</a:t>
            </a:r>
            <a:endParaRPr lang="en-US" sz="1500" dirty="0"/>
          </a:p>
        </p:txBody>
      </p:sp>
      <p:sp>
        <p:nvSpPr>
          <p:cNvPr id="9" name="Shape 6"/>
          <p:cNvSpPr/>
          <p:nvPr/>
        </p:nvSpPr>
        <p:spPr>
          <a:xfrm>
            <a:off x="4343291" y="1853307"/>
            <a:ext cx="3505112" cy="1994793"/>
          </a:xfrm>
          <a:prstGeom prst="roundRect">
            <a:avLst>
              <a:gd name="adj" fmla="val 573"/>
            </a:avLst>
          </a:prstGeom>
          <a:solidFill>
            <a:srgbClr val="F8F9F5"/>
          </a:solidFill>
          <a:ln/>
        </p:spPr>
        <p:txBody>
          <a:bodyPr/>
          <a:lstStyle/>
          <a:p>
            <a:endParaRPr lang="es-AR"/>
          </a:p>
        </p:txBody>
      </p:sp>
      <p:pic>
        <p:nvPicPr>
          <p:cNvPr id="10" name="Image 1" descr="preencoded.png"/>
          <p:cNvPicPr>
            <a:picLocks noChangeAspect="1"/>
          </p:cNvPicPr>
          <p:nvPr/>
        </p:nvPicPr>
        <p:blipFill>
          <a:blip r:embed="rId4"/>
          <a:stretch>
            <a:fillRect/>
          </a:stretch>
        </p:blipFill>
        <p:spPr>
          <a:xfrm>
            <a:off x="4495688" y="1980307"/>
            <a:ext cx="533387" cy="533400"/>
          </a:xfrm>
          <a:prstGeom prst="rect">
            <a:avLst/>
          </a:prstGeom>
        </p:spPr>
      </p:pic>
      <p:sp>
        <p:nvSpPr>
          <p:cNvPr id="11" name="Text 7"/>
          <p:cNvSpPr/>
          <p:nvPr/>
        </p:nvSpPr>
        <p:spPr>
          <a:xfrm>
            <a:off x="4495688" y="2615815"/>
            <a:ext cx="3200320"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APIs públicas</a:t>
            </a:r>
            <a:endParaRPr lang="en-US" sz="1900" dirty="0"/>
          </a:p>
        </p:txBody>
      </p:sp>
      <p:sp>
        <p:nvSpPr>
          <p:cNvPr id="12" name="Text 8"/>
          <p:cNvSpPr/>
          <p:nvPr/>
        </p:nvSpPr>
        <p:spPr>
          <a:xfrm>
            <a:off x="4495688" y="3020298"/>
            <a:ext cx="3200320" cy="708422"/>
          </a:xfrm>
          <a:prstGeom prst="rect">
            <a:avLst/>
          </a:prstGeom>
          <a:noFill/>
          <a:ln/>
        </p:spPr>
        <p:txBody>
          <a:bodyPr wrap="square" lIns="0" tIns="0" rIns="0" bIns="0" rtlCol="0" anchor="t">
            <a:normAutofit/>
          </a:bodyPr>
          <a:lstStyle/>
          <a:p>
            <a:pPr marL="0" indent="0" algn="just">
              <a:lnSpc>
                <a:spcPct val="103000"/>
              </a:lnSpc>
              <a:buNone/>
            </a:pPr>
            <a:r>
              <a:rPr lang="en-US" sz="1500" dirty="0">
                <a:solidFill>
                  <a:srgbClr val="5E6B70"/>
                </a:solidFill>
                <a:latin typeface="Public Sans" pitchFamily="34" charset="0"/>
                <a:ea typeface="Public Sans" pitchFamily="34" charset="-122"/>
                <a:cs typeface="Public Sans" pitchFamily="34" charset="0"/>
              </a:rPr>
              <a:t>Series históricas de Matba Rofex (CEM2) y precipitación de 8 estados (NOAA), en JSON.</a:t>
            </a:r>
            <a:endParaRPr lang="en-US" sz="1500" dirty="0"/>
          </a:p>
        </p:txBody>
      </p:sp>
      <p:sp>
        <p:nvSpPr>
          <p:cNvPr id="13" name="Shape 9"/>
          <p:cNvSpPr/>
          <p:nvPr/>
        </p:nvSpPr>
        <p:spPr>
          <a:xfrm>
            <a:off x="8000800" y="1853307"/>
            <a:ext cx="3581310" cy="1994793"/>
          </a:xfrm>
          <a:prstGeom prst="roundRect">
            <a:avLst>
              <a:gd name="adj" fmla="val 573"/>
            </a:avLst>
          </a:prstGeom>
          <a:solidFill>
            <a:srgbClr val="F8F9F5"/>
          </a:solidFill>
          <a:ln/>
        </p:spPr>
        <p:txBody>
          <a:bodyPr/>
          <a:lstStyle/>
          <a:p>
            <a:endParaRPr lang="es-AR"/>
          </a:p>
        </p:txBody>
      </p:sp>
      <p:pic>
        <p:nvPicPr>
          <p:cNvPr id="14" name="Image 2" descr="preencoded.png"/>
          <p:cNvPicPr>
            <a:picLocks noChangeAspect="1"/>
          </p:cNvPicPr>
          <p:nvPr/>
        </p:nvPicPr>
        <p:blipFill>
          <a:blip r:embed="rId5"/>
          <a:stretch>
            <a:fillRect/>
          </a:stretch>
        </p:blipFill>
        <p:spPr>
          <a:xfrm>
            <a:off x="8153196" y="1980307"/>
            <a:ext cx="533387" cy="533400"/>
          </a:xfrm>
          <a:prstGeom prst="rect">
            <a:avLst/>
          </a:prstGeom>
        </p:spPr>
      </p:pic>
      <p:sp>
        <p:nvSpPr>
          <p:cNvPr id="15" name="Text 10"/>
          <p:cNvSpPr/>
          <p:nvPr/>
        </p:nvSpPr>
        <p:spPr>
          <a:xfrm>
            <a:off x="8153196" y="2615815"/>
            <a:ext cx="3276518"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Limpieza</a:t>
            </a:r>
            <a:endParaRPr lang="en-US" sz="1900" dirty="0"/>
          </a:p>
        </p:txBody>
      </p:sp>
      <p:sp>
        <p:nvSpPr>
          <p:cNvPr id="16" name="Text 11"/>
          <p:cNvSpPr/>
          <p:nvPr/>
        </p:nvSpPr>
        <p:spPr>
          <a:xfrm>
            <a:off x="8153196" y="3020298"/>
            <a:ext cx="3276518" cy="472281"/>
          </a:xfrm>
          <a:prstGeom prst="rect">
            <a:avLst/>
          </a:prstGeom>
          <a:noFill/>
          <a:ln/>
        </p:spPr>
        <p:txBody>
          <a:bodyPr wrap="square" lIns="0" tIns="0" rIns="0" bIns="0" rtlCol="0" anchor="t">
            <a:normAutofit/>
          </a:bodyPr>
          <a:lstStyle/>
          <a:p>
            <a:pPr marL="0" indent="0" algn="just">
              <a:lnSpc>
                <a:spcPct val="103000"/>
              </a:lnSpc>
              <a:buNone/>
            </a:pPr>
            <a:r>
              <a:rPr lang="en-US" sz="1500" dirty="0">
                <a:solidFill>
                  <a:srgbClr val="5E6B70"/>
                </a:solidFill>
                <a:latin typeface="Public Sans" pitchFamily="34" charset="0"/>
                <a:ea typeface="Public Sans" pitchFamily="34" charset="-122"/>
                <a:cs typeface="Public Sans" pitchFamily="34" charset="0"/>
              </a:rPr>
              <a:t>Fechas, faltantes, formatos numéricos y empalme de contratos.</a:t>
            </a:r>
            <a:endParaRPr lang="en-US" sz="1500" dirty="0"/>
          </a:p>
        </p:txBody>
      </p:sp>
      <p:sp>
        <p:nvSpPr>
          <p:cNvPr id="17" name="Shape 12"/>
          <p:cNvSpPr/>
          <p:nvPr/>
        </p:nvSpPr>
        <p:spPr>
          <a:xfrm>
            <a:off x="609585" y="4000500"/>
            <a:ext cx="3581310" cy="2230934"/>
          </a:xfrm>
          <a:prstGeom prst="roundRect">
            <a:avLst>
              <a:gd name="adj" fmla="val 512"/>
            </a:avLst>
          </a:prstGeom>
          <a:solidFill>
            <a:srgbClr val="F8F9F5"/>
          </a:solidFill>
          <a:ln/>
        </p:spPr>
        <p:txBody>
          <a:bodyPr/>
          <a:lstStyle/>
          <a:p>
            <a:endParaRPr lang="es-AR"/>
          </a:p>
        </p:txBody>
      </p:sp>
      <p:pic>
        <p:nvPicPr>
          <p:cNvPr id="18" name="Image 3" descr="preencoded.png"/>
          <p:cNvPicPr>
            <a:picLocks noChangeAspect="1"/>
          </p:cNvPicPr>
          <p:nvPr/>
        </p:nvPicPr>
        <p:blipFill>
          <a:blip r:embed="rId6"/>
          <a:stretch>
            <a:fillRect/>
          </a:stretch>
        </p:blipFill>
        <p:spPr>
          <a:xfrm>
            <a:off x="761981" y="4127500"/>
            <a:ext cx="533387" cy="533400"/>
          </a:xfrm>
          <a:prstGeom prst="rect">
            <a:avLst/>
          </a:prstGeom>
        </p:spPr>
      </p:pic>
      <p:sp>
        <p:nvSpPr>
          <p:cNvPr id="19" name="Text 13"/>
          <p:cNvSpPr/>
          <p:nvPr/>
        </p:nvSpPr>
        <p:spPr>
          <a:xfrm>
            <a:off x="761981" y="4763008"/>
            <a:ext cx="3276518"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Integración</a:t>
            </a:r>
            <a:endParaRPr lang="en-US" sz="1900" dirty="0"/>
          </a:p>
        </p:txBody>
      </p:sp>
      <p:sp>
        <p:nvSpPr>
          <p:cNvPr id="20" name="Text 14"/>
          <p:cNvSpPr/>
          <p:nvPr/>
        </p:nvSpPr>
        <p:spPr>
          <a:xfrm>
            <a:off x="761981" y="5167491"/>
            <a:ext cx="3276518" cy="708422"/>
          </a:xfrm>
          <a:prstGeom prst="rect">
            <a:avLst/>
          </a:prstGeom>
          <a:noFill/>
          <a:ln/>
        </p:spPr>
        <p:txBody>
          <a:bodyPr wrap="square" lIns="0" tIns="0" rIns="0" bIns="0" rtlCol="0" anchor="t">
            <a:normAutofit/>
          </a:bodyPr>
          <a:lstStyle/>
          <a:p>
            <a:pPr marL="0" indent="0" algn="just">
              <a:lnSpc>
                <a:spcPct val="103000"/>
              </a:lnSpc>
              <a:buNone/>
            </a:pPr>
            <a:r>
              <a:rPr lang="en-US" sz="1500" dirty="0">
                <a:solidFill>
                  <a:srgbClr val="5E6B70"/>
                </a:solidFill>
                <a:latin typeface="Public Sans" pitchFamily="34" charset="0"/>
                <a:ea typeface="Public Sans" pitchFamily="34" charset="-122"/>
                <a:cs typeface="Public Sans" pitchFamily="34" charset="0"/>
              </a:rPr>
              <a:t>Unión estricta por fecha; último dato del día anterior, sin filtración del futuro.</a:t>
            </a:r>
            <a:endParaRPr lang="en-US" sz="1500" dirty="0"/>
          </a:p>
        </p:txBody>
      </p:sp>
      <p:sp>
        <p:nvSpPr>
          <p:cNvPr id="21" name="Shape 15"/>
          <p:cNvSpPr/>
          <p:nvPr/>
        </p:nvSpPr>
        <p:spPr>
          <a:xfrm>
            <a:off x="4343291" y="4000500"/>
            <a:ext cx="3505112" cy="2230934"/>
          </a:xfrm>
          <a:prstGeom prst="roundRect">
            <a:avLst>
              <a:gd name="adj" fmla="val 512"/>
            </a:avLst>
          </a:prstGeom>
          <a:solidFill>
            <a:srgbClr val="F8F9F5"/>
          </a:solidFill>
          <a:ln/>
        </p:spPr>
        <p:txBody>
          <a:bodyPr/>
          <a:lstStyle/>
          <a:p>
            <a:endParaRPr lang="es-AR"/>
          </a:p>
        </p:txBody>
      </p:sp>
      <p:pic>
        <p:nvPicPr>
          <p:cNvPr id="22" name="Image 4" descr="preencoded.png"/>
          <p:cNvPicPr>
            <a:picLocks noChangeAspect="1"/>
          </p:cNvPicPr>
          <p:nvPr/>
        </p:nvPicPr>
        <p:blipFill>
          <a:blip r:embed="rId7"/>
          <a:stretch>
            <a:fillRect/>
          </a:stretch>
        </p:blipFill>
        <p:spPr>
          <a:xfrm>
            <a:off x="4495688" y="4127500"/>
            <a:ext cx="533387" cy="533400"/>
          </a:xfrm>
          <a:prstGeom prst="rect">
            <a:avLst/>
          </a:prstGeom>
        </p:spPr>
      </p:pic>
      <p:sp>
        <p:nvSpPr>
          <p:cNvPr id="23" name="Text 16"/>
          <p:cNvSpPr/>
          <p:nvPr/>
        </p:nvSpPr>
        <p:spPr>
          <a:xfrm>
            <a:off x="4495688" y="4763008"/>
            <a:ext cx="3200320"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Ingeniería de variables</a:t>
            </a:r>
            <a:endParaRPr lang="en-US" sz="1900" dirty="0"/>
          </a:p>
        </p:txBody>
      </p:sp>
      <p:sp>
        <p:nvSpPr>
          <p:cNvPr id="24" name="Text 17"/>
          <p:cNvSpPr/>
          <p:nvPr/>
        </p:nvSpPr>
        <p:spPr>
          <a:xfrm>
            <a:off x="4495688" y="5167491"/>
            <a:ext cx="3200320" cy="708422"/>
          </a:xfrm>
          <a:prstGeom prst="rect">
            <a:avLst/>
          </a:prstGeom>
          <a:noFill/>
          <a:ln/>
        </p:spPr>
        <p:txBody>
          <a:bodyPr wrap="square" lIns="0" tIns="0" rIns="0" bIns="0" rtlCol="0" anchor="t">
            <a:normAutofit/>
          </a:bodyPr>
          <a:lstStyle/>
          <a:p>
            <a:pPr marL="0" indent="0" algn="just">
              <a:lnSpc>
                <a:spcPct val="103000"/>
              </a:lnSpc>
              <a:buNone/>
            </a:pPr>
            <a:r>
              <a:rPr lang="en-US" sz="1500" dirty="0">
                <a:solidFill>
                  <a:srgbClr val="5E6B70"/>
                </a:solidFill>
                <a:latin typeface="Public Sans" pitchFamily="34" charset="0"/>
                <a:ea typeface="Public Sans" pitchFamily="34" charset="-122"/>
                <a:cs typeface="Public Sans" pitchFamily="34" charset="0"/>
              </a:rPr>
              <a:t>Variaciones, volatilidad histórica, base Rosario–Chicago y anomalías de lluvia en el Corn Belt.</a:t>
            </a:r>
            <a:endParaRPr lang="en-US" sz="1500" dirty="0"/>
          </a:p>
        </p:txBody>
      </p:sp>
      <p:sp>
        <p:nvSpPr>
          <p:cNvPr id="25" name="Shape 18"/>
          <p:cNvSpPr/>
          <p:nvPr/>
        </p:nvSpPr>
        <p:spPr>
          <a:xfrm>
            <a:off x="8000800" y="4000500"/>
            <a:ext cx="3581310" cy="2230934"/>
          </a:xfrm>
          <a:prstGeom prst="roundRect">
            <a:avLst>
              <a:gd name="adj" fmla="val 512"/>
            </a:avLst>
          </a:prstGeom>
          <a:solidFill>
            <a:srgbClr val="F8F9F5"/>
          </a:solidFill>
          <a:ln/>
        </p:spPr>
        <p:txBody>
          <a:bodyPr/>
          <a:lstStyle/>
          <a:p>
            <a:endParaRPr lang="es-AR"/>
          </a:p>
        </p:txBody>
      </p:sp>
      <p:pic>
        <p:nvPicPr>
          <p:cNvPr id="26" name="Image 5" descr="preencoded.png"/>
          <p:cNvPicPr>
            <a:picLocks noChangeAspect="1"/>
          </p:cNvPicPr>
          <p:nvPr/>
        </p:nvPicPr>
        <p:blipFill>
          <a:blip r:embed="rId8"/>
          <a:stretch>
            <a:fillRect/>
          </a:stretch>
        </p:blipFill>
        <p:spPr>
          <a:xfrm>
            <a:off x="8153196" y="4127500"/>
            <a:ext cx="533387" cy="533400"/>
          </a:xfrm>
          <a:prstGeom prst="rect">
            <a:avLst/>
          </a:prstGeom>
        </p:spPr>
      </p:pic>
      <p:sp>
        <p:nvSpPr>
          <p:cNvPr id="27" name="Text 19"/>
          <p:cNvSpPr/>
          <p:nvPr/>
        </p:nvSpPr>
        <p:spPr>
          <a:xfrm>
            <a:off x="8153196" y="4763008"/>
            <a:ext cx="3276518"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Evaluación</a:t>
            </a:r>
            <a:endParaRPr lang="en-US" sz="1900" dirty="0"/>
          </a:p>
        </p:txBody>
      </p:sp>
      <p:sp>
        <p:nvSpPr>
          <p:cNvPr id="28" name="Text 20"/>
          <p:cNvSpPr/>
          <p:nvPr/>
        </p:nvSpPr>
        <p:spPr>
          <a:xfrm>
            <a:off x="8153196" y="5167491"/>
            <a:ext cx="3276518" cy="944563"/>
          </a:xfrm>
          <a:prstGeom prst="rect">
            <a:avLst/>
          </a:prstGeom>
          <a:noFill/>
          <a:ln/>
        </p:spPr>
        <p:txBody>
          <a:bodyPr wrap="square" lIns="0" tIns="0" rIns="0" bIns="0" rtlCol="0" anchor="t">
            <a:normAutofit/>
          </a:bodyPr>
          <a:lstStyle/>
          <a:p>
            <a:pPr marL="0" indent="0" algn="just">
              <a:lnSpc>
                <a:spcPct val="103000"/>
              </a:lnSpc>
              <a:buNone/>
            </a:pPr>
            <a:r>
              <a:rPr lang="en-US" sz="1500" dirty="0">
                <a:solidFill>
                  <a:srgbClr val="5E6B70"/>
                </a:solidFill>
                <a:latin typeface="Public Sans" pitchFamily="34" charset="0"/>
                <a:ea typeface="Public Sans" pitchFamily="34" charset="-122"/>
                <a:cs typeface="Public Sans" pitchFamily="34" charset="0"/>
              </a:rPr>
              <a:t>Validación mes a mes, reentrenamiento continuo, purga temporal y contrastes de significancia estadística.</a:t>
            </a:r>
            <a:endParaRPr lang="en-US" sz="1500" dirty="0"/>
          </a:p>
        </p:txBody>
      </p:sp>
      <p:sp>
        <p:nvSpPr>
          <p:cNvPr id="29" name="Text 21"/>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30" name="Text 22"/>
          <p:cNvSpPr/>
          <p:nvPr/>
        </p:nvSpPr>
        <p:spPr>
          <a:xfrm>
            <a:off x="11510079" y="6581676"/>
            <a:ext cx="681616"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RECOLECCIÓN DE DATOS</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Tres fuentes para construir el dataset</a:t>
            </a:r>
            <a:endParaRPr lang="en-US" sz="2800" dirty="0"/>
          </a:p>
        </p:txBody>
      </p:sp>
      <p:sp>
        <p:nvSpPr>
          <p:cNvPr id="4" name="Text 2"/>
          <p:cNvSpPr/>
          <p:nvPr/>
        </p:nvSpPr>
        <p:spPr>
          <a:xfrm>
            <a:off x="609585" y="1456611"/>
            <a:ext cx="11582110" cy="236141"/>
          </a:xfrm>
          <a:prstGeom prst="rect">
            <a:avLst/>
          </a:prstGeom>
          <a:noFill/>
          <a:ln/>
        </p:spPr>
        <p:txBody>
          <a:bodyPr wrap="none" lIns="0" tIns="0" rIns="0" bIns="0" rtlCol="0" anchor="t"/>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Precios locales, mercado de Chicago y precipitación en Estados Unidos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812131"/>
          <a:ext cx="10972526" cy="3628141"/>
        </p:xfrm>
        <a:graphic>
          <a:graphicData uri="http://schemas.openxmlformats.org/drawingml/2006/table">
            <a:tbl>
              <a:tblPr/>
              <a:tblGrid>
                <a:gridCol w="2413932">
                  <a:extLst>
                    <a:ext uri="{9D8B030D-6E8A-4147-A177-3AD203B41FA5}">
                      <a16:colId xmlns:a16="http://schemas.microsoft.com/office/drawing/2014/main" val="20000"/>
                    </a:ext>
                  </a:extLst>
                </a:gridCol>
                <a:gridCol w="8558594">
                  <a:extLst>
                    <a:ext uri="{9D8B030D-6E8A-4147-A177-3AD203B41FA5}">
                      <a16:colId xmlns:a16="http://schemas.microsoft.com/office/drawing/2014/main" val="20001"/>
                    </a:ext>
                  </a:extLst>
                </a:gridCol>
              </a:tblGrid>
              <a:tr h="567319">
                <a:tc>
                  <a:txBody>
                    <a:bodyPr/>
                    <a:lstStyle/>
                    <a:p>
                      <a:pPr marL="0" indent="0" algn="l">
                        <a:buNone/>
                      </a:pPr>
                      <a:r>
                        <a:rPr lang="en-US" sz="2100" dirty="0">
                          <a:solidFill>
                            <a:srgbClr val="142E3A"/>
                          </a:solidFill>
                          <a:latin typeface="Public Sans" pitchFamily="34" charset="0"/>
                          <a:ea typeface="Public Sans" pitchFamily="34" charset="-122"/>
                          <a:cs typeface="Public Sans" pitchFamily="34" charset="0"/>
                        </a:rPr>
                        <a:t>Fuente</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F8F9F5"/>
                      </a:solidFill>
                      <a:prstDash val="solid"/>
                      <a:round/>
                      <a:headEnd type="none" w="med" len="med"/>
                      <a:tailEnd type="none" w="med" len="med"/>
                    </a:lnT>
                    <a:lnB w="12700" cap="flat" cmpd="sng" algn="ctr">
                      <a:solidFill>
                        <a:srgbClr val="D1D3C9"/>
                      </a:solidFill>
                      <a:prstDash val="solid"/>
                      <a:round/>
                      <a:headEnd type="none" w="med" len="med"/>
                      <a:tailEnd type="none" w="med" len="med"/>
                    </a:lnB>
                  </a:tcPr>
                </a:tc>
                <a:tc>
                  <a:txBody>
                    <a:bodyPr/>
                    <a:lstStyle/>
                    <a:p>
                      <a:pPr marL="0" indent="0" algn="l">
                        <a:buNone/>
                      </a:pPr>
                      <a:r>
                        <a:rPr lang="en-US" sz="2100" dirty="0">
                          <a:solidFill>
                            <a:srgbClr val="142E3A"/>
                          </a:solidFill>
                          <a:latin typeface="Public Sans" pitchFamily="34" charset="0"/>
                          <a:ea typeface="Public Sans" pitchFamily="34" charset="-122"/>
                          <a:cs typeface="Public Sans" pitchFamily="34" charset="0"/>
                        </a:rPr>
                        <a:t>Dato, acceso y cobertura</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F8F9F5"/>
                      </a:solidFill>
                      <a:prstDash val="solid"/>
                      <a:round/>
                      <a:headEnd type="none" w="med" len="med"/>
                      <a:tailEnd type="none" w="med" len="med"/>
                    </a:lnT>
                    <a:lnB w="12700" cap="flat" cmpd="sng" algn="ctr">
                      <a:solidFill>
                        <a:srgbClr val="D1D3C9"/>
                      </a:solidFill>
                      <a:prstDash val="solid"/>
                      <a:round/>
                      <a:headEnd type="none" w="med" len="med"/>
                      <a:tailEnd type="none" w="med" len="med"/>
                    </a:lnB>
                  </a:tcPr>
                </a:tc>
                <a:extLst>
                  <a:ext uri="{0D108BD9-81ED-4DB2-BD59-A6C34878D82A}">
                    <a16:rowId xmlns:a16="http://schemas.microsoft.com/office/drawing/2014/main" val="10000"/>
                  </a:ext>
                </a:extLst>
              </a:tr>
              <a:tr h="1256276">
                <a:tc>
                  <a:txBody>
                    <a:bodyPr/>
                    <a:lstStyle/>
                    <a:p>
                      <a:pPr marL="0" indent="0" algn="l">
                        <a:buNone/>
                      </a:pPr>
                      <a:r>
                        <a:rPr lang="en-US" sz="2100" b="1" dirty="0">
                          <a:solidFill>
                            <a:srgbClr val="142E3A"/>
                          </a:solidFill>
                          <a:latin typeface="Public Sans" pitchFamily="34" charset="0"/>
                          <a:ea typeface="Public Sans" pitchFamily="34" charset="-122"/>
                          <a:cs typeface="Public Sans" pitchFamily="34" charset="0"/>
                        </a:rPr>
                        <a:t>Matba Rofex</a:t>
                      </a:r>
                      <a:endParaRPr lang="en-US" sz="2100" dirty="0">
                        <a:latin typeface="Public Sans" charset="0"/>
                        <a:ea typeface="Public Sans" charset="0"/>
                        <a:cs typeface="Public Sans" charset="0"/>
                      </a:endParaRPr>
                    </a:p>
                    <a:p>
                      <a:pPr marL="0" indent="0" algn="l">
                        <a:buNone/>
                      </a:pPr>
                      <a:r>
                        <a:rPr lang="en-US" sz="2100" b="1" dirty="0">
                          <a:solidFill>
                            <a:srgbClr val="142E3A"/>
                          </a:solidFill>
                          <a:latin typeface="Public Sans" pitchFamily="34" charset="0"/>
                          <a:ea typeface="Public Sans" pitchFamily="34" charset="-122"/>
                          <a:cs typeface="Public Sans" pitchFamily="34" charset="0"/>
                        </a:rPr>
                        <a:t>CEM2</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D1D3C9"/>
                      </a:solidFill>
                      <a:prstDash val="solid"/>
                      <a:round/>
                      <a:headEnd type="none" w="med" len="med"/>
                      <a:tailEnd type="none" w="med" len="med"/>
                    </a:lnT>
                    <a:lnB w="12700" cap="flat" cmpd="sng" algn="ctr">
                      <a:solidFill>
                        <a:srgbClr val="D1D3C9"/>
                      </a:solidFill>
                      <a:prstDash val="solid"/>
                      <a:round/>
                      <a:headEnd type="none" w="med" len="med"/>
                      <a:tailEnd type="none" w="med" len="med"/>
                    </a:lnB>
                  </a:tcPr>
                </a:tc>
                <a:tc>
                  <a:txBody>
                    <a:bodyPr/>
                    <a:lstStyle/>
                    <a:p>
                      <a:pPr marL="0" indent="0" algn="l">
                        <a:buNone/>
                      </a:pPr>
                      <a:r>
                        <a:rPr lang="en-US" sz="2100" dirty="0">
                          <a:solidFill>
                            <a:srgbClr val="142E3A"/>
                          </a:solidFill>
                          <a:latin typeface="Public Sans" pitchFamily="34" charset="0"/>
                          <a:ea typeface="Public Sans" pitchFamily="34" charset="-122"/>
                          <a:cs typeface="Public Sans" pitchFamily="34" charset="0"/>
                        </a:rPr>
                        <a:t>Precio de ajuste del disponible en Rosario (se descartan futuros); API pública JSON: </a:t>
                      </a:r>
                      <a:r>
                        <a:rPr lang="en-US" sz="2100" dirty="0">
                          <a:solidFill>
                            <a:srgbClr val="142E3A"/>
                          </a:solidFill>
                          <a:latin typeface="Consolas" pitchFamily="34" charset="0"/>
                          <a:ea typeface="Consolas" pitchFamily="34" charset="-122"/>
                          <a:cs typeface="Consolas" pitchFamily="34" charset="0"/>
                        </a:rPr>
                        <a:t>cem-api-prd.azurewebsites.net</a:t>
                      </a:r>
                      <a:r>
                        <a:rPr lang="en-US" sz="2100" dirty="0">
                          <a:solidFill>
                            <a:srgbClr val="142E3A"/>
                          </a:solidFill>
                          <a:latin typeface="Public Sans" pitchFamily="34" charset="0"/>
                          <a:ea typeface="Public Sans" pitchFamily="34" charset="-122"/>
                          <a:cs typeface="Public Sans" pitchFamily="34" charset="0"/>
                        </a:rPr>
                        <a:t>; 2.743 registros, Ene 2023 – Sep 2026.</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D1D3C9"/>
                      </a:solidFill>
                      <a:prstDash val="solid"/>
                      <a:round/>
                      <a:headEnd type="none" w="med" len="med"/>
                      <a:tailEnd type="none" w="med" len="med"/>
                    </a:lnT>
                    <a:lnB w="12700" cap="flat" cmpd="sng" algn="ctr">
                      <a:solidFill>
                        <a:srgbClr val="D1D3C9"/>
                      </a:solidFill>
                      <a:prstDash val="solid"/>
                      <a:round/>
                      <a:headEnd type="none" w="med" len="med"/>
                      <a:tailEnd type="none" w="med" len="med"/>
                    </a:lnB>
                  </a:tcPr>
                </a:tc>
                <a:extLst>
                  <a:ext uri="{0D108BD9-81ED-4DB2-BD59-A6C34878D82A}">
                    <a16:rowId xmlns:a16="http://schemas.microsoft.com/office/drawing/2014/main" val="10001"/>
                  </a:ext>
                </a:extLst>
              </a:tr>
              <a:tr h="908623">
                <a:tc>
                  <a:txBody>
                    <a:bodyPr/>
                    <a:lstStyle/>
                    <a:p>
                      <a:pPr marL="0" indent="0" algn="l">
                        <a:buNone/>
                      </a:pPr>
                      <a:r>
                        <a:rPr lang="en-US" sz="2100" b="1" dirty="0">
                          <a:solidFill>
                            <a:srgbClr val="142E3A"/>
                          </a:solidFill>
                          <a:latin typeface="Public Sans" pitchFamily="34" charset="0"/>
                          <a:ea typeface="Public Sans" pitchFamily="34" charset="-122"/>
                          <a:cs typeface="Public Sans" pitchFamily="34" charset="0"/>
                        </a:rPr>
                        <a:t>BCR</a:t>
                      </a:r>
                      <a:endParaRPr lang="en-US" sz="2100" dirty="0">
                        <a:latin typeface="Public Sans" charset="0"/>
                        <a:ea typeface="Public Sans" charset="0"/>
                        <a:cs typeface="Public Sans" charset="0"/>
                      </a:endParaRPr>
                    </a:p>
                    <a:p>
                      <a:pPr marL="0" indent="0" algn="l">
                        <a:buNone/>
                      </a:pPr>
                      <a:r>
                        <a:rPr lang="en-US" sz="2100" b="1" dirty="0">
                          <a:solidFill>
                            <a:srgbClr val="142E3A"/>
                          </a:solidFill>
                          <a:latin typeface="Public Sans" pitchFamily="34" charset="0"/>
                          <a:ea typeface="Public Sans" pitchFamily="34" charset="-122"/>
                          <a:cs typeface="Public Sans" pitchFamily="34" charset="0"/>
                        </a:rPr>
                        <a:t>Chicago</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D1D3C9"/>
                      </a:solidFill>
                      <a:prstDash val="solid"/>
                      <a:round/>
                      <a:headEnd type="none" w="med" len="med"/>
                      <a:tailEnd type="none" w="med" len="med"/>
                    </a:lnT>
                    <a:lnB w="12700" cap="flat" cmpd="sng" algn="ctr">
                      <a:solidFill>
                        <a:srgbClr val="D1D3C9"/>
                      </a:solidFill>
                      <a:prstDash val="solid"/>
                      <a:round/>
                      <a:headEnd type="none" w="med" len="med"/>
                      <a:tailEnd type="none" w="med" len="med"/>
                    </a:lnB>
                  </a:tcPr>
                </a:tc>
                <a:tc>
                  <a:txBody>
                    <a:bodyPr/>
                    <a:lstStyle/>
                    <a:p>
                      <a:pPr marL="0" indent="0" algn="l">
                        <a:buNone/>
                      </a:pPr>
                      <a:r>
                        <a:rPr lang="en-US" sz="2100" dirty="0">
                          <a:solidFill>
                            <a:srgbClr val="142E3A"/>
                          </a:solidFill>
                          <a:latin typeface="Public Sans" pitchFamily="34" charset="0"/>
                          <a:ea typeface="Public Sans" pitchFamily="34" charset="-122"/>
                          <a:cs typeface="Public Sans" pitchFamily="34" charset="0"/>
                        </a:rPr>
                        <a:t>Precio y posición de soja, maíz y trigo más marca de feriado; web scraping con Beautiful Soup; 837 páginas relevadas por ID.</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D1D3C9"/>
                      </a:solidFill>
                      <a:prstDash val="solid"/>
                      <a:round/>
                      <a:headEnd type="none" w="med" len="med"/>
                      <a:tailEnd type="none" w="med" len="med"/>
                    </a:lnT>
                    <a:lnB w="12700" cap="flat" cmpd="sng" algn="ctr">
                      <a:solidFill>
                        <a:srgbClr val="D1D3C9"/>
                      </a:solidFill>
                      <a:prstDash val="solid"/>
                      <a:round/>
                      <a:headEnd type="none" w="med" len="med"/>
                      <a:tailEnd type="none" w="med" len="med"/>
                    </a:lnB>
                  </a:tcPr>
                </a:tc>
                <a:extLst>
                  <a:ext uri="{0D108BD9-81ED-4DB2-BD59-A6C34878D82A}">
                    <a16:rowId xmlns:a16="http://schemas.microsoft.com/office/drawing/2014/main" val="10002"/>
                  </a:ext>
                </a:extLst>
              </a:tr>
              <a:tr h="895923">
                <a:tc>
                  <a:txBody>
                    <a:bodyPr/>
                    <a:lstStyle/>
                    <a:p>
                      <a:pPr marL="0" indent="0" algn="l">
                        <a:buNone/>
                      </a:pPr>
                      <a:r>
                        <a:rPr lang="en-US" sz="2100" b="1" dirty="0">
                          <a:solidFill>
                            <a:srgbClr val="142E3A"/>
                          </a:solidFill>
                          <a:latin typeface="Public Sans" pitchFamily="34" charset="0"/>
                          <a:ea typeface="Public Sans" pitchFamily="34" charset="-122"/>
                          <a:cs typeface="Public Sans" pitchFamily="34" charset="0"/>
                        </a:rPr>
                        <a:t>NOAA</a:t>
                      </a:r>
                      <a:endParaRPr lang="en-US" sz="2100" dirty="0">
                        <a:latin typeface="Public Sans" charset="0"/>
                        <a:ea typeface="Public Sans" charset="0"/>
                        <a:cs typeface="Public Sans" charset="0"/>
                      </a:endParaRPr>
                    </a:p>
                    <a:p>
                      <a:pPr marL="0" indent="0" algn="l">
                        <a:buNone/>
                      </a:pPr>
                      <a:r>
                        <a:rPr lang="en-US" sz="2100" b="1" dirty="0">
                          <a:solidFill>
                            <a:srgbClr val="142E3A"/>
                          </a:solidFill>
                          <a:latin typeface="Public Sans" pitchFamily="34" charset="0"/>
                          <a:ea typeface="Public Sans" pitchFamily="34" charset="-122"/>
                          <a:cs typeface="Public Sans" pitchFamily="34" charset="0"/>
                        </a:rPr>
                        <a:t>Corn Belt</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D1D3C9"/>
                      </a:solidFill>
                      <a:prstDash val="solid"/>
                      <a:round/>
                      <a:headEnd type="none" w="med" len="med"/>
                      <a:tailEnd type="none" w="med" len="med"/>
                    </a:lnT>
                    <a:lnB w="12700" cap="flat" cmpd="sng" algn="ctr">
                      <a:solidFill>
                        <a:srgbClr val="F8F9F5"/>
                      </a:solidFill>
                      <a:prstDash val="solid"/>
                      <a:round/>
                      <a:headEnd type="none" w="med" len="med"/>
                      <a:tailEnd type="none" w="med" len="med"/>
                    </a:lnB>
                  </a:tcPr>
                </a:tc>
                <a:tc>
                  <a:txBody>
                    <a:bodyPr/>
                    <a:lstStyle/>
                    <a:p>
                      <a:pPr marL="0" indent="0" algn="l">
                        <a:buNone/>
                      </a:pPr>
                      <a:r>
                        <a:rPr lang="en-US" sz="2100" dirty="0">
                          <a:solidFill>
                            <a:srgbClr val="142E3A"/>
                          </a:solidFill>
                          <a:latin typeface="Public Sans" pitchFamily="34" charset="0"/>
                          <a:ea typeface="Public Sans" pitchFamily="34" charset="-122"/>
                          <a:cs typeface="Public Sans" pitchFamily="34" charset="0"/>
                        </a:rPr>
                        <a:t>Precipitación diaria y mensual en 8 estados productores; API y archivos JSON / CSV; 14.832 registros, Sep 2021 – Sep 2026.</a:t>
                      </a:r>
                      <a:endParaRPr lang="en-US" sz="2100" dirty="0">
                        <a:latin typeface="Public Sans" charset="0"/>
                        <a:ea typeface="Public Sans" charset="0"/>
                        <a:cs typeface="Public Sans" charset="0"/>
                      </a:endParaRPr>
                    </a:p>
                  </a:txBody>
                  <a:tcPr marL="200020" marR="200020" marT="106677" marB="106677" anchor="ctr">
                    <a:lnL w="12700" cap="flat" cmpd="sng" algn="ctr">
                      <a:solidFill>
                        <a:srgbClr val="F8F9F5"/>
                      </a:solidFill>
                      <a:prstDash val="solid"/>
                      <a:round/>
                      <a:headEnd type="none" w="med" len="med"/>
                      <a:tailEnd type="none" w="med" len="med"/>
                    </a:lnL>
                    <a:lnR w="12700" cap="flat" cmpd="sng" algn="ctr">
                      <a:solidFill>
                        <a:srgbClr val="F8F9F5"/>
                      </a:solidFill>
                      <a:prstDash val="solid"/>
                      <a:round/>
                      <a:headEnd type="none" w="med" len="med"/>
                      <a:tailEnd type="none" w="med" len="med"/>
                    </a:lnR>
                    <a:lnT w="12700" cap="flat" cmpd="sng" algn="ctr">
                      <a:solidFill>
                        <a:srgbClr val="D1D3C9"/>
                      </a:solidFill>
                      <a:prstDash val="solid"/>
                      <a:round/>
                      <a:headEnd type="none" w="med" len="med"/>
                      <a:tailEnd type="none" w="med" len="med"/>
                    </a:lnT>
                    <a:lnB w="12700" cap="flat" cmpd="sng" algn="ctr">
                      <a:solidFill>
                        <a:srgbClr val="F8F9F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609585" y="5574983"/>
            <a:ext cx="11582110" cy="236141"/>
          </a:xfrm>
          <a:prstGeom prst="rect">
            <a:avLst/>
          </a:prstGeom>
          <a:noFill/>
          <a:ln/>
        </p:spPr>
        <p:txBody>
          <a:bodyPr wrap="none" lIns="0" tIns="0" rIns="0" bIns="0" rtlCol="0" anchor="t"/>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Scripts en Python generan tres archivos CSV consolidados para su consumo directo en Google Colab.</a:t>
            </a:r>
            <a:endParaRPr lang="en-US" sz="1500" dirty="0"/>
          </a:p>
        </p:txBody>
      </p:sp>
      <p:sp>
        <p:nvSpPr>
          <p:cNvPr id="7" name="Text 4"/>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8" name="Text 5"/>
          <p:cNvSpPr/>
          <p:nvPr/>
        </p:nvSpPr>
        <p:spPr>
          <a:xfrm>
            <a:off x="11510178" y="6581676"/>
            <a:ext cx="681517"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EXTRACCIÓN WEB</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El scraping de la BCR</a:t>
            </a:r>
            <a:endParaRPr lang="en-US" sz="2800" dirty="0"/>
          </a:p>
        </p:txBody>
      </p:sp>
      <p:sp>
        <p:nvSpPr>
          <p:cNvPr id="4" name="Text 2"/>
          <p:cNvSpPr/>
          <p:nvPr/>
        </p:nvSpPr>
        <p:spPr>
          <a:xfrm>
            <a:off x="609585" y="1456611"/>
            <a:ext cx="11582110" cy="236141"/>
          </a:xfrm>
          <a:prstGeom prst="rect">
            <a:avLst/>
          </a:prstGeom>
          <a:noFill/>
          <a:ln/>
        </p:spPr>
        <p:txBody>
          <a:bodyPr wrap="none" lIns="0" tIns="0" rIns="0" bIns="0" rtlCol="0" anchor="t"/>
          <a:lstStyle/>
          <a:p>
            <a:pPr marL="0" indent="0" algn="l">
              <a:lnSpc>
                <a:spcPct val="103000"/>
              </a:lnSpc>
              <a:buNone/>
            </a:pPr>
            <a:r>
              <a:rPr lang="en-US" sz="1500" dirty="0">
                <a:solidFill>
                  <a:srgbClr val="142E3A"/>
                </a:solidFill>
                <a:highlight>
                  <a:srgbClr val="EEF3F0"/>
                </a:highlight>
                <a:latin typeface="Consolas" pitchFamily="34" charset="0"/>
                <a:ea typeface="Consolas" pitchFamily="34" charset="-122"/>
                <a:cs typeface="Consolas" pitchFamily="34" charset="0"/>
              </a:rPr>
              <a:t>bcr.com.ar/.../chicagokansas-cme-group-&lt;ID&gt;</a:t>
            </a:r>
            <a:r>
              <a:rPr lang="en-US" sz="1500" dirty="0">
                <a:solidFill>
                  <a:srgbClr val="5E6B70"/>
                </a:solidFill>
                <a:latin typeface="Public Sans" pitchFamily="34" charset="0"/>
                <a:ea typeface="Public Sans" pitchFamily="34" charset="-122"/>
                <a:cs typeface="Public Sans" pitchFamily="34" charset="0"/>
              </a:rPr>
              <a:t> · 837 fechas relevadas · 14 feriados</a:t>
            </a:r>
            <a:endParaRPr lang="en-US" sz="1500" dirty="0"/>
          </a:p>
        </p:txBody>
      </p:sp>
      <p:sp>
        <p:nvSpPr>
          <p:cNvPr id="5" name="Shape 3"/>
          <p:cNvSpPr/>
          <p:nvPr/>
        </p:nvSpPr>
        <p:spPr>
          <a:xfrm>
            <a:off x="609585" y="1837531"/>
            <a:ext cx="4267093" cy="4017367"/>
          </a:xfrm>
          <a:prstGeom prst="roundRect">
            <a:avLst>
              <a:gd name="adj" fmla="val 285"/>
            </a:avLst>
          </a:prstGeom>
          <a:solidFill>
            <a:srgbClr val="F8F9F5"/>
          </a:solidFill>
          <a:ln/>
        </p:spPr>
        <p:txBody>
          <a:bodyPr/>
          <a:lstStyle/>
          <a:p>
            <a:endParaRPr lang="es-AR"/>
          </a:p>
        </p:txBody>
      </p:sp>
      <p:sp>
        <p:nvSpPr>
          <p:cNvPr id="6" name="Text 4"/>
          <p:cNvSpPr/>
          <p:nvPr/>
        </p:nvSpPr>
        <p:spPr>
          <a:xfrm>
            <a:off x="838179" y="2075153"/>
            <a:ext cx="4038499"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LÓGICA DEL RECORRIDO</a:t>
            </a:r>
            <a:endParaRPr lang="en-US" sz="1450" dirty="0"/>
          </a:p>
        </p:txBody>
      </p:sp>
      <p:sp>
        <p:nvSpPr>
          <p:cNvPr id="7" name="Text 5"/>
          <p:cNvSpPr/>
          <p:nvPr/>
        </p:nvSpPr>
        <p:spPr>
          <a:xfrm>
            <a:off x="838179" y="2381845"/>
            <a:ext cx="3809905" cy="3244453"/>
          </a:xfrm>
          <a:prstGeom prst="rect">
            <a:avLst/>
          </a:prstGeom>
          <a:noFill/>
          <a:ln/>
        </p:spPr>
        <p:txBody>
          <a:bodyPr wrap="square" lIns="0" tIns="0" rIns="0" bIns="0" rtlCol="0" anchor="t">
            <a:normAutofit/>
          </a:bodyPr>
          <a:lstStyle/>
          <a:p>
            <a:pPr marL="325120" indent="-325120" algn="l">
              <a:lnSpc>
                <a:spcPct val="107000"/>
              </a:lnSpc>
              <a:buSzPct val="100000"/>
              <a:buFont typeface="+mj-lt"/>
              <a:buAutoNum type="arabicPeriod"/>
            </a:pPr>
            <a:r>
              <a:rPr lang="en-US" sz="1600" b="1" dirty="0">
                <a:solidFill>
                  <a:srgbClr val="142E3A"/>
                </a:solidFill>
                <a:latin typeface="Public Sans Bold" pitchFamily="34" charset="0"/>
                <a:ea typeface="Public Sans Bold" pitchFamily="34" charset="-122"/>
                <a:cs typeface="Public Sans Bold" pitchFamily="34" charset="0"/>
              </a:rPr>
              <a:t>ID correlativo:</a:t>
            </a:r>
            <a:r>
              <a:rPr lang="en-US" sz="1600" dirty="0">
                <a:solidFill>
                  <a:srgbClr val="142E3A"/>
                </a:solidFill>
                <a:latin typeface="Public Sans" pitchFamily="34" charset="0"/>
                <a:ea typeface="Public Sans" pitchFamily="34" charset="-122"/>
                <a:cs typeface="Public Sans" pitchFamily="34" charset="0"/>
              </a:rPr>
              <a:t> un número por día hábil; fines de semana no consumen número; feriados sí.</a:t>
            </a:r>
            <a:endParaRPr lang="en-US" sz="1600" dirty="0"/>
          </a:p>
          <a:p>
            <a:pPr marL="325120" indent="-325120" algn="l">
              <a:lnSpc>
                <a:spcPct val="107000"/>
              </a:lnSpc>
              <a:buSzPct val="100000"/>
              <a:buFont typeface="+mj-lt"/>
              <a:buAutoNum type="arabicPeriod" startAt="2"/>
            </a:pPr>
            <a:r>
              <a:rPr lang="en-US" sz="1600" b="1" dirty="0">
                <a:solidFill>
                  <a:srgbClr val="142E3A"/>
                </a:solidFill>
                <a:latin typeface="Public Sans Bold" pitchFamily="34" charset="0"/>
                <a:ea typeface="Public Sans Bold" pitchFamily="34" charset="-122"/>
                <a:cs typeface="Public Sans Bold" pitchFamily="34" charset="0"/>
              </a:rPr>
              <a:t>Recorrido:</a:t>
            </a:r>
            <a:r>
              <a:rPr lang="en-US" sz="1600" dirty="0">
                <a:solidFill>
                  <a:srgbClr val="142E3A"/>
                </a:solidFill>
                <a:latin typeface="Public Sans" pitchFamily="34" charset="0"/>
                <a:ea typeface="Public Sans" pitchFamily="34" charset="-122"/>
                <a:cs typeface="Public Sans" pitchFamily="34" charset="0"/>
              </a:rPr>
              <a:t> desde ID 2450 hasta 15 páginas inexistentes seguidas.</a:t>
            </a:r>
            <a:endParaRPr lang="en-US" sz="1600" dirty="0"/>
          </a:p>
          <a:p>
            <a:pPr marL="325120" indent="-325120" algn="l">
              <a:lnSpc>
                <a:spcPct val="107000"/>
              </a:lnSpc>
              <a:buSzPct val="100000"/>
              <a:buFont typeface="+mj-lt"/>
              <a:buAutoNum type="arabicPeriod" startAt="3"/>
            </a:pPr>
            <a:r>
              <a:rPr lang="en-US" sz="1600" b="1" dirty="0">
                <a:solidFill>
                  <a:srgbClr val="142E3A"/>
                </a:solidFill>
                <a:latin typeface="Public Sans Bold" pitchFamily="34" charset="0"/>
                <a:ea typeface="Public Sans Bold" pitchFamily="34" charset="-122"/>
                <a:cs typeface="Public Sans Bold" pitchFamily="34" charset="0"/>
              </a:rPr>
              <a:t>Parseo con Beautiful Soup:</a:t>
            </a:r>
            <a:r>
              <a:rPr lang="en-US" sz="1600" dirty="0">
                <a:solidFill>
                  <a:srgbClr val="142E3A"/>
                </a:solidFill>
                <a:latin typeface="Public Sans" pitchFamily="34" charset="0"/>
                <a:ea typeface="Public Sans" pitchFamily="34" charset="-122"/>
                <a:cs typeface="Public Sans" pitchFamily="34" charset="0"/>
              </a:rPr>
              <a:t> tabla “Soja Chicago” y posición más cercana con dato.</a:t>
            </a:r>
            <a:endParaRPr lang="en-US" sz="1600" dirty="0"/>
          </a:p>
          <a:p>
            <a:pPr marL="325120" indent="-325120" algn="l">
              <a:lnSpc>
                <a:spcPct val="107000"/>
              </a:lnSpc>
              <a:buSzPct val="100000"/>
              <a:buFont typeface="+mj-lt"/>
              <a:buAutoNum type="arabicPeriod" startAt="4"/>
            </a:pPr>
            <a:r>
              <a:rPr lang="en-US" sz="1600" b="1" dirty="0">
                <a:solidFill>
                  <a:srgbClr val="142E3A"/>
                </a:solidFill>
                <a:latin typeface="Public Sans Bold" pitchFamily="34" charset="0"/>
                <a:ea typeface="Public Sans Bold" pitchFamily="34" charset="-122"/>
                <a:cs typeface="Public Sans Bold" pitchFamily="34" charset="0"/>
              </a:rPr>
              <a:t>Fecha:</a:t>
            </a:r>
            <a:r>
              <a:rPr lang="en-US" sz="1600" dirty="0">
                <a:solidFill>
                  <a:srgbClr val="142E3A"/>
                </a:solidFill>
                <a:latin typeface="Public Sans" pitchFamily="34" charset="0"/>
                <a:ea typeface="Public Sans" pitchFamily="34" charset="-122"/>
                <a:cs typeface="Public Sans" pitchFamily="34" charset="0"/>
              </a:rPr>
              <a:t> texto “Precios de cierre”; si falta, metadatos. </a:t>
            </a:r>
            <a:r>
              <a:rPr lang="en-US" sz="1600" b="1" dirty="0">
                <a:solidFill>
                  <a:srgbClr val="142E3A"/>
                </a:solidFill>
                <a:latin typeface="Public Sans Bold" pitchFamily="34" charset="0"/>
                <a:ea typeface="Public Sans Bold" pitchFamily="34" charset="-122"/>
                <a:cs typeface="Public Sans Bold" pitchFamily="34" charset="0"/>
              </a:rPr>
              <a:t>Salida:</a:t>
            </a:r>
            <a:r>
              <a:rPr lang="en-US" sz="1600" dirty="0">
                <a:solidFill>
                  <a:srgbClr val="142E3A"/>
                </a:solidFill>
                <a:latin typeface="Public Sans" pitchFamily="34" charset="0"/>
                <a:ea typeface="Public Sans" pitchFamily="34" charset="-122"/>
                <a:cs typeface="Public Sans" pitchFamily="34" charset="0"/>
              </a:rPr>
              <a:t> CSV con una fila por fecha, su ID y la marca de feriado.</a:t>
            </a:r>
            <a:endParaRPr lang="en-US" sz="1600" dirty="0"/>
          </a:p>
        </p:txBody>
      </p:sp>
      <p:sp>
        <p:nvSpPr>
          <p:cNvPr id="8" name="Text 6"/>
          <p:cNvSpPr/>
          <p:nvPr/>
        </p:nvSpPr>
        <p:spPr>
          <a:xfrm>
            <a:off x="5181371" y="2075153"/>
            <a:ext cx="6400739"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DESAFÍOS TÉCNICOS Y SOLUCIONES</a:t>
            </a:r>
            <a:endParaRPr lang="en-US" sz="1450" dirty="0"/>
          </a:p>
        </p:txBody>
      </p:sp>
      <p:sp>
        <p:nvSpPr>
          <p:cNvPr id="9" name="Text 7"/>
          <p:cNvSpPr/>
          <p:nvPr/>
        </p:nvSpPr>
        <p:spPr>
          <a:xfrm>
            <a:off x="5181371" y="2388259"/>
            <a:ext cx="3124122" cy="260052"/>
          </a:xfrm>
          <a:prstGeom prst="rect">
            <a:avLst/>
          </a:prstGeom>
          <a:noFill/>
          <a:ln/>
        </p:spPr>
        <p:txBody>
          <a:bodyPr wrap="none" lIns="0" tIns="0" rIns="0" bIns="0" rtlCol="0" anchor="t"/>
          <a:lstStyle/>
          <a:p>
            <a:pPr marL="0" indent="0" algn="l">
              <a:lnSpc>
                <a:spcPct val="107000"/>
              </a:lnSpc>
              <a:buNone/>
            </a:pPr>
            <a:r>
              <a:rPr lang="en-US" sz="1600" b="1" dirty="0">
                <a:solidFill>
                  <a:srgbClr val="142E3A"/>
                </a:solidFill>
                <a:latin typeface="Public Sans Bold" pitchFamily="34" charset="0"/>
                <a:ea typeface="Public Sans Bold" pitchFamily="34" charset="-122"/>
                <a:cs typeface="Public Sans Bold" pitchFamily="34" charset="0"/>
              </a:rPr>
              <a:t>Bloqueos 429 / 503</a:t>
            </a:r>
            <a:endParaRPr lang="en-US" sz="1600" dirty="0"/>
          </a:p>
        </p:txBody>
      </p:sp>
      <p:sp>
        <p:nvSpPr>
          <p:cNvPr id="10" name="Text 8"/>
          <p:cNvSpPr/>
          <p:nvPr/>
        </p:nvSpPr>
        <p:spPr>
          <a:xfrm>
            <a:off x="5181371" y="2747943"/>
            <a:ext cx="3124122"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Espera creciente: 15, 30, 60, 120 y 300 s; respetar Retry-After.</a:t>
            </a:r>
            <a:endParaRPr lang="en-US" sz="1500" dirty="0"/>
          </a:p>
        </p:txBody>
      </p:sp>
      <p:sp>
        <p:nvSpPr>
          <p:cNvPr id="11" name="Text 9"/>
          <p:cNvSpPr/>
          <p:nvPr/>
        </p:nvSpPr>
        <p:spPr>
          <a:xfrm>
            <a:off x="8457889" y="2388259"/>
            <a:ext cx="3124221" cy="260052"/>
          </a:xfrm>
          <a:prstGeom prst="rect">
            <a:avLst/>
          </a:prstGeom>
          <a:noFill/>
          <a:ln/>
        </p:spPr>
        <p:txBody>
          <a:bodyPr wrap="none" lIns="0" tIns="0" rIns="0" bIns="0" rtlCol="0" anchor="t"/>
          <a:lstStyle/>
          <a:p>
            <a:pPr marL="0" indent="0" algn="l">
              <a:lnSpc>
                <a:spcPct val="107000"/>
              </a:lnSpc>
              <a:buNone/>
            </a:pPr>
            <a:r>
              <a:rPr lang="en-US" sz="1600" b="1" dirty="0">
                <a:solidFill>
                  <a:srgbClr val="142E3A"/>
                </a:solidFill>
                <a:latin typeface="Public Sans Bold" pitchFamily="34" charset="0"/>
                <a:ea typeface="Public Sans Bold" pitchFamily="34" charset="-122"/>
                <a:cs typeface="Public Sans Bold" pitchFamily="34" charset="0"/>
              </a:rPr>
              <a:t>Cache y reanudación</a:t>
            </a:r>
            <a:endParaRPr lang="en-US" sz="1600" dirty="0"/>
          </a:p>
        </p:txBody>
      </p:sp>
      <p:sp>
        <p:nvSpPr>
          <p:cNvPr id="12" name="Text 10"/>
          <p:cNvSpPr/>
          <p:nvPr/>
        </p:nvSpPr>
        <p:spPr>
          <a:xfrm>
            <a:off x="8457889" y="2747943"/>
            <a:ext cx="3124221"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Cada página a .jsonl; retomar desde el último ID tras un corte.</a:t>
            </a:r>
            <a:endParaRPr lang="en-US" sz="1500" dirty="0"/>
          </a:p>
        </p:txBody>
      </p:sp>
      <p:sp>
        <p:nvSpPr>
          <p:cNvPr id="13" name="Text 11"/>
          <p:cNvSpPr/>
          <p:nvPr/>
        </p:nvSpPr>
        <p:spPr>
          <a:xfrm>
            <a:off x="5181371" y="3371318"/>
            <a:ext cx="3124122" cy="260052"/>
          </a:xfrm>
          <a:prstGeom prst="rect">
            <a:avLst/>
          </a:prstGeom>
          <a:noFill/>
          <a:ln/>
        </p:spPr>
        <p:txBody>
          <a:bodyPr wrap="none" lIns="0" tIns="0" rIns="0" bIns="0" rtlCol="0" anchor="t"/>
          <a:lstStyle/>
          <a:p>
            <a:pPr marL="0" indent="0" algn="l">
              <a:lnSpc>
                <a:spcPct val="107000"/>
              </a:lnSpc>
              <a:buNone/>
            </a:pPr>
            <a:r>
              <a:rPr lang="en-US" sz="1600" b="1" dirty="0">
                <a:solidFill>
                  <a:srgbClr val="142E3A"/>
                </a:solidFill>
                <a:latin typeface="Public Sans Bold" pitchFamily="34" charset="0"/>
                <a:ea typeface="Public Sans Bold" pitchFamily="34" charset="-122"/>
                <a:cs typeface="Public Sans Bold" pitchFamily="34" charset="0"/>
              </a:rPr>
              <a:t>Cuidado del servidor</a:t>
            </a:r>
            <a:endParaRPr lang="en-US" sz="1600" dirty="0"/>
          </a:p>
        </p:txBody>
      </p:sp>
      <p:sp>
        <p:nvSpPr>
          <p:cNvPr id="14" name="Text 12"/>
          <p:cNvSpPr/>
          <p:nvPr/>
        </p:nvSpPr>
        <p:spPr>
          <a:xfrm>
            <a:off x="5181371" y="3731002"/>
            <a:ext cx="3124122"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Sesión reutilizada; pausa de 1,5 s más azar; headers de navegador.</a:t>
            </a:r>
            <a:endParaRPr lang="en-US" sz="1500" dirty="0"/>
          </a:p>
        </p:txBody>
      </p:sp>
      <p:sp>
        <p:nvSpPr>
          <p:cNvPr id="15" name="Text 13"/>
          <p:cNvSpPr/>
          <p:nvPr/>
        </p:nvSpPr>
        <p:spPr>
          <a:xfrm>
            <a:off x="8457889" y="3371318"/>
            <a:ext cx="3124221" cy="260052"/>
          </a:xfrm>
          <a:prstGeom prst="rect">
            <a:avLst/>
          </a:prstGeom>
          <a:noFill/>
          <a:ln/>
        </p:spPr>
        <p:txBody>
          <a:bodyPr wrap="none" lIns="0" tIns="0" rIns="0" bIns="0" rtlCol="0" anchor="t"/>
          <a:lstStyle/>
          <a:p>
            <a:pPr marL="0" indent="0" algn="l">
              <a:lnSpc>
                <a:spcPct val="107000"/>
              </a:lnSpc>
              <a:buNone/>
            </a:pPr>
            <a:r>
              <a:rPr lang="en-US" sz="1600" b="1" dirty="0">
                <a:solidFill>
                  <a:srgbClr val="142E3A"/>
                </a:solidFill>
                <a:latin typeface="Public Sans Bold" pitchFamily="34" charset="0"/>
                <a:ea typeface="Public Sans Bold" pitchFamily="34" charset="-122"/>
                <a:cs typeface="Public Sans Bold" pitchFamily="34" charset="0"/>
              </a:rPr>
              <a:t>Errores de red</a:t>
            </a:r>
            <a:endParaRPr lang="en-US" sz="1600" dirty="0"/>
          </a:p>
        </p:txBody>
      </p:sp>
      <p:sp>
        <p:nvSpPr>
          <p:cNvPr id="16" name="Text 14"/>
          <p:cNvSpPr/>
          <p:nvPr/>
        </p:nvSpPr>
        <p:spPr>
          <a:xfrm>
            <a:off x="8457889" y="3731002"/>
            <a:ext cx="3124221"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Timeout 30 s; 404 = no existe; 5xx no finaliza.</a:t>
            </a:r>
            <a:endParaRPr lang="en-US" sz="1500" dirty="0"/>
          </a:p>
        </p:txBody>
      </p:sp>
      <p:sp>
        <p:nvSpPr>
          <p:cNvPr id="17" name="Text 15"/>
          <p:cNvSpPr/>
          <p:nvPr/>
        </p:nvSpPr>
        <p:spPr>
          <a:xfrm>
            <a:off x="5181371" y="4354377"/>
            <a:ext cx="3124122" cy="260052"/>
          </a:xfrm>
          <a:prstGeom prst="rect">
            <a:avLst/>
          </a:prstGeom>
          <a:noFill/>
          <a:ln/>
        </p:spPr>
        <p:txBody>
          <a:bodyPr wrap="none" lIns="0" tIns="0" rIns="0" bIns="0" rtlCol="0" anchor="t"/>
          <a:lstStyle/>
          <a:p>
            <a:pPr marL="0" indent="0" algn="l">
              <a:lnSpc>
                <a:spcPct val="107000"/>
              </a:lnSpc>
              <a:buNone/>
            </a:pPr>
            <a:r>
              <a:rPr lang="en-US" sz="1600" b="1" dirty="0">
                <a:solidFill>
                  <a:srgbClr val="142E3A"/>
                </a:solidFill>
                <a:latin typeface="Public Sans Bold" pitchFamily="34" charset="0"/>
                <a:ea typeface="Public Sans Bold" pitchFamily="34" charset="-122"/>
                <a:cs typeface="Public Sans Bold" pitchFamily="34" charset="0"/>
              </a:rPr>
              <a:t>HTML irregular</a:t>
            </a:r>
            <a:endParaRPr lang="en-US" sz="1600" dirty="0"/>
          </a:p>
        </p:txBody>
      </p:sp>
      <p:sp>
        <p:nvSpPr>
          <p:cNvPr id="18" name="Text 16"/>
          <p:cNvSpPr/>
          <p:nvPr/>
        </p:nvSpPr>
        <p:spPr>
          <a:xfrm>
            <a:off x="5181371" y="4714061"/>
            <a:ext cx="3124122"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Colspan, encabezado ilegible y números 1.234,56.</a:t>
            </a:r>
            <a:endParaRPr lang="en-US" sz="1500" dirty="0"/>
          </a:p>
        </p:txBody>
      </p:sp>
      <p:sp>
        <p:nvSpPr>
          <p:cNvPr id="19" name="Text 17"/>
          <p:cNvSpPr/>
          <p:nvPr/>
        </p:nvSpPr>
        <p:spPr>
          <a:xfrm>
            <a:off x="8457889" y="4354377"/>
            <a:ext cx="3124221" cy="260052"/>
          </a:xfrm>
          <a:prstGeom prst="rect">
            <a:avLst/>
          </a:prstGeom>
          <a:noFill/>
          <a:ln/>
        </p:spPr>
        <p:txBody>
          <a:bodyPr wrap="none" lIns="0" tIns="0" rIns="0" bIns="0" rtlCol="0" anchor="t"/>
          <a:lstStyle/>
          <a:p>
            <a:pPr marL="0" indent="0" algn="l">
              <a:lnSpc>
                <a:spcPct val="107000"/>
              </a:lnSpc>
              <a:buNone/>
            </a:pPr>
            <a:r>
              <a:rPr lang="en-US" sz="1600" b="1" dirty="0">
                <a:solidFill>
                  <a:srgbClr val="142E3A"/>
                </a:solidFill>
                <a:latin typeface="Public Sans Bold" pitchFamily="34" charset="0"/>
                <a:ea typeface="Public Sans Bold" pitchFamily="34" charset="-122"/>
                <a:cs typeface="Public Sans Bold" pitchFamily="34" charset="0"/>
              </a:rPr>
              <a:t>Depuración</a:t>
            </a:r>
            <a:endParaRPr lang="en-US" sz="1600" dirty="0"/>
          </a:p>
        </p:txBody>
      </p:sp>
      <p:sp>
        <p:nvSpPr>
          <p:cNvPr id="20" name="Text 18"/>
          <p:cNvSpPr/>
          <p:nvPr/>
        </p:nvSpPr>
        <p:spPr>
          <a:xfrm>
            <a:off x="8457889" y="4714061"/>
            <a:ext cx="3124221"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--debug guarda HTML de un ID para inspección.</a:t>
            </a:r>
            <a:endParaRPr lang="en-US" sz="1500" dirty="0"/>
          </a:p>
        </p:txBody>
      </p:sp>
      <p:sp>
        <p:nvSpPr>
          <p:cNvPr id="21" name="Text 19"/>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22" name="Text 20"/>
          <p:cNvSpPr/>
          <p:nvPr/>
        </p:nvSpPr>
        <p:spPr>
          <a:xfrm>
            <a:off x="11508889" y="6581676"/>
            <a:ext cx="682806"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INTEGRACIÓN DE ENDPOINTS</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Las APIs: Matba Rofex y NOAA</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Públicas, sin autenticación y gestionadas mediante Python y la librería requests</a:t>
            </a:r>
            <a:endParaRPr lang="en-US" sz="1600" dirty="0"/>
          </a:p>
        </p:txBody>
      </p:sp>
      <p:sp>
        <p:nvSpPr>
          <p:cNvPr id="5" name="Shape 3"/>
          <p:cNvSpPr/>
          <p:nvPr/>
        </p:nvSpPr>
        <p:spPr>
          <a:xfrm>
            <a:off x="609585" y="1827907"/>
            <a:ext cx="5333867" cy="4305300"/>
          </a:xfrm>
          <a:prstGeom prst="roundRect">
            <a:avLst>
              <a:gd name="adj" fmla="val 265"/>
            </a:avLst>
          </a:prstGeom>
          <a:noFill/>
          <a:ln w="38099">
            <a:solidFill>
              <a:srgbClr val="D1D3C9"/>
            </a:solidFill>
            <a:prstDash val="solid"/>
          </a:ln>
        </p:spPr>
        <p:txBody>
          <a:bodyPr/>
          <a:lstStyle/>
          <a:p>
            <a:endParaRPr lang="es-AR"/>
          </a:p>
        </p:txBody>
      </p:sp>
      <p:sp>
        <p:nvSpPr>
          <p:cNvPr id="6" name="Text 4"/>
          <p:cNvSpPr/>
          <p:nvPr/>
        </p:nvSpPr>
        <p:spPr>
          <a:xfrm>
            <a:off x="800080" y="2020568"/>
            <a:ext cx="3600360" cy="294580"/>
          </a:xfrm>
          <a:prstGeom prst="rect">
            <a:avLst/>
          </a:prstGeom>
          <a:noFill/>
          <a:ln/>
        </p:spPr>
        <p:txBody>
          <a:bodyPr wrap="none" lIns="0" tIns="0" rIns="0" bIns="0" rtlCol="0" anchor="t"/>
          <a:lstStyle/>
          <a:p>
            <a:pPr marL="0" indent="0" algn="l">
              <a:lnSpc>
                <a:spcPct val="97000"/>
              </a:lnSpc>
              <a:buNone/>
            </a:pPr>
            <a:r>
              <a:rPr lang="en-US" sz="2000" b="1" kern="100" spc="-4" dirty="0">
                <a:solidFill>
                  <a:srgbClr val="142E3A"/>
                </a:solidFill>
                <a:latin typeface="Public Sans Bold" pitchFamily="34" charset="0"/>
                <a:ea typeface="Public Sans Bold" pitchFamily="34" charset="-122"/>
                <a:cs typeface="Public Sans Bold" pitchFamily="34" charset="0"/>
              </a:rPr>
              <a:t>CEM2 · Matba Rofex</a:t>
            </a:r>
            <a:endParaRPr lang="en-US" sz="2000" dirty="0"/>
          </a:p>
        </p:txBody>
      </p:sp>
      <p:sp>
        <p:nvSpPr>
          <p:cNvPr id="7" name="Shape 5"/>
          <p:cNvSpPr/>
          <p:nvPr/>
        </p:nvSpPr>
        <p:spPr>
          <a:xfrm>
            <a:off x="4552836" y="2018407"/>
            <a:ext cx="860106" cy="405209"/>
          </a:xfrm>
          <a:prstGeom prst="roundRect">
            <a:avLst>
              <a:gd name="adj" fmla="val 2821"/>
            </a:avLst>
          </a:prstGeom>
          <a:solidFill>
            <a:srgbClr val="D1FAF2"/>
          </a:solidFill>
          <a:ln/>
        </p:spPr>
        <p:txBody>
          <a:bodyPr/>
          <a:lstStyle/>
          <a:p>
            <a:endParaRPr lang="es-AR"/>
          </a:p>
        </p:txBody>
      </p:sp>
      <p:sp>
        <p:nvSpPr>
          <p:cNvPr id="8" name="Text 6"/>
          <p:cNvSpPr/>
          <p:nvPr/>
        </p:nvSpPr>
        <p:spPr>
          <a:xfrm>
            <a:off x="4712773" y="2101132"/>
            <a:ext cx="1040183" cy="245269"/>
          </a:xfrm>
          <a:prstGeom prst="rect">
            <a:avLst/>
          </a:prstGeom>
          <a:noFill/>
          <a:ln/>
        </p:spPr>
        <p:txBody>
          <a:bodyPr wrap="none" lIns="0" tIns="0" rIns="0" bIns="0" rtlCol="0" anchor="t"/>
          <a:lstStyle/>
          <a:p>
            <a:pPr marL="0" indent="0" algn="l">
              <a:lnSpc>
                <a:spcPct val="96000"/>
              </a:lnSpc>
              <a:buNone/>
            </a:pPr>
            <a:r>
              <a:rPr lang="en-US" sz="1700" dirty="0">
                <a:solidFill>
                  <a:srgbClr val="142E3A"/>
                </a:solidFill>
                <a:latin typeface="Public Sans" pitchFamily="34" charset="0"/>
                <a:ea typeface="Public Sans" pitchFamily="34" charset="-122"/>
                <a:cs typeface="Public Sans" pitchFamily="34" charset="0"/>
              </a:rPr>
              <a:t>JSON</a:t>
            </a:r>
            <a:endParaRPr lang="en-US" sz="1700" dirty="0"/>
          </a:p>
        </p:txBody>
      </p:sp>
      <p:sp>
        <p:nvSpPr>
          <p:cNvPr id="9" name="Text 7"/>
          <p:cNvSpPr/>
          <p:nvPr/>
        </p:nvSpPr>
        <p:spPr>
          <a:xfrm>
            <a:off x="800080" y="2556331"/>
            <a:ext cx="4952876" cy="731341"/>
          </a:xfrm>
          <a:prstGeom prst="rect">
            <a:avLst/>
          </a:prstGeom>
          <a:noFill/>
          <a:ln/>
        </p:spPr>
        <p:txBody>
          <a:bodyPr wrap="square" lIns="0" tIns="0" rIns="0" bIns="0" rtlCol="0" anchor="t">
            <a:normAutofit/>
          </a:bodyPr>
          <a:lstStyle/>
          <a:p>
            <a:pPr marL="0" indent="0" algn="l">
              <a:lnSpc>
                <a:spcPct val="107000"/>
              </a:lnSpc>
              <a:buNone/>
            </a:pPr>
            <a:r>
              <a:rPr lang="en-US" sz="1500" dirty="0">
                <a:solidFill>
                  <a:srgbClr val="142E3A"/>
                </a:solidFill>
                <a:highlight>
                  <a:srgbClr val="EEF3F0"/>
                </a:highlight>
                <a:latin typeface="Consolas" pitchFamily="34" charset="0"/>
                <a:ea typeface="Consolas" pitchFamily="34" charset="-122"/>
                <a:cs typeface="Consolas" pitchFamily="34" charset="0"/>
              </a:rPr>
              <a:t>GET /api/v1/products</a:t>
            </a:r>
            <a:endParaRPr lang="en-US" sz="1500" dirty="0"/>
          </a:p>
          <a:p>
            <a:pPr marL="0" indent="0" algn="l">
              <a:lnSpc>
                <a:spcPct val="107000"/>
              </a:lnSpc>
              <a:buNone/>
            </a:pPr>
            <a:r>
              <a:rPr lang="en-US" sz="1500" dirty="0">
                <a:solidFill>
                  <a:srgbClr val="142E3A"/>
                </a:solidFill>
                <a:highlight>
                  <a:srgbClr val="EEF3F0"/>
                </a:highlight>
                <a:latin typeface="Consolas" pitchFamily="34" charset="0"/>
                <a:ea typeface="Consolas" pitchFamily="34" charset="-122"/>
                <a:cs typeface="Consolas" pitchFamily="34" charset="0"/>
              </a:rPr>
              <a:t>GET /api/v1/closing-prices?from&amp;to&amp;page&amp;pageSize</a:t>
            </a:r>
            <a:endParaRPr lang="en-US" sz="1500" dirty="0"/>
          </a:p>
        </p:txBody>
      </p:sp>
      <p:sp>
        <p:nvSpPr>
          <p:cNvPr id="10" name="Shape 8"/>
          <p:cNvSpPr/>
          <p:nvPr/>
        </p:nvSpPr>
        <p:spPr>
          <a:xfrm>
            <a:off x="800080" y="3447058"/>
            <a:ext cx="4952876" cy="38100"/>
          </a:xfrm>
          <a:prstGeom prst="roundRect">
            <a:avLst>
              <a:gd name="adj" fmla="val 49999"/>
            </a:avLst>
          </a:prstGeom>
          <a:solidFill>
            <a:srgbClr val="D9E1DF"/>
          </a:solidFill>
          <a:ln/>
        </p:spPr>
        <p:txBody>
          <a:bodyPr/>
          <a:lstStyle/>
          <a:p>
            <a:endParaRPr lang="es-AR"/>
          </a:p>
        </p:txBody>
      </p:sp>
      <p:sp>
        <p:nvSpPr>
          <p:cNvPr id="11" name="Text 9"/>
          <p:cNvSpPr/>
          <p:nvPr/>
        </p:nvSpPr>
        <p:spPr>
          <a:xfrm>
            <a:off x="800080" y="3650258"/>
            <a:ext cx="4952876" cy="2292449"/>
          </a:xfrm>
          <a:prstGeom prst="rect">
            <a:avLst/>
          </a:prstGeom>
          <a:noFill/>
          <a:ln/>
        </p:spPr>
        <p:txBody>
          <a:bodyPr wrap="square" lIns="0" tIns="0" rIns="0" bIns="0" rtlCol="0" anchor="t">
            <a:normAutofit/>
          </a:bodyPr>
          <a:lstStyle/>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Acceso probado:</a:t>
            </a:r>
            <a:r>
              <a:rPr lang="en-US" sz="1500" dirty="0">
                <a:solidFill>
                  <a:srgbClr val="142E3A"/>
                </a:solidFill>
                <a:latin typeface="Public Sans" pitchFamily="34" charset="0"/>
                <a:ea typeface="Public Sans" pitchFamily="34" charset="-122"/>
                <a:cs typeface="Public Sans" pitchFamily="34" charset="0"/>
              </a:rPr>
              <a:t> MAE Market Data no cubre el agro; Primary API pedía credenciales.</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Paginación:</a:t>
            </a:r>
            <a:r>
              <a:rPr lang="en-US" sz="1500" dirty="0">
                <a:solidFill>
                  <a:srgbClr val="142E3A"/>
                </a:solidFill>
                <a:latin typeface="Public Sans" pitchFamily="34" charset="0"/>
                <a:ea typeface="Public Sans" pitchFamily="34" charset="-122"/>
                <a:cs typeface="Public Sans" pitchFamily="34" charset="0"/>
              </a:rPr>
              <a:t> ventanas de 30 días, páginas de 1.000 registros; pausa de 0,3 s.</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Filtro propio:</a:t>
            </a:r>
            <a:r>
              <a:rPr lang="en-US" sz="1500" dirty="0">
                <a:solidFill>
                  <a:srgbClr val="142E3A"/>
                </a:solidFill>
                <a:latin typeface="Public Sans" pitchFamily="34" charset="0"/>
                <a:ea typeface="Public Sans" pitchFamily="34" charset="-122"/>
                <a:cs typeface="Public Sans" pitchFamily="34" charset="0"/>
              </a:rPr>
              <a:t> segmento “Agropecuario” y forma del símbolo; filtro por producto no confiable.</a:t>
            </a:r>
            <a:endParaRPr lang="en-US" sz="1500" dirty="0"/>
          </a:p>
          <a:p>
            <a:pPr marL="0" indent="0" algn="l">
              <a:lnSpc>
                <a:spcPct val="107000"/>
              </a:lnSpc>
              <a:spcAft>
                <a:spcPts val="750"/>
              </a:spcAft>
              <a:buNone/>
            </a:pPr>
            <a:r>
              <a:rPr lang="en-US" sz="1500" b="1" dirty="0">
                <a:solidFill>
                  <a:srgbClr val="142E3A"/>
                </a:solidFill>
                <a:latin typeface="Public Sans Bold" pitchFamily="34" charset="0"/>
                <a:ea typeface="Public Sans Bold" pitchFamily="34" charset="-122"/>
                <a:cs typeface="Public Sans Bold" pitchFamily="34" charset="0"/>
              </a:rPr>
              <a:t>Cache:</a:t>
            </a:r>
            <a:r>
              <a:rPr lang="en-US" sz="1500" dirty="0">
                <a:solidFill>
                  <a:srgbClr val="142E3A"/>
                </a:solidFill>
                <a:latin typeface="Public Sans" pitchFamily="34" charset="0"/>
                <a:ea typeface="Public Sans" pitchFamily="34" charset="-122"/>
                <a:cs typeface="Public Sans" pitchFamily="34" charset="0"/>
              </a:rPr>
              <a:t> cada ventana queda en un JSON; se saltean las ya bajadas. </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Control:</a:t>
            </a:r>
            <a:r>
              <a:rPr lang="en-US" sz="1500" dirty="0">
                <a:solidFill>
                  <a:srgbClr val="142E3A"/>
                </a:solidFill>
                <a:latin typeface="Public Sans" pitchFamily="34" charset="0"/>
                <a:ea typeface="Public Sans" pitchFamily="34" charset="-122"/>
                <a:cs typeface="Public Sans" pitchFamily="34" charset="0"/>
              </a:rPr>
              <a:t> ventanas con error y días hábiles sin datos.</a:t>
            </a:r>
            <a:endParaRPr lang="en-US" sz="1500" dirty="0"/>
          </a:p>
        </p:txBody>
      </p:sp>
      <p:sp>
        <p:nvSpPr>
          <p:cNvPr id="12" name="Shape 10"/>
          <p:cNvSpPr/>
          <p:nvPr/>
        </p:nvSpPr>
        <p:spPr>
          <a:xfrm>
            <a:off x="6248244" y="1827907"/>
            <a:ext cx="5333867" cy="4305300"/>
          </a:xfrm>
          <a:prstGeom prst="roundRect">
            <a:avLst>
              <a:gd name="adj" fmla="val 265"/>
            </a:avLst>
          </a:prstGeom>
          <a:noFill/>
          <a:ln w="38099">
            <a:solidFill>
              <a:srgbClr val="D1D3C9"/>
            </a:solidFill>
            <a:prstDash val="solid"/>
          </a:ln>
        </p:spPr>
        <p:txBody>
          <a:bodyPr/>
          <a:lstStyle/>
          <a:p>
            <a:endParaRPr lang="es-AR"/>
          </a:p>
        </p:txBody>
      </p:sp>
      <p:sp>
        <p:nvSpPr>
          <p:cNvPr id="13" name="Text 11"/>
          <p:cNvSpPr/>
          <p:nvPr/>
        </p:nvSpPr>
        <p:spPr>
          <a:xfrm>
            <a:off x="6438739" y="2020568"/>
            <a:ext cx="2800181" cy="294580"/>
          </a:xfrm>
          <a:prstGeom prst="rect">
            <a:avLst/>
          </a:prstGeom>
          <a:noFill/>
          <a:ln/>
        </p:spPr>
        <p:txBody>
          <a:bodyPr wrap="none" lIns="0" tIns="0" rIns="0" bIns="0" rtlCol="0" anchor="t"/>
          <a:lstStyle/>
          <a:p>
            <a:pPr marL="0" indent="0" algn="l">
              <a:lnSpc>
                <a:spcPct val="97000"/>
              </a:lnSpc>
              <a:buNone/>
            </a:pPr>
            <a:r>
              <a:rPr lang="en-US" sz="2000" b="1" kern="100" spc="-4" dirty="0">
                <a:solidFill>
                  <a:srgbClr val="142E3A"/>
                </a:solidFill>
                <a:latin typeface="Public Sans Bold" pitchFamily="34" charset="0"/>
                <a:ea typeface="Public Sans Bold" pitchFamily="34" charset="-122"/>
                <a:cs typeface="Public Sans Bold" pitchFamily="34" charset="0"/>
              </a:rPr>
              <a:t>NOAA · NCEI</a:t>
            </a:r>
            <a:endParaRPr lang="en-US" sz="2000" dirty="0"/>
          </a:p>
        </p:txBody>
      </p:sp>
      <p:sp>
        <p:nvSpPr>
          <p:cNvPr id="14" name="Shape 12"/>
          <p:cNvSpPr/>
          <p:nvPr/>
        </p:nvSpPr>
        <p:spPr>
          <a:xfrm>
            <a:off x="9391316" y="2018407"/>
            <a:ext cx="1510766" cy="405209"/>
          </a:xfrm>
          <a:prstGeom prst="roundRect">
            <a:avLst>
              <a:gd name="adj" fmla="val 2821"/>
            </a:avLst>
          </a:prstGeom>
          <a:solidFill>
            <a:srgbClr val="D1FAF2"/>
          </a:solidFill>
          <a:ln/>
        </p:spPr>
        <p:txBody>
          <a:bodyPr/>
          <a:lstStyle/>
          <a:p>
            <a:endParaRPr lang="es-AR"/>
          </a:p>
        </p:txBody>
      </p:sp>
      <p:sp>
        <p:nvSpPr>
          <p:cNvPr id="15" name="Text 13"/>
          <p:cNvSpPr/>
          <p:nvPr/>
        </p:nvSpPr>
        <p:spPr>
          <a:xfrm>
            <a:off x="9551252" y="2101132"/>
            <a:ext cx="1800478" cy="245269"/>
          </a:xfrm>
          <a:prstGeom prst="rect">
            <a:avLst/>
          </a:prstGeom>
          <a:noFill/>
          <a:ln/>
        </p:spPr>
        <p:txBody>
          <a:bodyPr wrap="none" lIns="0" tIns="0" rIns="0" bIns="0" rtlCol="0" anchor="t"/>
          <a:lstStyle/>
          <a:p>
            <a:pPr marL="0" indent="0" algn="l">
              <a:lnSpc>
                <a:spcPct val="96000"/>
              </a:lnSpc>
              <a:buNone/>
            </a:pPr>
            <a:r>
              <a:rPr lang="en-US" sz="1700" dirty="0">
                <a:solidFill>
                  <a:srgbClr val="142E3A"/>
                </a:solidFill>
                <a:latin typeface="Public Sans" pitchFamily="34" charset="0"/>
                <a:ea typeface="Public Sans" pitchFamily="34" charset="-122"/>
                <a:cs typeface="Public Sans" pitchFamily="34" charset="0"/>
              </a:rPr>
              <a:t>JSON + CSV</a:t>
            </a:r>
            <a:endParaRPr lang="en-US" sz="1700" dirty="0"/>
          </a:p>
        </p:txBody>
      </p:sp>
      <p:sp>
        <p:nvSpPr>
          <p:cNvPr id="16" name="Text 14"/>
          <p:cNvSpPr/>
          <p:nvPr/>
        </p:nvSpPr>
        <p:spPr>
          <a:xfrm>
            <a:off x="6438739" y="2556331"/>
            <a:ext cx="4952876" cy="487561"/>
          </a:xfrm>
          <a:prstGeom prst="rect">
            <a:avLst/>
          </a:prstGeom>
          <a:noFill/>
          <a:ln/>
        </p:spPr>
        <p:txBody>
          <a:bodyPr wrap="square" lIns="0" tIns="0" rIns="0" bIns="0" rtlCol="0" anchor="t">
            <a:normAutofit/>
          </a:bodyPr>
          <a:lstStyle/>
          <a:p>
            <a:pPr marL="0" indent="0" algn="l">
              <a:lnSpc>
                <a:spcPct val="107000"/>
              </a:lnSpc>
              <a:buNone/>
            </a:pPr>
            <a:r>
              <a:rPr lang="en-US" sz="1500" dirty="0">
                <a:solidFill>
                  <a:srgbClr val="142E3A"/>
                </a:solidFill>
                <a:highlight>
                  <a:srgbClr val="EEF3F0"/>
                </a:highlight>
                <a:latin typeface="Consolas" pitchFamily="34" charset="0"/>
                <a:ea typeface="Consolas" pitchFamily="34" charset="-122"/>
                <a:cs typeface="Consolas" pitchFamily="34" charset="0"/>
              </a:rPr>
              <a:t>Climate at a Glance (mensual)</a:t>
            </a:r>
            <a:endParaRPr lang="en-US" sz="1500" dirty="0"/>
          </a:p>
          <a:p>
            <a:pPr marL="0" indent="0" algn="l">
              <a:lnSpc>
                <a:spcPct val="107000"/>
              </a:lnSpc>
              <a:buNone/>
            </a:pPr>
            <a:r>
              <a:rPr lang="en-US" sz="1500" dirty="0">
                <a:solidFill>
                  <a:srgbClr val="142E3A"/>
                </a:solidFill>
                <a:highlight>
                  <a:srgbClr val="EEF3F0"/>
                </a:highlight>
                <a:latin typeface="Consolas" pitchFamily="34" charset="0"/>
                <a:ea typeface="Consolas" pitchFamily="34" charset="-122"/>
                <a:cs typeface="Consolas" pitchFamily="34" charset="0"/>
              </a:rPr>
              <a:t>nClimGrid-Daily (diario)</a:t>
            </a:r>
            <a:endParaRPr lang="en-US" sz="1500" dirty="0"/>
          </a:p>
        </p:txBody>
      </p:sp>
      <p:sp>
        <p:nvSpPr>
          <p:cNvPr id="17" name="Shape 15"/>
          <p:cNvSpPr/>
          <p:nvPr/>
        </p:nvSpPr>
        <p:spPr>
          <a:xfrm>
            <a:off x="6438739" y="3203277"/>
            <a:ext cx="4952876" cy="38100"/>
          </a:xfrm>
          <a:prstGeom prst="roundRect">
            <a:avLst>
              <a:gd name="adj" fmla="val 49999"/>
            </a:avLst>
          </a:prstGeom>
          <a:solidFill>
            <a:srgbClr val="D9E1DF"/>
          </a:solidFill>
          <a:ln/>
        </p:spPr>
        <p:txBody>
          <a:bodyPr/>
          <a:lstStyle/>
          <a:p>
            <a:endParaRPr lang="es-AR"/>
          </a:p>
        </p:txBody>
      </p:sp>
      <p:sp>
        <p:nvSpPr>
          <p:cNvPr id="18" name="Text 16"/>
          <p:cNvSpPr/>
          <p:nvPr/>
        </p:nvSpPr>
        <p:spPr>
          <a:xfrm>
            <a:off x="6438739" y="3412192"/>
            <a:ext cx="4952876" cy="2194024"/>
          </a:xfrm>
          <a:prstGeom prst="rect">
            <a:avLst/>
          </a:prstGeom>
          <a:noFill/>
          <a:ln/>
        </p:spPr>
        <p:txBody>
          <a:bodyPr wrap="square" lIns="0" tIns="0" rIns="0" bIns="0" rtlCol="0" anchor="t">
            <a:normAutofit/>
          </a:bodyPr>
          <a:lstStyle/>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Alcance:</a:t>
            </a:r>
            <a:r>
              <a:rPr lang="en-US" sz="1500" dirty="0">
                <a:solidFill>
                  <a:srgbClr val="142E3A"/>
                </a:solidFill>
                <a:latin typeface="Public Sans" pitchFamily="34" charset="0"/>
                <a:ea typeface="Public Sans" pitchFamily="34" charset="-122"/>
                <a:cs typeface="Public Sans" pitchFamily="34" charset="0"/>
              </a:rPr>
              <a:t> 8 estados del Corn Belt, código NCEI, de septiembre de 2021 a hoy.</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Archivos:</a:t>
            </a:r>
            <a:r>
              <a:rPr lang="en-US" sz="1500" dirty="0">
                <a:solidFill>
                  <a:srgbClr val="142E3A"/>
                </a:solidFill>
                <a:latin typeface="Public Sans" pitchFamily="34" charset="0"/>
                <a:ea typeface="Public Sans" pitchFamily="34" charset="-122"/>
                <a:cs typeface="Public Sans" pitchFamily="34" charset="0"/>
              </a:rPr>
              <a:t> un CSV por mes; versión final o, si no existe, preliminar.</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Limpieza:</a:t>
            </a:r>
            <a:r>
              <a:rPr lang="en-US" sz="1500" dirty="0">
                <a:solidFill>
                  <a:srgbClr val="142E3A"/>
                </a:solidFill>
                <a:latin typeface="Public Sans" pitchFamily="34" charset="0"/>
                <a:ea typeface="Public Sans" pitchFamily="34" charset="-122"/>
                <a:cs typeface="Public Sans" pitchFamily="34" charset="0"/>
              </a:rPr>
              <a:t> −999,99 marca días sin dato; pulgadas a mm en el mensual.</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Control cruzado:</a:t>
            </a:r>
            <a:r>
              <a:rPr lang="en-US" sz="1500" dirty="0">
                <a:solidFill>
                  <a:srgbClr val="142E3A"/>
                </a:solidFill>
                <a:latin typeface="Public Sans" pitchFamily="34" charset="0"/>
                <a:ea typeface="Public Sans" pitchFamily="34" charset="-122"/>
                <a:cs typeface="Public Sans" pitchFamily="34" charset="0"/>
              </a:rPr>
              <a:t> suma diaria vs. mensual oficial; inconsistencia de NOAA en julio de 2023.</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Etiqueta:</a:t>
            </a:r>
            <a:r>
              <a:rPr lang="en-US" sz="1500" dirty="0">
                <a:solidFill>
                  <a:srgbClr val="142E3A"/>
                </a:solidFill>
                <a:latin typeface="Public Sans" pitchFamily="34" charset="0"/>
                <a:ea typeface="Public Sans" pitchFamily="34" charset="-122"/>
                <a:cs typeface="Public Sans" pitchFamily="34" charset="0"/>
              </a:rPr>
              <a:t> User-Agent identificado como uso académico.</a:t>
            </a:r>
            <a:endParaRPr lang="en-US" sz="1500" dirty="0"/>
          </a:p>
        </p:txBody>
      </p:sp>
      <p:sp>
        <p:nvSpPr>
          <p:cNvPr id="19" name="Text 17"/>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20" name="Text 18"/>
          <p:cNvSpPr/>
          <p:nvPr/>
        </p:nvSpPr>
        <p:spPr>
          <a:xfrm>
            <a:off x="11510873" y="6581676"/>
            <a:ext cx="68082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ANÁLISIS EXPLORATORIO</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Limpieza y normalización</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Hallazgos y decisiones metodológicas en cada fuente de datos</a:t>
            </a:r>
            <a:endParaRPr lang="en-US" sz="1600" dirty="0"/>
          </a:p>
        </p:txBody>
      </p:sp>
      <p:sp>
        <p:nvSpPr>
          <p:cNvPr id="5" name="Shape 3"/>
          <p:cNvSpPr/>
          <p:nvPr/>
        </p:nvSpPr>
        <p:spPr>
          <a:xfrm>
            <a:off x="609585" y="1878707"/>
            <a:ext cx="3454314" cy="3998615"/>
          </a:xfrm>
          <a:prstGeom prst="roundRect">
            <a:avLst>
              <a:gd name="adj" fmla="val 331"/>
            </a:avLst>
          </a:prstGeom>
          <a:solidFill>
            <a:srgbClr val="F8F9F5"/>
          </a:solidFill>
          <a:ln/>
        </p:spPr>
        <p:txBody>
          <a:bodyPr/>
          <a:lstStyle/>
          <a:p>
            <a:endParaRPr lang="es-AR"/>
          </a:p>
        </p:txBody>
      </p:sp>
      <p:sp>
        <p:nvSpPr>
          <p:cNvPr id="6" name="Text 4"/>
          <p:cNvSpPr/>
          <p:nvPr/>
        </p:nvSpPr>
        <p:spPr>
          <a:xfrm>
            <a:off x="812780" y="2090929"/>
            <a:ext cx="3251119"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MATBA ROFEX</a:t>
            </a:r>
            <a:endParaRPr lang="en-US" sz="1450" dirty="0"/>
          </a:p>
        </p:txBody>
      </p:sp>
      <p:sp>
        <p:nvSpPr>
          <p:cNvPr id="7" name="Text 5"/>
          <p:cNvSpPr/>
          <p:nvPr/>
        </p:nvSpPr>
        <p:spPr>
          <a:xfrm>
            <a:off x="812780" y="2372729"/>
            <a:ext cx="3047924"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Mercado Disponible</a:t>
            </a:r>
            <a:endParaRPr lang="en-US" sz="1900" dirty="0"/>
          </a:p>
        </p:txBody>
      </p:sp>
      <p:sp>
        <p:nvSpPr>
          <p:cNvPr id="8" name="Shape 6"/>
          <p:cNvSpPr/>
          <p:nvPr/>
        </p:nvSpPr>
        <p:spPr>
          <a:xfrm>
            <a:off x="812780" y="2836267"/>
            <a:ext cx="3047924" cy="38100"/>
          </a:xfrm>
          <a:prstGeom prst="roundRect">
            <a:avLst>
              <a:gd name="adj" fmla="val 49999"/>
            </a:avLst>
          </a:prstGeom>
          <a:solidFill>
            <a:srgbClr val="D9E1DF"/>
          </a:solidFill>
          <a:ln/>
        </p:spPr>
        <p:txBody>
          <a:bodyPr/>
          <a:lstStyle/>
          <a:p>
            <a:endParaRPr lang="es-AR"/>
          </a:p>
        </p:txBody>
      </p:sp>
      <p:sp>
        <p:nvSpPr>
          <p:cNvPr id="9" name="Text 7"/>
          <p:cNvSpPr/>
          <p:nvPr/>
        </p:nvSpPr>
        <p:spPr>
          <a:xfrm>
            <a:off x="812780" y="3039467"/>
            <a:ext cx="3047924" cy="2390874"/>
          </a:xfrm>
          <a:prstGeom prst="rect">
            <a:avLst/>
          </a:prstGeom>
          <a:noFill/>
          <a:ln/>
        </p:spPr>
        <p:txBody>
          <a:bodyPr wrap="square" lIns="0" tIns="0" rIns="0" bIns="0" rtlCol="0" anchor="t">
            <a:normAutofit lnSpcReduction="10000"/>
          </a:bodyPr>
          <a:lstStyle/>
          <a:p>
            <a:pPr marL="0" indent="0" algn="l">
              <a:lnSpc>
                <a:spcPct val="107000"/>
              </a:lnSpc>
              <a:spcAft>
                <a:spcPts val="750"/>
              </a:spcAft>
              <a:buNone/>
            </a:pPr>
            <a:r>
              <a:rPr lang="en-US" sz="1500" b="1" dirty="0">
                <a:solidFill>
                  <a:srgbClr val="142E3A"/>
                </a:solidFill>
                <a:latin typeface="Public Sans Bold" pitchFamily="34" charset="0"/>
                <a:ea typeface="Public Sans Bold" pitchFamily="34" charset="-122"/>
                <a:cs typeface="Public Sans Bold" pitchFamily="34" charset="0"/>
              </a:rPr>
              <a:t>Símbolos anuales:</a:t>
            </a:r>
            <a:r>
              <a:rPr lang="en-US" sz="1500" dirty="0">
                <a:solidFill>
                  <a:srgbClr val="142E3A"/>
                </a:solidFill>
                <a:latin typeface="Public Sans" pitchFamily="34" charset="0"/>
                <a:ea typeface="Public Sans" pitchFamily="34" charset="-122"/>
                <a:cs typeface="Public Sans" pitchFamily="34" charset="0"/>
              </a:rPr>
              <a:t> contratos DIS23 a DIS26 unificados bajo </a:t>
            </a:r>
            <a:r>
              <a:rPr lang="en-US" sz="1500" dirty="0">
                <a:solidFill>
                  <a:srgbClr val="142E3A"/>
                </a:solidFill>
                <a:highlight>
                  <a:srgbClr val="EEF3F0"/>
                </a:highlight>
                <a:latin typeface="Consolas" pitchFamily="34" charset="0"/>
                <a:ea typeface="Consolas" pitchFamily="34" charset="-122"/>
                <a:cs typeface="Consolas" pitchFamily="34" charset="0"/>
              </a:rPr>
              <a:t>soj.ros.dis</a:t>
            </a:r>
            <a:r>
              <a:rPr lang="en-US" sz="1500" dirty="0">
                <a:solidFill>
                  <a:srgbClr val="142E3A"/>
                </a:solidFill>
                <a:latin typeface="Public Sans" pitchFamily="34" charset="0"/>
                <a:ea typeface="Public Sans" pitchFamily="34" charset="-122"/>
                <a:cs typeface="Public Sans" pitchFamily="34" charset="0"/>
              </a:rPr>
              <a:t> con regex.</a:t>
            </a:r>
            <a:endParaRPr lang="en-US" sz="1500" dirty="0"/>
          </a:p>
          <a:p>
            <a:pPr marL="0" indent="0" algn="l">
              <a:lnSpc>
                <a:spcPct val="107000"/>
              </a:lnSpc>
              <a:spcAft>
                <a:spcPts val="750"/>
              </a:spcAft>
              <a:buNone/>
            </a:pPr>
            <a:r>
              <a:rPr lang="en-US" sz="1500" b="1" dirty="0">
                <a:solidFill>
                  <a:srgbClr val="142E3A"/>
                </a:solidFill>
                <a:latin typeface="Public Sans Bold" pitchFamily="34" charset="0"/>
                <a:ea typeface="Public Sans Bold" pitchFamily="34" charset="-122"/>
                <a:cs typeface="Public Sans Bold" pitchFamily="34" charset="0"/>
              </a:rPr>
              <a:t>Solapamiento en enero:</a:t>
            </a:r>
            <a:r>
              <a:rPr lang="en-US" sz="1500" dirty="0">
                <a:solidFill>
                  <a:srgbClr val="142E3A"/>
                </a:solidFill>
                <a:latin typeface="Public Sans" pitchFamily="34" charset="0"/>
                <a:ea typeface="Public Sans" pitchFamily="34" charset="-122"/>
                <a:cs typeface="Public Sans" pitchFamily="34" charset="0"/>
              </a:rPr>
              <a:t> cuando cotizan dos contratos a la vez, se toma el año en curso.</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Depuración de volumen:</a:t>
            </a:r>
            <a:r>
              <a:rPr lang="en-US" sz="1500" dirty="0">
                <a:solidFill>
                  <a:srgbClr val="142E3A"/>
                </a:solidFill>
                <a:latin typeface="Public Sans" pitchFamily="34" charset="0"/>
                <a:ea typeface="Public Sans" pitchFamily="34" charset="-122"/>
                <a:cs typeface="Public Sans" pitchFamily="34" charset="0"/>
              </a:rPr>
              <a:t> de 33.993 registros se extrajo solo el disponible con precio de ajuste.</a:t>
            </a:r>
            <a:endParaRPr lang="en-US" sz="1500" dirty="0"/>
          </a:p>
        </p:txBody>
      </p:sp>
      <p:sp>
        <p:nvSpPr>
          <p:cNvPr id="10" name="Shape 8"/>
          <p:cNvSpPr/>
          <p:nvPr/>
        </p:nvSpPr>
        <p:spPr>
          <a:xfrm>
            <a:off x="4368691" y="1878707"/>
            <a:ext cx="3454314" cy="3998615"/>
          </a:xfrm>
          <a:prstGeom prst="roundRect">
            <a:avLst>
              <a:gd name="adj" fmla="val 331"/>
            </a:avLst>
          </a:prstGeom>
          <a:solidFill>
            <a:srgbClr val="F8F9F5"/>
          </a:solidFill>
          <a:ln/>
        </p:spPr>
        <p:txBody>
          <a:bodyPr/>
          <a:lstStyle/>
          <a:p>
            <a:endParaRPr lang="es-AR"/>
          </a:p>
        </p:txBody>
      </p:sp>
      <p:sp>
        <p:nvSpPr>
          <p:cNvPr id="11" name="Text 9"/>
          <p:cNvSpPr/>
          <p:nvPr/>
        </p:nvSpPr>
        <p:spPr>
          <a:xfrm>
            <a:off x="4571886" y="2090929"/>
            <a:ext cx="3251119"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CHICAGO (BCR)</a:t>
            </a:r>
            <a:endParaRPr lang="en-US" sz="1450" dirty="0"/>
          </a:p>
        </p:txBody>
      </p:sp>
      <p:sp>
        <p:nvSpPr>
          <p:cNvPr id="12" name="Text 10"/>
          <p:cNvSpPr/>
          <p:nvPr/>
        </p:nvSpPr>
        <p:spPr>
          <a:xfrm>
            <a:off x="4571886" y="2372729"/>
            <a:ext cx="3047924"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Mercado Externo</a:t>
            </a:r>
            <a:endParaRPr lang="en-US" sz="1900" dirty="0"/>
          </a:p>
        </p:txBody>
      </p:sp>
      <p:sp>
        <p:nvSpPr>
          <p:cNvPr id="13" name="Shape 11"/>
          <p:cNvSpPr/>
          <p:nvPr/>
        </p:nvSpPr>
        <p:spPr>
          <a:xfrm>
            <a:off x="4571886" y="2836267"/>
            <a:ext cx="3047924" cy="38100"/>
          </a:xfrm>
          <a:prstGeom prst="roundRect">
            <a:avLst>
              <a:gd name="adj" fmla="val 49999"/>
            </a:avLst>
          </a:prstGeom>
          <a:solidFill>
            <a:srgbClr val="D9E1DF"/>
          </a:solidFill>
          <a:ln/>
        </p:spPr>
        <p:txBody>
          <a:bodyPr/>
          <a:lstStyle/>
          <a:p>
            <a:endParaRPr lang="es-AR"/>
          </a:p>
        </p:txBody>
      </p:sp>
      <p:sp>
        <p:nvSpPr>
          <p:cNvPr id="14" name="Text 12"/>
          <p:cNvSpPr/>
          <p:nvPr/>
        </p:nvSpPr>
        <p:spPr>
          <a:xfrm>
            <a:off x="4571886" y="3039467"/>
            <a:ext cx="3047924" cy="2634655"/>
          </a:xfrm>
          <a:prstGeom prst="rect">
            <a:avLst/>
          </a:prstGeom>
          <a:noFill/>
          <a:ln/>
        </p:spPr>
        <p:txBody>
          <a:bodyPr wrap="square" lIns="0" tIns="0" rIns="0" bIns="0" rtlCol="0" anchor="t">
            <a:normAutofit lnSpcReduction="10000"/>
          </a:bodyPr>
          <a:lstStyle/>
          <a:p>
            <a:pPr marL="0" indent="0" algn="l">
              <a:lnSpc>
                <a:spcPct val="107000"/>
              </a:lnSpc>
              <a:spcAft>
                <a:spcPts val="750"/>
              </a:spcAft>
              <a:buNone/>
            </a:pPr>
            <a:r>
              <a:rPr lang="en-US" sz="1500" b="1" dirty="0">
                <a:solidFill>
                  <a:srgbClr val="142E3A"/>
                </a:solidFill>
                <a:latin typeface="Public Sans Bold" pitchFamily="34" charset="0"/>
                <a:ea typeface="Public Sans Bold" pitchFamily="34" charset="-122"/>
                <a:cs typeface="Public Sans Bold" pitchFamily="34" charset="0"/>
              </a:rPr>
              <a:t>Formato regional:</a:t>
            </a:r>
            <a:r>
              <a:rPr lang="en-US" sz="1500" dirty="0">
                <a:solidFill>
                  <a:srgbClr val="142E3A"/>
                </a:solidFill>
                <a:latin typeface="Public Sans" pitchFamily="34" charset="0"/>
                <a:ea typeface="Public Sans" pitchFamily="34" charset="-122"/>
                <a:cs typeface="Public Sans" pitchFamily="34" charset="0"/>
              </a:rPr>
              <a:t> conversión de separadores decimales (coma) y fechas </a:t>
            </a:r>
            <a:r>
              <a:rPr lang="en-US" sz="1500" dirty="0">
                <a:solidFill>
                  <a:srgbClr val="142E3A"/>
                </a:solidFill>
                <a:highlight>
                  <a:srgbClr val="EEF3F0"/>
                </a:highlight>
                <a:latin typeface="Consolas" pitchFamily="34" charset="0"/>
                <a:ea typeface="Consolas" pitchFamily="34" charset="-122"/>
                <a:cs typeface="Consolas" pitchFamily="34" charset="0"/>
              </a:rPr>
              <a:t>dd/mm/aaaa</a:t>
            </a:r>
            <a:r>
              <a:rPr lang="en-US" sz="1500" dirty="0">
                <a:solidFill>
                  <a:srgbClr val="142E3A"/>
                </a:solidFill>
                <a:latin typeface="Public Sans" pitchFamily="34" charset="0"/>
                <a:ea typeface="Public Sans" pitchFamily="34" charset="-122"/>
                <a:cs typeface="Public Sans" pitchFamily="34" charset="0"/>
              </a:rPr>
              <a:t>.</a:t>
            </a:r>
            <a:endParaRPr lang="en-US" sz="1500" dirty="0"/>
          </a:p>
          <a:p>
            <a:pPr marL="0" indent="0" algn="l">
              <a:lnSpc>
                <a:spcPct val="107000"/>
              </a:lnSpc>
              <a:spcAft>
                <a:spcPts val="750"/>
              </a:spcAft>
              <a:buNone/>
            </a:pPr>
            <a:r>
              <a:rPr lang="en-US" sz="1500" b="1" dirty="0">
                <a:solidFill>
                  <a:srgbClr val="142E3A"/>
                </a:solidFill>
                <a:latin typeface="Public Sans Bold" pitchFamily="34" charset="0"/>
                <a:ea typeface="Public Sans Bold" pitchFamily="34" charset="-122"/>
                <a:cs typeface="Public Sans Bold" pitchFamily="34" charset="0"/>
              </a:rPr>
              <a:t>Valores faltantes:</a:t>
            </a:r>
            <a:r>
              <a:rPr lang="en-US" sz="1500" dirty="0">
                <a:solidFill>
                  <a:srgbClr val="142E3A"/>
                </a:solidFill>
                <a:latin typeface="Public Sans" pitchFamily="34" charset="0"/>
                <a:ea typeface="Public Sans" pitchFamily="34" charset="-122"/>
                <a:cs typeface="Public Sans" pitchFamily="34" charset="0"/>
              </a:rPr>
              <a:t> 24 páginas vacías y 4 registros en cero conservados como NaN sin imputación.</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Roll de contratos:</a:t>
            </a:r>
            <a:r>
              <a:rPr lang="en-US" sz="1500" dirty="0">
                <a:solidFill>
                  <a:srgbClr val="142E3A"/>
                </a:solidFill>
                <a:latin typeface="Public Sans" pitchFamily="34" charset="0"/>
                <a:ea typeface="Public Sans" pitchFamily="34" charset="-122"/>
                <a:cs typeface="Public Sans" pitchFamily="34" charset="0"/>
              </a:rPr>
              <a:t> índice continuo para absorber los 27 saltos de vencimiento en soja.</a:t>
            </a:r>
            <a:endParaRPr lang="en-US" sz="1500" dirty="0"/>
          </a:p>
        </p:txBody>
      </p:sp>
      <p:sp>
        <p:nvSpPr>
          <p:cNvPr id="15" name="Shape 13"/>
          <p:cNvSpPr/>
          <p:nvPr/>
        </p:nvSpPr>
        <p:spPr>
          <a:xfrm>
            <a:off x="8127797" y="1878707"/>
            <a:ext cx="3454314" cy="3998615"/>
          </a:xfrm>
          <a:prstGeom prst="roundRect">
            <a:avLst>
              <a:gd name="adj" fmla="val 331"/>
            </a:avLst>
          </a:prstGeom>
          <a:solidFill>
            <a:srgbClr val="F8F9F5"/>
          </a:solidFill>
          <a:ln/>
        </p:spPr>
        <p:txBody>
          <a:bodyPr/>
          <a:lstStyle/>
          <a:p>
            <a:endParaRPr lang="es-AR"/>
          </a:p>
        </p:txBody>
      </p:sp>
      <p:sp>
        <p:nvSpPr>
          <p:cNvPr id="16" name="Text 14"/>
          <p:cNvSpPr/>
          <p:nvPr/>
        </p:nvSpPr>
        <p:spPr>
          <a:xfrm>
            <a:off x="8330992" y="2090929"/>
            <a:ext cx="3251119"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NOAA (CLIMA)</a:t>
            </a:r>
            <a:endParaRPr lang="en-US" sz="1450" dirty="0"/>
          </a:p>
        </p:txBody>
      </p:sp>
      <p:sp>
        <p:nvSpPr>
          <p:cNvPr id="17" name="Text 15"/>
          <p:cNvSpPr/>
          <p:nvPr/>
        </p:nvSpPr>
        <p:spPr>
          <a:xfrm>
            <a:off x="8330992" y="2372729"/>
            <a:ext cx="3047924"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Precipitación Corn Belt</a:t>
            </a:r>
            <a:endParaRPr lang="en-US" sz="1900" dirty="0"/>
          </a:p>
        </p:txBody>
      </p:sp>
      <p:sp>
        <p:nvSpPr>
          <p:cNvPr id="18" name="Shape 16"/>
          <p:cNvSpPr/>
          <p:nvPr/>
        </p:nvSpPr>
        <p:spPr>
          <a:xfrm>
            <a:off x="8330992" y="2836267"/>
            <a:ext cx="3047924" cy="38100"/>
          </a:xfrm>
          <a:prstGeom prst="roundRect">
            <a:avLst>
              <a:gd name="adj" fmla="val 49999"/>
            </a:avLst>
          </a:prstGeom>
          <a:solidFill>
            <a:srgbClr val="D9E1DF"/>
          </a:solidFill>
          <a:ln/>
        </p:spPr>
        <p:txBody>
          <a:bodyPr/>
          <a:lstStyle/>
          <a:p>
            <a:endParaRPr lang="es-AR"/>
          </a:p>
        </p:txBody>
      </p:sp>
      <p:sp>
        <p:nvSpPr>
          <p:cNvPr id="19" name="Text 17"/>
          <p:cNvSpPr/>
          <p:nvPr/>
        </p:nvSpPr>
        <p:spPr>
          <a:xfrm>
            <a:off x="8330992" y="3039467"/>
            <a:ext cx="3047924" cy="2634655"/>
          </a:xfrm>
          <a:prstGeom prst="rect">
            <a:avLst/>
          </a:prstGeom>
          <a:noFill/>
          <a:ln/>
        </p:spPr>
        <p:txBody>
          <a:bodyPr wrap="square" lIns="0" tIns="0" rIns="0" bIns="0" rtlCol="0" anchor="t">
            <a:normAutofit lnSpcReduction="10000"/>
          </a:bodyPr>
          <a:lstStyle/>
          <a:p>
            <a:pPr marL="0" indent="0" algn="l">
              <a:lnSpc>
                <a:spcPct val="107000"/>
              </a:lnSpc>
              <a:spcAft>
                <a:spcPts val="750"/>
              </a:spcAft>
              <a:buNone/>
            </a:pPr>
            <a:r>
              <a:rPr lang="en-US" sz="1500" b="1" dirty="0">
                <a:solidFill>
                  <a:srgbClr val="142E3A"/>
                </a:solidFill>
                <a:latin typeface="Public Sans Bold" pitchFamily="34" charset="0"/>
                <a:ea typeface="Public Sans Bold" pitchFamily="34" charset="-122"/>
                <a:cs typeface="Public Sans Bold" pitchFamily="34" charset="0"/>
              </a:rPr>
              <a:t>Pivoteo estructural:</a:t>
            </a:r>
            <a:r>
              <a:rPr lang="en-US" sz="1500" dirty="0">
                <a:solidFill>
                  <a:srgbClr val="142E3A"/>
                </a:solidFill>
                <a:latin typeface="Public Sans" pitchFamily="34" charset="0"/>
                <a:ea typeface="Public Sans" pitchFamily="34" charset="-122"/>
                <a:cs typeface="Public Sans" pitchFamily="34" charset="0"/>
              </a:rPr>
              <a:t> transformación de formato largo a columnas por estado y promedio.</a:t>
            </a:r>
            <a:endParaRPr lang="en-US" sz="1500" dirty="0"/>
          </a:p>
          <a:p>
            <a:pPr marL="0" indent="0" algn="l">
              <a:lnSpc>
                <a:spcPct val="107000"/>
              </a:lnSpc>
              <a:spcAft>
                <a:spcPts val="750"/>
              </a:spcAft>
              <a:buNone/>
            </a:pPr>
            <a:r>
              <a:rPr lang="en-US" sz="1500" b="1" dirty="0">
                <a:solidFill>
                  <a:srgbClr val="142E3A"/>
                </a:solidFill>
                <a:latin typeface="Public Sans Bold" pitchFamily="34" charset="0"/>
                <a:ea typeface="Public Sans Bold" pitchFamily="34" charset="-122"/>
                <a:cs typeface="Public Sans Bold" pitchFamily="34" charset="0"/>
              </a:rPr>
              <a:t>Datos preliminares:</a:t>
            </a:r>
            <a:r>
              <a:rPr lang="en-US" sz="1500" dirty="0">
                <a:solidFill>
                  <a:srgbClr val="142E3A"/>
                </a:solidFill>
                <a:latin typeface="Public Sans" pitchFamily="34" charset="0"/>
                <a:ea typeface="Public Sans" pitchFamily="34" charset="-122"/>
                <a:cs typeface="Public Sans" pitchFamily="34" charset="0"/>
              </a:rPr>
              <a:t> 224 registros provisionales conservados bajo trazabilidad explícita.</a:t>
            </a:r>
            <a:endParaRPr lang="en-US" sz="1500" dirty="0"/>
          </a:p>
          <a:p>
            <a:pPr marL="0" indent="0" algn="l">
              <a:lnSpc>
                <a:spcPct val="107000"/>
              </a:lnSpc>
              <a:buNone/>
            </a:pPr>
            <a:r>
              <a:rPr lang="en-US" sz="1500" b="1" dirty="0">
                <a:solidFill>
                  <a:srgbClr val="142E3A"/>
                </a:solidFill>
                <a:latin typeface="Public Sans Bold" pitchFamily="34" charset="0"/>
                <a:ea typeface="Public Sans Bold" pitchFamily="34" charset="-122"/>
                <a:cs typeface="Public Sans Bold" pitchFamily="34" charset="0"/>
              </a:rPr>
              <a:t>Normalización agronómica:</a:t>
            </a:r>
            <a:r>
              <a:rPr lang="en-US" sz="1500" dirty="0">
                <a:solidFill>
                  <a:srgbClr val="142E3A"/>
                </a:solidFill>
                <a:latin typeface="Public Sans" pitchFamily="34" charset="0"/>
                <a:ea typeface="Public Sans" pitchFamily="34" charset="-122"/>
                <a:cs typeface="Public Sans" pitchFamily="34" charset="0"/>
              </a:rPr>
              <a:t> cálculo de anomalía hídrica acumulada a 30 y 60 días vs media mensual.</a:t>
            </a:r>
            <a:endParaRPr lang="en-US" sz="1500" dirty="0"/>
          </a:p>
        </p:txBody>
      </p:sp>
      <p:sp>
        <p:nvSpPr>
          <p:cNvPr id="20" name="Text 18"/>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21" name="Text 19"/>
          <p:cNvSpPr/>
          <p:nvPr/>
        </p:nvSpPr>
        <p:spPr>
          <a:xfrm>
            <a:off x="11513453" y="6581676"/>
            <a:ext cx="67824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FORMULACIÓN DEL TARGET</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Qué predecimos: cuánto cambia el precio</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El modelo predice la variación porcentual; luego se convierte a USD por tonelada</a:t>
            </a:r>
            <a:endParaRPr lang="en-US" sz="1600" dirty="0"/>
          </a:p>
        </p:txBody>
      </p:sp>
      <p:sp>
        <p:nvSpPr>
          <p:cNvPr id="5" name="Text 3"/>
          <p:cNvSpPr/>
          <p:nvPr/>
        </p:nvSpPr>
        <p:spPr>
          <a:xfrm>
            <a:off x="1465424" y="2090929"/>
            <a:ext cx="2189604"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PRECIO DE HOY</a:t>
            </a:r>
            <a:endParaRPr lang="en-US" sz="1450" dirty="0"/>
          </a:p>
        </p:txBody>
      </p:sp>
      <p:sp>
        <p:nvSpPr>
          <p:cNvPr id="6" name="Text 4"/>
          <p:cNvSpPr/>
          <p:nvPr/>
        </p:nvSpPr>
        <p:spPr>
          <a:xfrm>
            <a:off x="1543904" y="2411818"/>
            <a:ext cx="2986906" cy="518120"/>
          </a:xfrm>
          <a:prstGeom prst="rect">
            <a:avLst/>
          </a:prstGeom>
          <a:noFill/>
          <a:ln/>
        </p:spPr>
        <p:txBody>
          <a:bodyPr wrap="none" lIns="0" tIns="0" rIns="0" bIns="0" rtlCol="0" anchor="t"/>
          <a:lstStyle/>
          <a:p>
            <a:pPr marL="0" indent="0" algn="l">
              <a:lnSpc>
                <a:spcPct val="85000"/>
              </a:lnSpc>
              <a:buNone/>
            </a:pPr>
            <a:r>
              <a:rPr lang="en-US" sz="4000" b="1" kern="100" spc="-56" dirty="0">
                <a:solidFill>
                  <a:srgbClr val="142E3A"/>
                </a:solidFill>
                <a:latin typeface="Public Sans Bold" pitchFamily="34" charset="0"/>
                <a:ea typeface="Public Sans Bold" pitchFamily="34" charset="-122"/>
                <a:cs typeface="Public Sans Bold" pitchFamily="34" charset="0"/>
              </a:rPr>
              <a:t>375,0</a:t>
            </a:r>
            <a:endParaRPr lang="en-US" sz="4000" dirty="0"/>
          </a:p>
        </p:txBody>
      </p:sp>
      <p:sp>
        <p:nvSpPr>
          <p:cNvPr id="7" name="Text 5"/>
          <p:cNvSpPr/>
          <p:nvPr/>
        </p:nvSpPr>
        <p:spPr>
          <a:xfrm>
            <a:off x="761981" y="3063061"/>
            <a:ext cx="2986906"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USD/t · Soja disponible al 24/09/2026</a:t>
            </a:r>
            <a:endParaRPr lang="en-US" sz="1500" dirty="0"/>
          </a:p>
        </p:txBody>
      </p:sp>
      <p:sp>
        <p:nvSpPr>
          <p:cNvPr id="8" name="Shape 6"/>
          <p:cNvSpPr/>
          <p:nvPr/>
        </p:nvSpPr>
        <p:spPr>
          <a:xfrm>
            <a:off x="3901283" y="1878707"/>
            <a:ext cx="4389030" cy="1852216"/>
          </a:xfrm>
          <a:prstGeom prst="rect">
            <a:avLst/>
          </a:prstGeom>
          <a:solidFill>
            <a:srgbClr val="FFFFFF"/>
          </a:solidFill>
          <a:ln/>
        </p:spPr>
        <p:txBody>
          <a:bodyPr/>
          <a:lstStyle/>
          <a:p>
            <a:endParaRPr lang="es-AR"/>
          </a:p>
        </p:txBody>
      </p:sp>
      <p:sp>
        <p:nvSpPr>
          <p:cNvPr id="9" name="Text 7"/>
          <p:cNvSpPr/>
          <p:nvPr/>
        </p:nvSpPr>
        <p:spPr>
          <a:xfrm>
            <a:off x="4698089" y="2090929"/>
            <a:ext cx="3405003"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MODELO PREDICE (ARIMAX)</a:t>
            </a:r>
            <a:endParaRPr lang="en-US" sz="1450" dirty="0"/>
          </a:p>
        </p:txBody>
      </p:sp>
      <p:sp>
        <p:nvSpPr>
          <p:cNvPr id="10" name="Text 8"/>
          <p:cNvSpPr/>
          <p:nvPr/>
        </p:nvSpPr>
        <p:spPr>
          <a:xfrm>
            <a:off x="5322556" y="2411818"/>
            <a:ext cx="3982640" cy="518120"/>
          </a:xfrm>
          <a:prstGeom prst="rect">
            <a:avLst/>
          </a:prstGeom>
          <a:noFill/>
          <a:ln/>
        </p:spPr>
        <p:txBody>
          <a:bodyPr wrap="none" lIns="0" tIns="0" rIns="0" bIns="0" rtlCol="0" anchor="t"/>
          <a:lstStyle/>
          <a:p>
            <a:pPr marL="0" indent="0" algn="l">
              <a:lnSpc>
                <a:spcPct val="85000"/>
              </a:lnSpc>
              <a:buNone/>
            </a:pPr>
            <a:r>
              <a:rPr lang="en-US" sz="4000" b="1" kern="100" spc="-56" dirty="0">
                <a:solidFill>
                  <a:srgbClr val="118D77"/>
                </a:solidFill>
                <a:latin typeface="Public Sans Bold" pitchFamily="34" charset="0"/>
                <a:ea typeface="Public Sans Bold" pitchFamily="34" charset="-122"/>
                <a:cs typeface="Public Sans Bold" pitchFamily="34" charset="0"/>
              </a:rPr>
              <a:t>+0,3%</a:t>
            </a:r>
            <a:endParaRPr lang="en-US" sz="4000" dirty="0"/>
          </a:p>
        </p:txBody>
      </p:sp>
      <p:sp>
        <p:nvSpPr>
          <p:cNvPr id="11" name="Text 9"/>
          <p:cNvSpPr/>
          <p:nvPr/>
        </p:nvSpPr>
        <p:spPr>
          <a:xfrm>
            <a:off x="4332675" y="3063061"/>
            <a:ext cx="3957638" cy="236141"/>
          </a:xfrm>
          <a:prstGeom prst="rect">
            <a:avLst/>
          </a:prstGeom>
          <a:noFill/>
          <a:ln/>
        </p:spPr>
        <p:txBody>
          <a:bodyPr wrap="none" lIns="0" tIns="0" rIns="0" bIns="0" rtlCol="0" anchor="t"/>
          <a:lstStyle/>
          <a:p>
            <a:pPr marL="0" indent="0" algn="l">
              <a:lnSpc>
                <a:spcPct val="103000"/>
              </a:lnSpc>
              <a:buNone/>
            </a:pPr>
            <a:r>
              <a:rPr lang="en-US" sz="1500" dirty="0">
                <a:solidFill>
                  <a:srgbClr val="142E3A"/>
                </a:solidFill>
                <a:latin typeface="Public Sans" pitchFamily="34" charset="0"/>
                <a:ea typeface="Public Sans" pitchFamily="34" charset="-122"/>
                <a:cs typeface="Public Sans" pitchFamily="34" charset="0"/>
              </a:rPr>
              <a:t>Variación porcentual esperada a 30 días</a:t>
            </a:r>
            <a:endParaRPr lang="en-US" sz="1500" dirty="0"/>
          </a:p>
        </p:txBody>
      </p:sp>
      <p:sp>
        <p:nvSpPr>
          <p:cNvPr id="12" name="Text 10"/>
          <p:cNvSpPr/>
          <p:nvPr/>
        </p:nvSpPr>
        <p:spPr>
          <a:xfrm>
            <a:off x="8659993" y="2090929"/>
            <a:ext cx="2922118"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PRONÓSTICO RESULTANTE</a:t>
            </a:r>
            <a:endParaRPr lang="en-US" sz="1450" dirty="0"/>
          </a:p>
        </p:txBody>
      </p:sp>
      <p:sp>
        <p:nvSpPr>
          <p:cNvPr id="13" name="Text 11"/>
          <p:cNvSpPr/>
          <p:nvPr/>
        </p:nvSpPr>
        <p:spPr>
          <a:xfrm>
            <a:off x="9230784" y="2411818"/>
            <a:ext cx="2987005" cy="518120"/>
          </a:xfrm>
          <a:prstGeom prst="rect">
            <a:avLst/>
          </a:prstGeom>
          <a:noFill/>
          <a:ln/>
        </p:spPr>
        <p:txBody>
          <a:bodyPr wrap="none" lIns="0" tIns="0" rIns="0" bIns="0" rtlCol="0" anchor="t"/>
          <a:lstStyle/>
          <a:p>
            <a:pPr marL="0" indent="0" algn="l">
              <a:lnSpc>
                <a:spcPct val="85000"/>
              </a:lnSpc>
              <a:buNone/>
            </a:pPr>
            <a:r>
              <a:rPr lang="en-US" sz="4000" b="1" kern="100" spc="-56" dirty="0">
                <a:solidFill>
                  <a:srgbClr val="142E3A"/>
                </a:solidFill>
                <a:latin typeface="Public Sans Bold" pitchFamily="34" charset="0"/>
                <a:ea typeface="Public Sans Bold" pitchFamily="34" charset="-122"/>
                <a:cs typeface="Public Sans Bold" pitchFamily="34" charset="0"/>
              </a:rPr>
              <a:t>376,0</a:t>
            </a:r>
            <a:endParaRPr lang="en-US" sz="4000" dirty="0"/>
          </a:p>
        </p:txBody>
      </p:sp>
      <p:sp>
        <p:nvSpPr>
          <p:cNvPr id="14" name="Text 12"/>
          <p:cNvSpPr/>
          <p:nvPr/>
        </p:nvSpPr>
        <p:spPr>
          <a:xfrm>
            <a:off x="8442709" y="3063061"/>
            <a:ext cx="2987005"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USD/t estimados para fines de octubre</a:t>
            </a:r>
            <a:endParaRPr lang="en-US" sz="1500" dirty="0"/>
          </a:p>
        </p:txBody>
      </p:sp>
      <p:sp>
        <p:nvSpPr>
          <p:cNvPr id="15" name="Text 13"/>
          <p:cNvSpPr/>
          <p:nvPr/>
        </p:nvSpPr>
        <p:spPr>
          <a:xfrm>
            <a:off x="609585" y="3968545"/>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JUSTIFICACIÓN METODOLÓGICA</a:t>
            </a:r>
            <a:endParaRPr lang="en-US" sz="1450" dirty="0"/>
          </a:p>
        </p:txBody>
      </p:sp>
      <p:sp>
        <p:nvSpPr>
          <p:cNvPr id="16" name="Shape 14"/>
          <p:cNvSpPr/>
          <p:nvPr/>
        </p:nvSpPr>
        <p:spPr>
          <a:xfrm>
            <a:off x="609585" y="4329212"/>
            <a:ext cx="3454314" cy="1700709"/>
          </a:xfrm>
          <a:prstGeom prst="roundRect">
            <a:avLst>
              <a:gd name="adj" fmla="val 672"/>
            </a:avLst>
          </a:prstGeom>
          <a:solidFill>
            <a:srgbClr val="F8F9F5"/>
          </a:solidFill>
          <a:ln/>
        </p:spPr>
        <p:txBody>
          <a:bodyPr/>
          <a:lstStyle/>
          <a:p>
            <a:endParaRPr lang="es-AR"/>
          </a:p>
        </p:txBody>
      </p:sp>
      <p:sp>
        <p:nvSpPr>
          <p:cNvPr id="17" name="Text 15"/>
          <p:cNvSpPr/>
          <p:nvPr/>
        </p:nvSpPr>
        <p:spPr>
          <a:xfrm>
            <a:off x="787380" y="4510694"/>
            <a:ext cx="3098722"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Medir en precio engaña</a:t>
            </a:r>
            <a:endParaRPr lang="en-US" sz="1900" dirty="0"/>
          </a:p>
        </p:txBody>
      </p:sp>
      <p:sp>
        <p:nvSpPr>
          <p:cNvPr id="18" name="Text 16"/>
          <p:cNvSpPr/>
          <p:nvPr/>
        </p:nvSpPr>
        <p:spPr>
          <a:xfrm>
            <a:off x="787380" y="4915178"/>
            <a:ext cx="3098722" cy="94456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Copiar el precio de hace 30 días arroja un R² aparente de 0,51 en soja, pero en variación su aporte es 0,00.</a:t>
            </a:r>
            <a:endParaRPr lang="en-US" sz="1500" dirty="0"/>
          </a:p>
        </p:txBody>
      </p:sp>
      <p:sp>
        <p:nvSpPr>
          <p:cNvPr id="19" name="Shape 17"/>
          <p:cNvSpPr/>
          <p:nvPr/>
        </p:nvSpPr>
        <p:spPr>
          <a:xfrm>
            <a:off x="4368691" y="4329212"/>
            <a:ext cx="3454314" cy="1700709"/>
          </a:xfrm>
          <a:prstGeom prst="roundRect">
            <a:avLst>
              <a:gd name="adj" fmla="val 672"/>
            </a:avLst>
          </a:prstGeom>
          <a:solidFill>
            <a:srgbClr val="F8F9F5"/>
          </a:solidFill>
          <a:ln/>
        </p:spPr>
        <p:txBody>
          <a:bodyPr/>
          <a:lstStyle/>
          <a:p>
            <a:endParaRPr lang="es-AR"/>
          </a:p>
        </p:txBody>
      </p:sp>
      <p:sp>
        <p:nvSpPr>
          <p:cNvPr id="20" name="Text 18"/>
          <p:cNvSpPr/>
          <p:nvPr/>
        </p:nvSpPr>
        <p:spPr>
          <a:xfrm>
            <a:off x="4546486" y="4510694"/>
            <a:ext cx="3098722"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XGBoost no extrapola</a:t>
            </a:r>
            <a:endParaRPr lang="en-US" sz="1900" dirty="0"/>
          </a:p>
        </p:txBody>
      </p:sp>
      <p:sp>
        <p:nvSpPr>
          <p:cNvPr id="21" name="Text 19"/>
          <p:cNvSpPr/>
          <p:nvPr/>
        </p:nvSpPr>
        <p:spPr>
          <a:xfrm>
            <a:off x="4546486" y="4915178"/>
            <a:ext cx="3098722" cy="94456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Los árboles no pueden predecir cotizaciones fuera de los rangos históricos observados en 2023–2024.</a:t>
            </a:r>
            <a:endParaRPr lang="en-US" sz="1500" dirty="0"/>
          </a:p>
        </p:txBody>
      </p:sp>
      <p:sp>
        <p:nvSpPr>
          <p:cNvPr id="22" name="Shape 20"/>
          <p:cNvSpPr/>
          <p:nvPr/>
        </p:nvSpPr>
        <p:spPr>
          <a:xfrm>
            <a:off x="8127797" y="4329212"/>
            <a:ext cx="3454314" cy="1700709"/>
          </a:xfrm>
          <a:prstGeom prst="roundRect">
            <a:avLst>
              <a:gd name="adj" fmla="val 672"/>
            </a:avLst>
          </a:prstGeom>
          <a:solidFill>
            <a:srgbClr val="F8F9F5"/>
          </a:solidFill>
          <a:ln/>
        </p:spPr>
        <p:txBody>
          <a:bodyPr/>
          <a:lstStyle/>
          <a:p>
            <a:endParaRPr lang="es-AR"/>
          </a:p>
        </p:txBody>
      </p:sp>
      <p:sp>
        <p:nvSpPr>
          <p:cNvPr id="23" name="Text 21"/>
          <p:cNvSpPr/>
          <p:nvPr/>
        </p:nvSpPr>
        <p:spPr>
          <a:xfrm>
            <a:off x="8305592" y="4510694"/>
            <a:ext cx="3098722"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Comparabilidad de granos</a:t>
            </a:r>
            <a:endParaRPr lang="en-US" sz="1900" dirty="0"/>
          </a:p>
        </p:txBody>
      </p:sp>
      <p:sp>
        <p:nvSpPr>
          <p:cNvPr id="24" name="Text 22"/>
          <p:cNvSpPr/>
          <p:nvPr/>
        </p:nvSpPr>
        <p:spPr>
          <a:xfrm>
            <a:off x="8305592" y="4915178"/>
            <a:ext cx="3098722" cy="94456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Una oscilación de 10 USD tiene impacto dispar en maíz vs soja; una tasa porcentual de 3% resulta equivalente.</a:t>
            </a:r>
            <a:endParaRPr lang="en-US" sz="1500" dirty="0"/>
          </a:p>
        </p:txBody>
      </p:sp>
      <p:sp>
        <p:nvSpPr>
          <p:cNvPr id="25" name="Shape 23"/>
          <p:cNvSpPr/>
          <p:nvPr/>
        </p:nvSpPr>
        <p:spPr>
          <a:xfrm>
            <a:off x="3894933" y="1878707"/>
            <a:ext cx="12700" cy="1852216"/>
          </a:xfrm>
          <a:prstGeom prst="rect">
            <a:avLst/>
          </a:prstGeom>
          <a:solidFill>
            <a:srgbClr val="D9E1DF"/>
          </a:solidFill>
          <a:ln/>
        </p:spPr>
        <p:txBody>
          <a:bodyPr/>
          <a:lstStyle/>
          <a:p>
            <a:endParaRPr lang="es-AR"/>
          </a:p>
        </p:txBody>
      </p:sp>
      <p:sp>
        <p:nvSpPr>
          <p:cNvPr id="26" name="Shape 24"/>
          <p:cNvSpPr/>
          <p:nvPr/>
        </p:nvSpPr>
        <p:spPr>
          <a:xfrm>
            <a:off x="8283963" y="1878707"/>
            <a:ext cx="12700" cy="1852216"/>
          </a:xfrm>
          <a:prstGeom prst="rect">
            <a:avLst/>
          </a:prstGeom>
          <a:solidFill>
            <a:srgbClr val="D9E1DF"/>
          </a:solidFill>
          <a:ln/>
        </p:spPr>
        <p:txBody>
          <a:bodyPr/>
          <a:lstStyle/>
          <a:p>
            <a:endParaRPr lang="es-AR"/>
          </a:p>
        </p:txBody>
      </p:sp>
      <p:sp>
        <p:nvSpPr>
          <p:cNvPr id="27" name="Text 25"/>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28" name="Text 26"/>
          <p:cNvSpPr/>
          <p:nvPr/>
        </p:nvSpPr>
        <p:spPr>
          <a:xfrm>
            <a:off x="11508095" y="6581676"/>
            <a:ext cx="683600"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DISEÑO EXPERIMENTAL</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Entrenamiento y prueba</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Evaluación temporal estricta con reentrenamiento mensual acumulativo</a:t>
            </a:r>
            <a:endParaRPr lang="en-US" sz="1600" dirty="0"/>
          </a:p>
        </p:txBody>
      </p:sp>
      <p:sp>
        <p:nvSpPr>
          <p:cNvPr id="5" name="Text 3"/>
          <p:cNvSpPr/>
          <p:nvPr/>
        </p:nvSpPr>
        <p:spPr>
          <a:xfrm>
            <a:off x="609585" y="2116329"/>
            <a:ext cx="2560177"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ARRANQUE</a:t>
            </a:r>
            <a:endParaRPr lang="en-US" sz="1450" dirty="0"/>
          </a:p>
        </p:txBody>
      </p:sp>
      <p:sp>
        <p:nvSpPr>
          <p:cNvPr id="6" name="Text 4"/>
          <p:cNvSpPr/>
          <p:nvPr/>
        </p:nvSpPr>
        <p:spPr>
          <a:xfrm>
            <a:off x="609585" y="2396569"/>
            <a:ext cx="2331582" cy="265113"/>
          </a:xfrm>
          <a:prstGeom prst="rect">
            <a:avLst/>
          </a:prstGeom>
          <a:noFill/>
          <a:ln/>
        </p:spPr>
        <p:txBody>
          <a:bodyPr wrap="none" lIns="0" tIns="0" rIns="0" bIns="0" rtlCol="0" anchor="t"/>
          <a:lstStyle/>
          <a:p>
            <a:pPr marL="0" indent="0" algn="l">
              <a:lnSpc>
                <a:spcPct val="97000"/>
              </a:lnSpc>
              <a:buNone/>
            </a:pPr>
            <a:r>
              <a:rPr lang="en-US" sz="1800" b="1" kern="100" spc="-4" dirty="0">
                <a:solidFill>
                  <a:srgbClr val="142E3A"/>
                </a:solidFill>
                <a:latin typeface="Public Sans Bold" pitchFamily="34" charset="0"/>
                <a:ea typeface="Public Sans Bold" pitchFamily="34" charset="-122"/>
                <a:cs typeface="Public Sans Bold" pitchFamily="34" charset="0"/>
              </a:rPr>
              <a:t>Ene – Abr 2023</a:t>
            </a:r>
            <a:endParaRPr lang="en-US" sz="1800" dirty="0"/>
          </a:p>
        </p:txBody>
      </p:sp>
      <p:sp>
        <p:nvSpPr>
          <p:cNvPr id="7" name="Text 5"/>
          <p:cNvSpPr/>
          <p:nvPr/>
        </p:nvSpPr>
        <p:spPr>
          <a:xfrm>
            <a:off x="609585" y="2787829"/>
            <a:ext cx="2331582"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Período sin historia suficiente para generar rezagos y variables.</a:t>
            </a:r>
            <a:endParaRPr lang="en-US" sz="1500" dirty="0"/>
          </a:p>
        </p:txBody>
      </p:sp>
      <p:sp>
        <p:nvSpPr>
          <p:cNvPr id="8" name="Text 6"/>
          <p:cNvSpPr/>
          <p:nvPr/>
        </p:nvSpPr>
        <p:spPr>
          <a:xfrm>
            <a:off x="3398356" y="2116329"/>
            <a:ext cx="2697492"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ENTRENAMIENTO</a:t>
            </a:r>
            <a:endParaRPr lang="en-US" sz="1450" dirty="0"/>
          </a:p>
        </p:txBody>
      </p:sp>
      <p:sp>
        <p:nvSpPr>
          <p:cNvPr id="9" name="Text 7"/>
          <p:cNvSpPr/>
          <p:nvPr/>
        </p:nvSpPr>
        <p:spPr>
          <a:xfrm>
            <a:off x="3398356" y="2396569"/>
            <a:ext cx="2468898" cy="265113"/>
          </a:xfrm>
          <a:prstGeom prst="rect">
            <a:avLst/>
          </a:prstGeom>
          <a:noFill/>
          <a:ln/>
        </p:spPr>
        <p:txBody>
          <a:bodyPr wrap="none" lIns="0" tIns="0" rIns="0" bIns="0" rtlCol="0" anchor="t"/>
          <a:lstStyle/>
          <a:p>
            <a:pPr marL="0" indent="0" algn="l">
              <a:lnSpc>
                <a:spcPct val="97000"/>
              </a:lnSpc>
              <a:buNone/>
            </a:pPr>
            <a:r>
              <a:rPr lang="en-US" sz="1800" b="1" kern="100" spc="-4" dirty="0">
                <a:solidFill>
                  <a:srgbClr val="142E3A"/>
                </a:solidFill>
                <a:latin typeface="Public Sans Bold" pitchFamily="34" charset="0"/>
                <a:ea typeface="Public Sans Bold" pitchFamily="34" charset="-122"/>
                <a:cs typeface="Public Sans Bold" pitchFamily="34" charset="0"/>
              </a:rPr>
              <a:t>Abr 2023 – Dic 2024</a:t>
            </a:r>
            <a:endParaRPr lang="en-US" sz="1800" dirty="0"/>
          </a:p>
        </p:txBody>
      </p:sp>
      <p:sp>
        <p:nvSpPr>
          <p:cNvPr id="10" name="Text 8"/>
          <p:cNvSpPr/>
          <p:nvPr/>
        </p:nvSpPr>
        <p:spPr>
          <a:xfrm>
            <a:off x="3398356" y="2787829"/>
            <a:ext cx="2468898"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Selección de variables explicativas y calibración de parámetros.</a:t>
            </a:r>
            <a:endParaRPr lang="en-US" sz="1500" dirty="0"/>
          </a:p>
        </p:txBody>
      </p:sp>
      <p:sp>
        <p:nvSpPr>
          <p:cNvPr id="11" name="Text 9"/>
          <p:cNvSpPr/>
          <p:nvPr/>
        </p:nvSpPr>
        <p:spPr>
          <a:xfrm>
            <a:off x="6324442" y="2116329"/>
            <a:ext cx="2331582"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VALIDACIÓN</a:t>
            </a:r>
            <a:endParaRPr lang="en-US" sz="1450" dirty="0"/>
          </a:p>
        </p:txBody>
      </p:sp>
      <p:sp>
        <p:nvSpPr>
          <p:cNvPr id="12" name="Text 10"/>
          <p:cNvSpPr/>
          <p:nvPr/>
        </p:nvSpPr>
        <p:spPr>
          <a:xfrm>
            <a:off x="6324442" y="2396569"/>
            <a:ext cx="2102988" cy="265113"/>
          </a:xfrm>
          <a:prstGeom prst="rect">
            <a:avLst/>
          </a:prstGeom>
          <a:noFill/>
          <a:ln/>
        </p:spPr>
        <p:txBody>
          <a:bodyPr wrap="none" lIns="0" tIns="0" rIns="0" bIns="0" rtlCol="0" anchor="t"/>
          <a:lstStyle/>
          <a:p>
            <a:pPr marL="0" indent="0" algn="l">
              <a:lnSpc>
                <a:spcPct val="97000"/>
              </a:lnSpc>
              <a:buNone/>
            </a:pPr>
            <a:r>
              <a:rPr lang="en-US" sz="1800" b="1" kern="100" spc="-4" dirty="0">
                <a:solidFill>
                  <a:srgbClr val="142E3A"/>
                </a:solidFill>
                <a:latin typeface="Public Sans Bold" pitchFamily="34" charset="0"/>
                <a:ea typeface="Public Sans Bold" pitchFamily="34" charset="-122"/>
                <a:cs typeface="Public Sans Bold" pitchFamily="34" charset="0"/>
              </a:rPr>
              <a:t>Ene – Dic 2024</a:t>
            </a:r>
            <a:endParaRPr lang="en-US" sz="1800" dirty="0"/>
          </a:p>
        </p:txBody>
      </p:sp>
      <p:sp>
        <p:nvSpPr>
          <p:cNvPr id="13" name="Text 11"/>
          <p:cNvSpPr/>
          <p:nvPr/>
        </p:nvSpPr>
        <p:spPr>
          <a:xfrm>
            <a:off x="6324442" y="2787829"/>
            <a:ext cx="2102988"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Ajuste y validación cruzada temporal trimestre a trimestre.</a:t>
            </a:r>
            <a:endParaRPr lang="en-US" sz="1500" dirty="0"/>
          </a:p>
        </p:txBody>
      </p:sp>
      <p:sp>
        <p:nvSpPr>
          <p:cNvPr id="14" name="Shape 12"/>
          <p:cNvSpPr/>
          <p:nvPr/>
        </p:nvSpPr>
        <p:spPr>
          <a:xfrm>
            <a:off x="8656024" y="1878707"/>
            <a:ext cx="2926086" cy="1838523"/>
          </a:xfrm>
          <a:custGeom>
            <a:avLst/>
            <a:gdLst/>
            <a:ahLst/>
            <a:cxnLst/>
            <a:rect l="l" t="t" r="r" b="b"/>
            <a:pathLst>
              <a:path w="2926086" h="1838523">
                <a:moveTo>
                  <a:pt x="0" y="0"/>
                </a:moveTo>
                <a:lnTo>
                  <a:pt x="2916561" y="0"/>
                </a:lnTo>
                <a:arcTo wR="9525" hR="9525" stAng="16200000" swAng="5400000"/>
                <a:lnTo>
                  <a:pt x="2926086" y="1828998"/>
                </a:lnTo>
                <a:arcTo wR="9525" hR="9525" stAng="0" swAng="5400000"/>
                <a:lnTo>
                  <a:pt x="0" y="1838523"/>
                </a:lnTo>
                <a:lnTo>
                  <a:pt x="0" y="0"/>
                </a:lnTo>
                <a:close/>
              </a:path>
            </a:pathLst>
          </a:custGeom>
          <a:solidFill>
            <a:srgbClr val="FFFFFF"/>
          </a:solidFill>
          <a:ln/>
        </p:spPr>
        <p:txBody>
          <a:bodyPr/>
          <a:lstStyle/>
          <a:p>
            <a:endParaRPr lang="es-AR"/>
          </a:p>
        </p:txBody>
      </p:sp>
      <p:sp>
        <p:nvSpPr>
          <p:cNvPr id="15" name="Text 13"/>
          <p:cNvSpPr/>
          <p:nvPr/>
        </p:nvSpPr>
        <p:spPr>
          <a:xfrm>
            <a:off x="8884618" y="2116329"/>
            <a:ext cx="2697492"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PRUEBA OUT-OF-SAMPLE</a:t>
            </a:r>
            <a:endParaRPr lang="en-US" sz="1450" dirty="0"/>
          </a:p>
        </p:txBody>
      </p:sp>
      <p:sp>
        <p:nvSpPr>
          <p:cNvPr id="16" name="Text 14"/>
          <p:cNvSpPr/>
          <p:nvPr/>
        </p:nvSpPr>
        <p:spPr>
          <a:xfrm>
            <a:off x="8884618" y="2396569"/>
            <a:ext cx="2468898" cy="265113"/>
          </a:xfrm>
          <a:prstGeom prst="rect">
            <a:avLst/>
          </a:prstGeom>
          <a:noFill/>
          <a:ln/>
        </p:spPr>
        <p:txBody>
          <a:bodyPr wrap="none" lIns="0" tIns="0" rIns="0" bIns="0" rtlCol="0" anchor="t"/>
          <a:lstStyle/>
          <a:p>
            <a:pPr marL="0" indent="0" algn="l">
              <a:lnSpc>
                <a:spcPct val="97000"/>
              </a:lnSpc>
              <a:buNone/>
            </a:pPr>
            <a:r>
              <a:rPr lang="en-US" sz="1800" b="1" kern="100" spc="-4" dirty="0">
                <a:solidFill>
                  <a:srgbClr val="142E3A"/>
                </a:solidFill>
                <a:latin typeface="Public Sans Bold" pitchFamily="34" charset="0"/>
                <a:ea typeface="Public Sans Bold" pitchFamily="34" charset="-122"/>
                <a:cs typeface="Public Sans Bold" pitchFamily="34" charset="0"/>
              </a:rPr>
              <a:t>Ene 2025 – Sep 2026</a:t>
            </a:r>
            <a:endParaRPr lang="en-US" sz="1800" dirty="0"/>
          </a:p>
        </p:txBody>
      </p:sp>
      <p:sp>
        <p:nvSpPr>
          <p:cNvPr id="17" name="Text 15"/>
          <p:cNvSpPr/>
          <p:nvPr/>
        </p:nvSpPr>
        <p:spPr>
          <a:xfrm>
            <a:off x="8884618" y="2787829"/>
            <a:ext cx="2468898"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142E3A"/>
                </a:solidFill>
                <a:latin typeface="Public Sans" pitchFamily="34" charset="0"/>
                <a:ea typeface="Public Sans" pitchFamily="34" charset="-122"/>
                <a:cs typeface="Public Sans" pitchFamily="34" charset="0"/>
              </a:rPr>
              <a:t>Evaluación mes a mes con reentrenamiento expandido.</a:t>
            </a:r>
            <a:endParaRPr lang="en-US" sz="1500" dirty="0"/>
          </a:p>
        </p:txBody>
      </p:sp>
      <p:sp>
        <p:nvSpPr>
          <p:cNvPr id="18" name="Shape 16"/>
          <p:cNvSpPr/>
          <p:nvPr/>
        </p:nvSpPr>
        <p:spPr>
          <a:xfrm>
            <a:off x="609585" y="3920430"/>
            <a:ext cx="10972526" cy="6350"/>
          </a:xfrm>
          <a:prstGeom prst="rect">
            <a:avLst/>
          </a:prstGeom>
          <a:solidFill>
            <a:srgbClr val="D9E1DF"/>
          </a:solidFill>
          <a:ln/>
        </p:spPr>
        <p:txBody>
          <a:bodyPr/>
          <a:lstStyle/>
          <a:p>
            <a:endParaRPr lang="es-AR"/>
          </a:p>
        </p:txBody>
      </p:sp>
      <p:sp>
        <p:nvSpPr>
          <p:cNvPr id="19" name="Shape 17"/>
          <p:cNvSpPr/>
          <p:nvPr/>
        </p:nvSpPr>
        <p:spPr>
          <a:xfrm>
            <a:off x="609585" y="6026249"/>
            <a:ext cx="10972526" cy="6350"/>
          </a:xfrm>
          <a:prstGeom prst="rect">
            <a:avLst/>
          </a:prstGeom>
          <a:solidFill>
            <a:srgbClr val="D9E1DF"/>
          </a:solidFill>
          <a:ln/>
        </p:spPr>
        <p:txBody>
          <a:bodyPr/>
          <a:lstStyle/>
          <a:p>
            <a:endParaRPr lang="es-AR"/>
          </a:p>
        </p:txBody>
      </p:sp>
      <p:sp>
        <p:nvSpPr>
          <p:cNvPr id="20" name="Shape 18"/>
          <p:cNvSpPr/>
          <p:nvPr/>
        </p:nvSpPr>
        <p:spPr>
          <a:xfrm>
            <a:off x="609585" y="4053780"/>
            <a:ext cx="10972526" cy="1845469"/>
          </a:xfrm>
          <a:prstGeom prst="rect">
            <a:avLst/>
          </a:prstGeom>
          <a:solidFill>
            <a:srgbClr val="FFFFFF"/>
          </a:solidFill>
          <a:ln/>
        </p:spPr>
        <p:txBody>
          <a:bodyPr/>
          <a:lstStyle/>
          <a:p>
            <a:endParaRPr lang="es-AR"/>
          </a:p>
        </p:txBody>
      </p:sp>
      <p:sp>
        <p:nvSpPr>
          <p:cNvPr id="21" name="Text 19"/>
          <p:cNvSpPr/>
          <p:nvPr/>
        </p:nvSpPr>
        <p:spPr>
          <a:xfrm>
            <a:off x="863578" y="4266002"/>
            <a:ext cx="10718532"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PREVENCIÓN DE DATA LEAKAGE: PURGA TEMPORAL</a:t>
            </a:r>
            <a:endParaRPr lang="en-US" sz="1450" dirty="0"/>
          </a:p>
        </p:txBody>
      </p:sp>
      <p:sp>
        <p:nvSpPr>
          <p:cNvPr id="22" name="Text 20"/>
          <p:cNvSpPr/>
          <p:nvPr/>
        </p:nvSpPr>
        <p:spPr>
          <a:xfrm>
            <a:off x="863578" y="4584569"/>
            <a:ext cx="10464538" cy="552648"/>
          </a:xfrm>
          <a:prstGeom prst="rect">
            <a:avLst/>
          </a:prstGeom>
          <a:noFill/>
          <a:ln/>
        </p:spPr>
        <p:txBody>
          <a:bodyPr wrap="square" lIns="0" tIns="0" rIns="0" bIns="0" rtlCol="0" anchor="t">
            <a:normAutofit/>
          </a:bodyPr>
          <a:lstStyle/>
          <a:p>
            <a:pPr marL="0" indent="0" algn="l">
              <a:lnSpc>
                <a:spcPct val="107000"/>
              </a:lnSpc>
              <a:buNone/>
            </a:pPr>
            <a:r>
              <a:rPr lang="en-US" sz="1700" b="1" dirty="0">
                <a:solidFill>
                  <a:srgbClr val="142E3A"/>
                </a:solidFill>
                <a:latin typeface="Public Sans Bold" pitchFamily="34" charset="0"/>
                <a:ea typeface="Public Sans Bold" pitchFamily="34" charset="-122"/>
                <a:cs typeface="Public Sans Bold" pitchFamily="34" charset="0"/>
              </a:rPr>
              <a:t>Para predecir un mes, el modelo solo aprende de observaciones cuyo precio final ya se conocía antes de ese mes.</a:t>
            </a:r>
            <a:endParaRPr lang="en-US" sz="1700" dirty="0"/>
          </a:p>
        </p:txBody>
      </p:sp>
      <p:sp>
        <p:nvSpPr>
          <p:cNvPr id="23" name="Text 21"/>
          <p:cNvSpPr/>
          <p:nvPr/>
        </p:nvSpPr>
        <p:spPr>
          <a:xfrm>
            <a:off x="863578" y="5231388"/>
            <a:ext cx="10464538" cy="472281"/>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142E3A"/>
                </a:solidFill>
                <a:latin typeface="Public Sans" pitchFamily="34" charset="0"/>
                <a:ea typeface="Public Sans" pitchFamily="34" charset="-122"/>
                <a:cs typeface="Public Sans" pitchFamily="34" charset="0"/>
              </a:rPr>
              <a:t>Un pronóstico a 90 días emitido en diciembre fija su resultado recién en marzo; incluir ese caso en entrenamientos de enero o febrero violaría la precedencia temporal.</a:t>
            </a:r>
            <a:endParaRPr lang="en-US" sz="1500" dirty="0"/>
          </a:p>
        </p:txBody>
      </p:sp>
      <p:sp>
        <p:nvSpPr>
          <p:cNvPr id="24" name="Shape 22"/>
          <p:cNvSpPr/>
          <p:nvPr/>
        </p:nvSpPr>
        <p:spPr>
          <a:xfrm>
            <a:off x="3163411" y="1878707"/>
            <a:ext cx="12700" cy="1838523"/>
          </a:xfrm>
          <a:prstGeom prst="rect">
            <a:avLst/>
          </a:prstGeom>
          <a:solidFill>
            <a:srgbClr val="D9E1DF"/>
          </a:solidFill>
          <a:ln/>
        </p:spPr>
        <p:txBody>
          <a:bodyPr/>
          <a:lstStyle/>
          <a:p>
            <a:endParaRPr lang="es-AR"/>
          </a:p>
        </p:txBody>
      </p:sp>
      <p:sp>
        <p:nvSpPr>
          <p:cNvPr id="25" name="Shape 23"/>
          <p:cNvSpPr/>
          <p:nvPr/>
        </p:nvSpPr>
        <p:spPr>
          <a:xfrm>
            <a:off x="6089498" y="1878707"/>
            <a:ext cx="12700" cy="1838523"/>
          </a:xfrm>
          <a:prstGeom prst="rect">
            <a:avLst/>
          </a:prstGeom>
          <a:solidFill>
            <a:srgbClr val="D9E1DF"/>
          </a:solidFill>
          <a:ln/>
        </p:spPr>
        <p:txBody>
          <a:bodyPr/>
          <a:lstStyle/>
          <a:p>
            <a:endParaRPr lang="es-AR"/>
          </a:p>
        </p:txBody>
      </p:sp>
      <p:sp>
        <p:nvSpPr>
          <p:cNvPr id="26" name="Shape 24"/>
          <p:cNvSpPr/>
          <p:nvPr/>
        </p:nvSpPr>
        <p:spPr>
          <a:xfrm>
            <a:off x="8649674" y="1878707"/>
            <a:ext cx="12700" cy="1838523"/>
          </a:xfrm>
          <a:prstGeom prst="rect">
            <a:avLst/>
          </a:prstGeom>
          <a:solidFill>
            <a:srgbClr val="D9E1DF"/>
          </a:solidFill>
          <a:ln/>
        </p:spPr>
        <p:txBody>
          <a:bodyPr/>
          <a:lstStyle/>
          <a:p>
            <a:endParaRPr lang="es-AR"/>
          </a:p>
        </p:txBody>
      </p:sp>
      <p:sp>
        <p:nvSpPr>
          <p:cNvPr id="27" name="Text 25"/>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28" name="Text 26"/>
          <p:cNvSpPr/>
          <p:nvPr/>
        </p:nvSpPr>
        <p:spPr>
          <a:xfrm>
            <a:off x="11510675" y="6581676"/>
            <a:ext cx="681020"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ARQUITECTURA DE MODELADO</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Los modelos</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2 referencias · 3 familias predictivas · 3 conjuntos progresivos de variables (sin precios futuros)</a:t>
            </a:r>
            <a:endParaRPr lang="en-US" sz="1600" dirty="0"/>
          </a:p>
        </p:txBody>
      </p:sp>
      <p:sp>
        <p:nvSpPr>
          <p:cNvPr id="5" name="Shape 3"/>
          <p:cNvSpPr/>
          <p:nvPr/>
        </p:nvSpPr>
        <p:spPr>
          <a:xfrm>
            <a:off x="609585" y="1853307"/>
            <a:ext cx="2072628" cy="2154337"/>
          </a:xfrm>
          <a:prstGeom prst="roundRect">
            <a:avLst>
              <a:gd name="adj" fmla="val 551"/>
            </a:avLst>
          </a:prstGeom>
          <a:noFill/>
          <a:ln w="38099">
            <a:solidFill>
              <a:srgbClr val="D1D3C9"/>
            </a:solidFill>
            <a:prstDash val="solid"/>
          </a:ln>
        </p:spPr>
        <p:txBody>
          <a:bodyPr/>
          <a:lstStyle/>
          <a:p>
            <a:endParaRPr lang="es-AR"/>
          </a:p>
        </p:txBody>
      </p:sp>
      <p:sp>
        <p:nvSpPr>
          <p:cNvPr id="6" name="Text 4"/>
          <p:cNvSpPr/>
          <p:nvPr/>
        </p:nvSpPr>
        <p:spPr>
          <a:xfrm>
            <a:off x="774681" y="2027429"/>
            <a:ext cx="1907532"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LÍNEA BASE</a:t>
            </a:r>
            <a:endParaRPr lang="en-US" sz="1450" dirty="0"/>
          </a:p>
        </p:txBody>
      </p:sp>
      <p:sp>
        <p:nvSpPr>
          <p:cNvPr id="7" name="Text 5"/>
          <p:cNvSpPr/>
          <p:nvPr/>
        </p:nvSpPr>
        <p:spPr>
          <a:xfrm>
            <a:off x="774681" y="2307895"/>
            <a:ext cx="1742436" cy="235645"/>
          </a:xfrm>
          <a:prstGeom prst="rect">
            <a:avLst/>
          </a:prstGeom>
          <a:noFill/>
          <a:ln/>
        </p:spPr>
        <p:txBody>
          <a:bodyPr wrap="none" lIns="0" tIns="0" rIns="0" bIns="0" rtlCol="0" anchor="t"/>
          <a:lstStyle/>
          <a:p>
            <a:pPr marL="0" indent="0" algn="l">
              <a:lnSpc>
                <a:spcPct val="97000"/>
              </a:lnSpc>
              <a:buNone/>
            </a:pPr>
            <a:r>
              <a:rPr lang="en-US" sz="1600" b="1" kern="100" spc="-3" dirty="0">
                <a:solidFill>
                  <a:srgbClr val="142E3A"/>
                </a:solidFill>
                <a:latin typeface="Public Sans Bold" pitchFamily="34" charset="0"/>
                <a:ea typeface="Public Sans Bold" pitchFamily="34" charset="-122"/>
                <a:cs typeface="Public Sans Bold" pitchFamily="34" charset="0"/>
              </a:rPr>
              <a:t>Random walk</a:t>
            </a:r>
            <a:endParaRPr lang="en-US" sz="1600" dirty="0"/>
          </a:p>
        </p:txBody>
      </p:sp>
      <p:sp>
        <p:nvSpPr>
          <p:cNvPr id="8" name="Text 6"/>
          <p:cNvSpPr/>
          <p:nvPr/>
        </p:nvSpPr>
        <p:spPr>
          <a:xfrm>
            <a:off x="774681" y="2669461"/>
            <a:ext cx="1742436" cy="94456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Pronostica el último precio disponible observado.</a:t>
            </a:r>
            <a:endParaRPr lang="en-US" sz="1500" dirty="0"/>
          </a:p>
        </p:txBody>
      </p:sp>
      <p:sp>
        <p:nvSpPr>
          <p:cNvPr id="9" name="Shape 7"/>
          <p:cNvSpPr/>
          <p:nvPr/>
        </p:nvSpPr>
        <p:spPr>
          <a:xfrm>
            <a:off x="2834510" y="1853307"/>
            <a:ext cx="2072628" cy="2154337"/>
          </a:xfrm>
          <a:prstGeom prst="roundRect">
            <a:avLst>
              <a:gd name="adj" fmla="val 551"/>
            </a:avLst>
          </a:prstGeom>
          <a:noFill/>
          <a:ln w="38099">
            <a:solidFill>
              <a:srgbClr val="D1D3C9"/>
            </a:solidFill>
            <a:prstDash val="solid"/>
          </a:ln>
        </p:spPr>
        <p:txBody>
          <a:bodyPr/>
          <a:lstStyle/>
          <a:p>
            <a:endParaRPr lang="es-AR"/>
          </a:p>
        </p:txBody>
      </p:sp>
      <p:sp>
        <p:nvSpPr>
          <p:cNvPr id="10" name="Text 8"/>
          <p:cNvSpPr/>
          <p:nvPr/>
        </p:nvSpPr>
        <p:spPr>
          <a:xfrm>
            <a:off x="2999605" y="2027429"/>
            <a:ext cx="1907532"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LÍNEA BASE</a:t>
            </a:r>
            <a:endParaRPr lang="en-US" sz="1450" dirty="0"/>
          </a:p>
        </p:txBody>
      </p:sp>
      <p:sp>
        <p:nvSpPr>
          <p:cNvPr id="11" name="Text 9"/>
          <p:cNvSpPr/>
          <p:nvPr/>
        </p:nvSpPr>
        <p:spPr>
          <a:xfrm>
            <a:off x="2999605" y="2307895"/>
            <a:ext cx="1742436" cy="235645"/>
          </a:xfrm>
          <a:prstGeom prst="rect">
            <a:avLst/>
          </a:prstGeom>
          <a:noFill/>
          <a:ln/>
        </p:spPr>
        <p:txBody>
          <a:bodyPr wrap="none" lIns="0" tIns="0" rIns="0" bIns="0" rtlCol="0" anchor="t"/>
          <a:lstStyle/>
          <a:p>
            <a:pPr marL="0" indent="0" algn="l">
              <a:lnSpc>
                <a:spcPct val="97000"/>
              </a:lnSpc>
              <a:buNone/>
            </a:pPr>
            <a:r>
              <a:rPr lang="en-US" sz="1600" b="1" kern="100" spc="-3" dirty="0">
                <a:solidFill>
                  <a:srgbClr val="142E3A"/>
                </a:solidFill>
                <a:latin typeface="Public Sans Bold" pitchFamily="34" charset="0"/>
                <a:ea typeface="Public Sans Bold" pitchFamily="34" charset="-122"/>
                <a:cs typeface="Public Sans Bold" pitchFamily="34" charset="0"/>
              </a:rPr>
              <a:t>Tendencia</a:t>
            </a:r>
            <a:endParaRPr lang="en-US" sz="1600" dirty="0"/>
          </a:p>
        </p:txBody>
      </p:sp>
      <p:sp>
        <p:nvSpPr>
          <p:cNvPr id="12" name="Text 10"/>
          <p:cNvSpPr/>
          <p:nvPr/>
        </p:nvSpPr>
        <p:spPr>
          <a:xfrm>
            <a:off x="2999605" y="2669461"/>
            <a:ext cx="1742436"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Proyecta la tasa promedio de meses previos.</a:t>
            </a:r>
            <a:endParaRPr lang="en-US" sz="1500" dirty="0"/>
          </a:p>
        </p:txBody>
      </p:sp>
      <p:sp>
        <p:nvSpPr>
          <p:cNvPr id="13" name="Shape 11"/>
          <p:cNvSpPr/>
          <p:nvPr/>
        </p:nvSpPr>
        <p:spPr>
          <a:xfrm>
            <a:off x="5059434" y="1853307"/>
            <a:ext cx="2072727" cy="2154337"/>
          </a:xfrm>
          <a:prstGeom prst="roundRect">
            <a:avLst>
              <a:gd name="adj" fmla="val 551"/>
            </a:avLst>
          </a:prstGeom>
          <a:noFill/>
          <a:ln w="38099">
            <a:solidFill>
              <a:srgbClr val="D1D3C9"/>
            </a:solidFill>
            <a:prstDash val="solid"/>
          </a:ln>
        </p:spPr>
        <p:txBody>
          <a:bodyPr/>
          <a:lstStyle/>
          <a:p>
            <a:endParaRPr lang="es-AR"/>
          </a:p>
        </p:txBody>
      </p:sp>
      <p:sp>
        <p:nvSpPr>
          <p:cNvPr id="14" name="Text 12"/>
          <p:cNvSpPr/>
          <p:nvPr/>
        </p:nvSpPr>
        <p:spPr>
          <a:xfrm>
            <a:off x="5224530" y="2027429"/>
            <a:ext cx="1907631"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REGULARIZACIÓN</a:t>
            </a:r>
            <a:endParaRPr lang="en-US" sz="1450" dirty="0"/>
          </a:p>
        </p:txBody>
      </p:sp>
      <p:sp>
        <p:nvSpPr>
          <p:cNvPr id="15" name="Text 13"/>
          <p:cNvSpPr/>
          <p:nvPr/>
        </p:nvSpPr>
        <p:spPr>
          <a:xfrm>
            <a:off x="5224530" y="2307895"/>
            <a:ext cx="1742535" cy="235645"/>
          </a:xfrm>
          <a:prstGeom prst="rect">
            <a:avLst/>
          </a:prstGeom>
          <a:noFill/>
          <a:ln/>
        </p:spPr>
        <p:txBody>
          <a:bodyPr wrap="none" lIns="0" tIns="0" rIns="0" bIns="0" rtlCol="0" anchor="t"/>
          <a:lstStyle/>
          <a:p>
            <a:pPr marL="0" indent="0" algn="l">
              <a:lnSpc>
                <a:spcPct val="97000"/>
              </a:lnSpc>
              <a:buNone/>
            </a:pPr>
            <a:r>
              <a:rPr lang="en-US" sz="1600" b="1" kern="100" spc="-3" dirty="0">
                <a:solidFill>
                  <a:srgbClr val="142E3A"/>
                </a:solidFill>
                <a:latin typeface="Public Sans Bold" pitchFamily="34" charset="0"/>
                <a:ea typeface="Public Sans Bold" pitchFamily="34" charset="-122"/>
                <a:cs typeface="Public Sans Bold" pitchFamily="34" charset="0"/>
              </a:rPr>
              <a:t>ElasticNet</a:t>
            </a:r>
            <a:endParaRPr lang="en-US" sz="1600" dirty="0"/>
          </a:p>
        </p:txBody>
      </p:sp>
      <p:sp>
        <p:nvSpPr>
          <p:cNvPr id="16" name="Text 14"/>
          <p:cNvSpPr/>
          <p:nvPr/>
        </p:nvSpPr>
        <p:spPr>
          <a:xfrm>
            <a:off x="5224530" y="2669461"/>
            <a:ext cx="1742535" cy="118070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Regresión penalizada L1/L2 que descarta variables redundantes.</a:t>
            </a:r>
            <a:endParaRPr lang="en-US" sz="1500" dirty="0"/>
          </a:p>
        </p:txBody>
      </p:sp>
      <p:sp>
        <p:nvSpPr>
          <p:cNvPr id="17" name="Shape 15"/>
          <p:cNvSpPr/>
          <p:nvPr/>
        </p:nvSpPr>
        <p:spPr>
          <a:xfrm>
            <a:off x="7284458" y="1853307"/>
            <a:ext cx="2072628" cy="2154337"/>
          </a:xfrm>
          <a:prstGeom prst="roundRect">
            <a:avLst>
              <a:gd name="adj" fmla="val 551"/>
            </a:avLst>
          </a:prstGeom>
          <a:noFill/>
          <a:ln w="38099">
            <a:solidFill>
              <a:srgbClr val="D1D3C9"/>
            </a:solidFill>
            <a:prstDash val="solid"/>
          </a:ln>
        </p:spPr>
        <p:txBody>
          <a:bodyPr/>
          <a:lstStyle/>
          <a:p>
            <a:endParaRPr lang="es-AR"/>
          </a:p>
        </p:txBody>
      </p:sp>
      <p:sp>
        <p:nvSpPr>
          <p:cNvPr id="18" name="Text 16"/>
          <p:cNvSpPr/>
          <p:nvPr/>
        </p:nvSpPr>
        <p:spPr>
          <a:xfrm>
            <a:off x="7449554" y="2027429"/>
            <a:ext cx="1907532"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ENSAMBLE</a:t>
            </a:r>
            <a:endParaRPr lang="en-US" sz="1450" dirty="0"/>
          </a:p>
        </p:txBody>
      </p:sp>
      <p:sp>
        <p:nvSpPr>
          <p:cNvPr id="19" name="Text 17"/>
          <p:cNvSpPr/>
          <p:nvPr/>
        </p:nvSpPr>
        <p:spPr>
          <a:xfrm>
            <a:off x="7449554" y="2307895"/>
            <a:ext cx="1742436" cy="235645"/>
          </a:xfrm>
          <a:prstGeom prst="rect">
            <a:avLst/>
          </a:prstGeom>
          <a:noFill/>
          <a:ln/>
        </p:spPr>
        <p:txBody>
          <a:bodyPr wrap="none" lIns="0" tIns="0" rIns="0" bIns="0" rtlCol="0" anchor="t"/>
          <a:lstStyle/>
          <a:p>
            <a:pPr marL="0" indent="0" algn="l">
              <a:lnSpc>
                <a:spcPct val="97000"/>
              </a:lnSpc>
              <a:buNone/>
            </a:pPr>
            <a:r>
              <a:rPr lang="en-US" sz="1600" b="1" kern="100" spc="-3" dirty="0">
                <a:solidFill>
                  <a:srgbClr val="142E3A"/>
                </a:solidFill>
                <a:latin typeface="Public Sans Bold" pitchFamily="34" charset="0"/>
                <a:ea typeface="Public Sans Bold" pitchFamily="34" charset="-122"/>
                <a:cs typeface="Public Sans Bold" pitchFamily="34" charset="0"/>
              </a:rPr>
              <a:t>XGBoost</a:t>
            </a:r>
            <a:endParaRPr lang="en-US" sz="1600" dirty="0"/>
          </a:p>
        </p:txBody>
      </p:sp>
      <p:sp>
        <p:nvSpPr>
          <p:cNvPr id="20" name="Text 18"/>
          <p:cNvSpPr/>
          <p:nvPr/>
        </p:nvSpPr>
        <p:spPr>
          <a:xfrm>
            <a:off x="7449554" y="2669461"/>
            <a:ext cx="1742436" cy="118070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Árboles de gradiente para modelar no linealidades complejas.</a:t>
            </a:r>
            <a:endParaRPr lang="en-US" sz="1500" dirty="0"/>
          </a:p>
        </p:txBody>
      </p:sp>
      <p:sp>
        <p:nvSpPr>
          <p:cNvPr id="21" name="Shape 19"/>
          <p:cNvSpPr/>
          <p:nvPr/>
        </p:nvSpPr>
        <p:spPr>
          <a:xfrm>
            <a:off x="9509383" y="1853307"/>
            <a:ext cx="2072727" cy="2154337"/>
          </a:xfrm>
          <a:prstGeom prst="roundRect">
            <a:avLst>
              <a:gd name="adj" fmla="val 551"/>
            </a:avLst>
          </a:prstGeom>
          <a:noFill/>
          <a:ln w="38099">
            <a:solidFill>
              <a:srgbClr val="D1D3C9"/>
            </a:solidFill>
            <a:prstDash val="solid"/>
          </a:ln>
        </p:spPr>
        <p:txBody>
          <a:bodyPr/>
          <a:lstStyle/>
          <a:p>
            <a:endParaRPr lang="es-AR"/>
          </a:p>
        </p:txBody>
      </p:sp>
      <p:sp>
        <p:nvSpPr>
          <p:cNvPr id="22" name="Text 20"/>
          <p:cNvSpPr/>
          <p:nvPr/>
        </p:nvSpPr>
        <p:spPr>
          <a:xfrm>
            <a:off x="9674479" y="2027429"/>
            <a:ext cx="1907631"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SERIES TIEMPO</a:t>
            </a:r>
            <a:endParaRPr lang="en-US" sz="1450" dirty="0"/>
          </a:p>
        </p:txBody>
      </p:sp>
      <p:sp>
        <p:nvSpPr>
          <p:cNvPr id="23" name="Text 21"/>
          <p:cNvSpPr/>
          <p:nvPr/>
        </p:nvSpPr>
        <p:spPr>
          <a:xfrm>
            <a:off x="9674479" y="2307895"/>
            <a:ext cx="1742535" cy="235645"/>
          </a:xfrm>
          <a:prstGeom prst="rect">
            <a:avLst/>
          </a:prstGeom>
          <a:noFill/>
          <a:ln/>
        </p:spPr>
        <p:txBody>
          <a:bodyPr wrap="none" lIns="0" tIns="0" rIns="0" bIns="0" rtlCol="0" anchor="t"/>
          <a:lstStyle/>
          <a:p>
            <a:pPr marL="0" indent="0" algn="l">
              <a:lnSpc>
                <a:spcPct val="97000"/>
              </a:lnSpc>
              <a:buNone/>
            </a:pPr>
            <a:r>
              <a:rPr lang="en-US" sz="1600" b="1" kern="100" spc="-3" dirty="0">
                <a:solidFill>
                  <a:srgbClr val="142E3A"/>
                </a:solidFill>
                <a:latin typeface="Public Sans Bold" pitchFamily="34" charset="0"/>
                <a:ea typeface="Public Sans Bold" pitchFamily="34" charset="-122"/>
                <a:cs typeface="Public Sans Bold" pitchFamily="34" charset="0"/>
              </a:rPr>
              <a:t>ARIMA / ARIMAX</a:t>
            </a:r>
            <a:endParaRPr lang="en-US" sz="1600" dirty="0"/>
          </a:p>
        </p:txBody>
      </p:sp>
      <p:sp>
        <p:nvSpPr>
          <p:cNvPr id="24" name="Text 22"/>
          <p:cNvSpPr/>
          <p:nvPr/>
        </p:nvSpPr>
        <p:spPr>
          <a:xfrm>
            <a:off x="9674479" y="2669461"/>
            <a:ext cx="1742535" cy="94456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Autoregresivo clásico: solo precio o con covariables exógenas.</a:t>
            </a:r>
            <a:endParaRPr lang="en-US" sz="1500" dirty="0"/>
          </a:p>
        </p:txBody>
      </p:sp>
      <p:sp>
        <p:nvSpPr>
          <p:cNvPr id="25" name="Text 23"/>
          <p:cNvSpPr/>
          <p:nvPr/>
        </p:nvSpPr>
        <p:spPr>
          <a:xfrm>
            <a:off x="609585" y="4169066"/>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CONJUNTOS ACUMULATIVOS DE COVARIABLES</a:t>
            </a:r>
            <a:endParaRPr lang="en-US" sz="1450" dirty="0"/>
          </a:p>
        </p:txBody>
      </p:sp>
      <p:sp>
        <p:nvSpPr>
          <p:cNvPr id="26" name="Shape 24"/>
          <p:cNvSpPr/>
          <p:nvPr/>
        </p:nvSpPr>
        <p:spPr>
          <a:xfrm>
            <a:off x="609585" y="4529733"/>
            <a:ext cx="3555911" cy="1700907"/>
          </a:xfrm>
          <a:prstGeom prst="roundRect">
            <a:avLst>
              <a:gd name="adj" fmla="val 672"/>
            </a:avLst>
          </a:prstGeom>
          <a:solidFill>
            <a:srgbClr val="F8F9F5"/>
          </a:solidFill>
          <a:ln/>
        </p:spPr>
        <p:txBody>
          <a:bodyPr/>
          <a:lstStyle/>
          <a:p>
            <a:endParaRPr lang="es-AR"/>
          </a:p>
        </p:txBody>
      </p:sp>
      <p:sp>
        <p:nvSpPr>
          <p:cNvPr id="27" name="Text 25"/>
          <p:cNvSpPr/>
          <p:nvPr/>
        </p:nvSpPr>
        <p:spPr>
          <a:xfrm>
            <a:off x="761981" y="4691155"/>
            <a:ext cx="3403515"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CONJUNTO 1</a:t>
            </a:r>
            <a:endParaRPr lang="en-US" sz="1450" dirty="0"/>
          </a:p>
        </p:txBody>
      </p:sp>
      <p:sp>
        <p:nvSpPr>
          <p:cNvPr id="28" name="Text 26"/>
          <p:cNvSpPr/>
          <p:nvPr/>
        </p:nvSpPr>
        <p:spPr>
          <a:xfrm>
            <a:off x="761981" y="4972955"/>
            <a:ext cx="3251119"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Solo precio</a:t>
            </a:r>
            <a:endParaRPr lang="en-US" sz="1900" dirty="0"/>
          </a:p>
        </p:txBody>
      </p:sp>
      <p:sp>
        <p:nvSpPr>
          <p:cNvPr id="29" name="Text 27"/>
          <p:cNvSpPr/>
          <p:nvPr/>
        </p:nvSpPr>
        <p:spPr>
          <a:xfrm>
            <a:off x="761981" y="5377438"/>
            <a:ext cx="3251119"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Variaciones recientes del disponible, volatilidad histórica y estacionalidad mensual.</a:t>
            </a:r>
            <a:endParaRPr lang="en-US" sz="1500" dirty="0"/>
          </a:p>
        </p:txBody>
      </p:sp>
      <p:sp>
        <p:nvSpPr>
          <p:cNvPr id="30" name="Shape 28"/>
          <p:cNvSpPr/>
          <p:nvPr/>
        </p:nvSpPr>
        <p:spPr>
          <a:xfrm>
            <a:off x="4317892" y="4529733"/>
            <a:ext cx="3555911" cy="1700907"/>
          </a:xfrm>
          <a:prstGeom prst="roundRect">
            <a:avLst>
              <a:gd name="adj" fmla="val 672"/>
            </a:avLst>
          </a:prstGeom>
          <a:solidFill>
            <a:srgbClr val="F8F9F5"/>
          </a:solidFill>
          <a:ln/>
        </p:spPr>
        <p:txBody>
          <a:bodyPr/>
          <a:lstStyle/>
          <a:p>
            <a:endParaRPr lang="es-AR"/>
          </a:p>
        </p:txBody>
      </p:sp>
      <p:sp>
        <p:nvSpPr>
          <p:cNvPr id="31" name="Text 29"/>
          <p:cNvSpPr/>
          <p:nvPr/>
        </p:nvSpPr>
        <p:spPr>
          <a:xfrm>
            <a:off x="4470288" y="4691155"/>
            <a:ext cx="3403515"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CONJUNTO 2</a:t>
            </a:r>
            <a:endParaRPr lang="en-US" sz="1450" dirty="0"/>
          </a:p>
        </p:txBody>
      </p:sp>
      <p:sp>
        <p:nvSpPr>
          <p:cNvPr id="32" name="Text 30"/>
          <p:cNvSpPr/>
          <p:nvPr/>
        </p:nvSpPr>
        <p:spPr>
          <a:xfrm>
            <a:off x="4470288" y="4972955"/>
            <a:ext cx="3251119"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 Chicago</a:t>
            </a:r>
            <a:endParaRPr lang="en-US" sz="1900" dirty="0"/>
          </a:p>
        </p:txBody>
      </p:sp>
      <p:sp>
        <p:nvSpPr>
          <p:cNvPr id="33" name="Text 31"/>
          <p:cNvSpPr/>
          <p:nvPr/>
        </p:nvSpPr>
        <p:spPr>
          <a:xfrm>
            <a:off x="4470288" y="5377438"/>
            <a:ext cx="3251119"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Incorpora variaciones del contrato cercano de Chicago y la base diferencial Rosario–Chicago.</a:t>
            </a:r>
            <a:endParaRPr lang="en-US" sz="1500" dirty="0"/>
          </a:p>
        </p:txBody>
      </p:sp>
      <p:sp>
        <p:nvSpPr>
          <p:cNvPr id="34" name="Shape 32"/>
          <p:cNvSpPr/>
          <p:nvPr/>
        </p:nvSpPr>
        <p:spPr>
          <a:xfrm>
            <a:off x="8026199" y="4529733"/>
            <a:ext cx="3555911" cy="1700907"/>
          </a:xfrm>
          <a:prstGeom prst="roundRect">
            <a:avLst>
              <a:gd name="adj" fmla="val 672"/>
            </a:avLst>
          </a:prstGeom>
          <a:solidFill>
            <a:srgbClr val="F8F9F5"/>
          </a:solidFill>
          <a:ln/>
        </p:spPr>
        <p:txBody>
          <a:bodyPr/>
          <a:lstStyle/>
          <a:p>
            <a:endParaRPr lang="es-AR"/>
          </a:p>
        </p:txBody>
      </p:sp>
      <p:sp>
        <p:nvSpPr>
          <p:cNvPr id="35" name="Text 33"/>
          <p:cNvSpPr/>
          <p:nvPr/>
        </p:nvSpPr>
        <p:spPr>
          <a:xfrm>
            <a:off x="8178595" y="4691155"/>
            <a:ext cx="3403515"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CONJUNTO 3</a:t>
            </a:r>
            <a:endParaRPr lang="en-US" sz="1450" dirty="0"/>
          </a:p>
        </p:txBody>
      </p:sp>
      <p:sp>
        <p:nvSpPr>
          <p:cNvPr id="36" name="Text 34"/>
          <p:cNvSpPr/>
          <p:nvPr/>
        </p:nvSpPr>
        <p:spPr>
          <a:xfrm>
            <a:off x="8178595" y="4972955"/>
            <a:ext cx="3251119"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 Clima Corn Belt</a:t>
            </a:r>
            <a:endParaRPr lang="en-US" sz="1900" dirty="0"/>
          </a:p>
        </p:txBody>
      </p:sp>
      <p:sp>
        <p:nvSpPr>
          <p:cNvPr id="37" name="Text 35"/>
          <p:cNvSpPr/>
          <p:nvPr/>
        </p:nvSpPr>
        <p:spPr>
          <a:xfrm>
            <a:off x="8178595" y="5377438"/>
            <a:ext cx="3251119"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Suma anomalías acumuladas de precipitación con mayor ponderación en junio–agosto.</a:t>
            </a:r>
            <a:endParaRPr lang="en-US" sz="1500" dirty="0"/>
          </a:p>
        </p:txBody>
      </p:sp>
      <p:sp>
        <p:nvSpPr>
          <p:cNvPr id="38" name="Text 36"/>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39" name="Text 37"/>
          <p:cNvSpPr/>
          <p:nvPr/>
        </p:nvSpPr>
        <p:spPr>
          <a:xfrm>
            <a:off x="11465630" y="6581676"/>
            <a:ext cx="726065"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7018"/>
            <a:ext cx="11582110" cy="205680"/>
          </a:xfrm>
          <a:prstGeom prst="rect">
            <a:avLst/>
          </a:prstGeom>
          <a:noFill/>
          <a:ln/>
        </p:spPr>
        <p:txBody>
          <a:bodyPr wrap="none" lIns="0" tIns="0" rIns="0" bIns="0" rtlCol="0" anchor="t"/>
          <a:lstStyle/>
          <a:p>
            <a:pPr marL="0" indent="0" algn="l">
              <a:lnSpc>
                <a:spcPct val="98000"/>
              </a:lnSpc>
              <a:buNone/>
            </a:pPr>
            <a:r>
              <a:rPr lang="en-US" sz="1350" kern="100" spc="82" dirty="0">
                <a:solidFill>
                  <a:srgbClr val="142E3A"/>
                </a:solidFill>
                <a:latin typeface="JetBrains Mono Medium" pitchFamily="34" charset="0"/>
                <a:ea typeface="JetBrains Mono Medium" pitchFamily="34" charset="-122"/>
                <a:cs typeface="JetBrains Mono Medium" pitchFamily="34" charset="0"/>
              </a:rPr>
              <a:t>RESULTADOS</a:t>
            </a:r>
            <a:endParaRPr lang="en-US" sz="1350" dirty="0"/>
          </a:p>
        </p:txBody>
      </p:sp>
      <p:sp>
        <p:nvSpPr>
          <p:cNvPr id="3" name="Text 1"/>
          <p:cNvSpPr/>
          <p:nvPr/>
        </p:nvSpPr>
        <p:spPr>
          <a:xfrm>
            <a:off x="609585" y="896801"/>
            <a:ext cx="10972526" cy="726877"/>
          </a:xfrm>
          <a:prstGeom prst="rect">
            <a:avLst/>
          </a:prstGeom>
          <a:noFill/>
          <a:ln/>
        </p:spPr>
        <p:txBody>
          <a:bodyPr wrap="square" lIns="0" tIns="0" rIns="0" bIns="0" rtlCol="0" anchor="t">
            <a:normAutofit lnSpcReduction="10000"/>
          </a:bodyPr>
          <a:lstStyle/>
          <a:p>
            <a:pPr marL="0" indent="0" algn="l">
              <a:lnSpc>
                <a:spcPct val="90000"/>
              </a:lnSpc>
              <a:buNone/>
            </a:pPr>
            <a:r>
              <a:rPr lang="en-US" sz="2650" b="1" kern="100" spc="-21" dirty="0">
                <a:solidFill>
                  <a:srgbClr val="142E3A"/>
                </a:solidFill>
                <a:latin typeface="Public Sans Bold" pitchFamily="34" charset="0"/>
                <a:ea typeface="Public Sans Bold" pitchFamily="34" charset="-122"/>
                <a:cs typeface="Public Sans Bold" pitchFamily="34" charset="0"/>
              </a:rPr>
              <a:t>Ningún modelo supera significativamente la referencia de precio constante</a:t>
            </a:r>
            <a:endParaRPr lang="en-US" sz="2650" dirty="0"/>
          </a:p>
        </p:txBody>
      </p:sp>
      <p:sp>
        <p:nvSpPr>
          <p:cNvPr id="4" name="Text 2"/>
          <p:cNvSpPr/>
          <p:nvPr/>
        </p:nvSpPr>
        <p:spPr>
          <a:xfrm>
            <a:off x="609585" y="1762435"/>
            <a:ext cx="11582110" cy="238423"/>
          </a:xfrm>
          <a:prstGeom prst="rect">
            <a:avLst/>
          </a:prstGeom>
          <a:noFill/>
          <a:ln/>
        </p:spPr>
        <p:txBody>
          <a:bodyPr wrap="none" lIns="0" tIns="0" rIns="0" bIns="0" rtlCol="0" anchor="t"/>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Puntaje R² frente a precio constante: 0 = empate. Valores positivos = mejora.</a:t>
            </a:r>
            <a:endParaRPr lang="en-US" sz="1500" dirty="0"/>
          </a:p>
        </p:txBody>
      </p:sp>
      <p:sp>
        <p:nvSpPr>
          <p:cNvPr id="6" name="Text 3"/>
          <p:cNvSpPr/>
          <p:nvPr/>
        </p:nvSpPr>
        <p:spPr>
          <a:xfrm>
            <a:off x="609585" y="6247475"/>
            <a:ext cx="6400640" cy="447080"/>
          </a:xfrm>
          <a:prstGeom prst="rect">
            <a:avLst/>
          </a:prstGeom>
          <a:noFill/>
          <a:ln/>
        </p:spPr>
        <p:txBody>
          <a:bodyPr wrap="square" lIns="0" tIns="0" rIns="0" bIns="0" rtlCol="0" anchor="t">
            <a:normAutofit/>
          </a:bodyPr>
          <a:lstStyle/>
          <a:p>
            <a:pPr marL="0" indent="0" algn="l">
              <a:lnSpc>
                <a:spcPct val="103000"/>
              </a:lnSpc>
              <a:buNone/>
            </a:pPr>
            <a:r>
              <a:rPr lang="en-US" sz="1050" dirty="0">
                <a:solidFill>
                  <a:srgbClr val="5E6B70"/>
                </a:solidFill>
                <a:latin typeface="Public Sans" pitchFamily="34" charset="0"/>
                <a:ea typeface="Public Sans" pitchFamily="34" charset="-122"/>
                <a:cs typeface="Public Sans" pitchFamily="34" charset="0"/>
              </a:rPr>
              <a:t>Fuente: Notebook 2b. Prueba ene. 2025–sep. 2026. Test de Diebold–Mariano.</a:t>
            </a:r>
            <a:endParaRPr lang="en-US" sz="1050" dirty="0"/>
          </a:p>
        </p:txBody>
      </p:sp>
      <p:sp>
        <p:nvSpPr>
          <p:cNvPr id="7" name="Shape 4"/>
          <p:cNvSpPr/>
          <p:nvPr/>
        </p:nvSpPr>
        <p:spPr>
          <a:xfrm>
            <a:off x="7314918" y="2130227"/>
            <a:ext cx="4267192" cy="4782145"/>
          </a:xfrm>
          <a:prstGeom prst="roundRect">
            <a:avLst>
              <a:gd name="adj" fmla="val 268"/>
            </a:avLst>
          </a:prstGeom>
          <a:solidFill>
            <a:srgbClr val="F8F9F5"/>
          </a:solidFill>
          <a:ln/>
        </p:spPr>
        <p:txBody>
          <a:bodyPr/>
          <a:lstStyle/>
          <a:p>
            <a:endParaRPr lang="es-AR"/>
          </a:p>
        </p:txBody>
      </p:sp>
      <p:sp>
        <p:nvSpPr>
          <p:cNvPr id="11" name="Text 8"/>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5" name="Text 9"/>
          <p:cNvSpPr/>
          <p:nvPr/>
        </p:nvSpPr>
        <p:spPr>
          <a:xfrm>
            <a:off x="11489045" y="6581676"/>
            <a:ext cx="702650"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11</a:t>
            </a:r>
            <a:endParaRPr lang="en-US" sz="900" dirty="0"/>
          </a:p>
        </p:txBody>
      </p:sp>
      <p:graphicFrame>
        <p:nvGraphicFramePr>
          <p:cNvPr id="14" name="Tabla 13">
            <a:extLst>
              <a:ext uri="{FF2B5EF4-FFF2-40B4-BE49-F238E27FC236}">
                <a16:creationId xmlns:a16="http://schemas.microsoft.com/office/drawing/2014/main" id="{25F19CE9-72CF-45EA-7BA8-6BEAE869D5F3}"/>
              </a:ext>
            </a:extLst>
          </p:cNvPr>
          <p:cNvGraphicFramePr/>
          <p:nvPr/>
        </p:nvGraphicFramePr>
        <p:xfrm>
          <a:off x="609600" y="2390775"/>
          <a:ext cx="7143750" cy="3257550"/>
        </p:xfrm>
        <a:graphic>
          <a:graphicData uri="http://schemas.openxmlformats.org/drawingml/2006/table">
            <a:tbl>
              <a:tblPr/>
              <a:tblGrid>
                <a:gridCol w="285750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95300">
                <a:tc>
                  <a:txBody>
                    <a:bodyPr/>
                    <a:lstStyle/>
                    <a:p>
                      <a:pPr algn="l">
                        <a:lnSpc>
                          <a:spcPct val="108000"/>
                        </a:lnSpc>
                        <a:buNone/>
                      </a:pPr>
                      <a:r>
                        <a:rPr sz="1500" b="1">
                          <a:solidFill>
                            <a:srgbClr val="FFFFFF"/>
                          </a:solidFill>
                          <a:latin typeface="Rubik"/>
                          <a:ea typeface="Rubik"/>
                          <a:cs typeface="Rubik"/>
                        </a:rPr>
                        <a:t>Modelo</a:t>
                      </a:r>
                    </a:p>
                  </a:txBody>
                  <a:tcPr anchor="ctr">
                    <a:lnL w="14288">
                      <a:solidFill>
                        <a:srgbClr val="F8F9F5"/>
                      </a:solidFill>
                      <a:prstDash val="soli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30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60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90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extLst>
                  <a:ext uri="{0D108BD9-81ED-4DB2-BD59-A6C34878D82A}">
                    <a16:rowId xmlns:a16="http://schemas.microsoft.com/office/drawing/2014/main" val="10000"/>
                  </a:ext>
                </a:extLst>
              </a:tr>
              <a:tr h="552450">
                <a:tc>
                  <a:txBody>
                    <a:bodyPr/>
                    <a:lstStyle/>
                    <a:p>
                      <a:pPr algn="l">
                        <a:lnSpc>
                          <a:spcPct val="108000"/>
                        </a:lnSpc>
                        <a:buNone/>
                      </a:pPr>
                      <a:r>
                        <a:rPr sz="1725" b="1">
                          <a:solidFill>
                            <a:srgbClr val="142E3A"/>
                          </a:solidFill>
                          <a:latin typeface="Rubik"/>
                          <a:ea typeface="Rubik"/>
                          <a:cs typeface="Rubik"/>
                        </a:rPr>
                        <a:t>ARIMAX</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FFFFF"/>
                    </a:solidFill>
                  </a:tcPr>
                </a:tc>
                <a:tc>
                  <a:txBody>
                    <a:bodyPr/>
                    <a:lstStyle/>
                    <a:p>
                      <a:pPr algn="ctr">
                        <a:lnSpc>
                          <a:spcPct val="108000"/>
                        </a:lnSpc>
                        <a:buNone/>
                      </a:pPr>
                      <a:r>
                        <a:rPr sz="1725" b="1">
                          <a:solidFill>
                            <a:srgbClr val="974D48"/>
                          </a:solidFill>
                          <a:latin typeface="Rubik"/>
                          <a:ea typeface="Rubik"/>
                          <a:cs typeface="Rubik"/>
                        </a:rPr>
                        <a:t>−0,06</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1">
                          <a:solidFill>
                            <a:srgbClr val="086C55"/>
                          </a:solidFill>
                          <a:latin typeface="Rubik"/>
                          <a:ea typeface="Rubik"/>
                          <a:cs typeface="Rubik"/>
                        </a:rPr>
                        <a:t>+0,02</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CAE9DB"/>
                    </a:solidFill>
                  </a:tcPr>
                </a:tc>
                <a:tc>
                  <a:txBody>
                    <a:bodyPr/>
                    <a:lstStyle/>
                    <a:p>
                      <a:pPr algn="ctr">
                        <a:lnSpc>
                          <a:spcPct val="108000"/>
                        </a:lnSpc>
                        <a:buNone/>
                      </a:pPr>
                      <a:r>
                        <a:rPr sz="1725" b="1">
                          <a:solidFill>
                            <a:srgbClr val="086C55"/>
                          </a:solidFill>
                          <a:latin typeface="Rubik"/>
                          <a:ea typeface="Rubik"/>
                          <a:cs typeface="Rubik"/>
                        </a:rPr>
                        <a:t>+0,04</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CAE9DB"/>
                    </a:solidFill>
                  </a:tcPr>
                </a:tc>
                <a:extLst>
                  <a:ext uri="{0D108BD9-81ED-4DB2-BD59-A6C34878D82A}">
                    <a16:rowId xmlns:a16="http://schemas.microsoft.com/office/drawing/2014/main" val="10001"/>
                  </a:ext>
                </a:extLst>
              </a:tr>
              <a:tr h="552450">
                <a:tc>
                  <a:txBody>
                    <a:bodyPr/>
                    <a:lstStyle/>
                    <a:p>
                      <a:pPr algn="l">
                        <a:lnSpc>
                          <a:spcPct val="108000"/>
                        </a:lnSpc>
                        <a:buNone/>
                      </a:pPr>
                      <a:r>
                        <a:rPr sz="1725" b="1">
                          <a:solidFill>
                            <a:srgbClr val="142E3A"/>
                          </a:solidFill>
                          <a:latin typeface="Rubik"/>
                          <a:ea typeface="Rubik"/>
                          <a:cs typeface="Rubik"/>
                        </a:rPr>
                        <a:t>ARIMA (solo precio)</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EFF3EF"/>
                    </a:solidFill>
                  </a:tcPr>
                </a:tc>
                <a:tc>
                  <a:txBody>
                    <a:bodyPr/>
                    <a:lstStyle/>
                    <a:p>
                      <a:pPr algn="ctr">
                        <a:lnSpc>
                          <a:spcPct val="108000"/>
                        </a:lnSpc>
                        <a:buNone/>
                      </a:pPr>
                      <a:r>
                        <a:rPr sz="1725" b="0">
                          <a:solidFill>
                            <a:srgbClr val="974D48"/>
                          </a:solidFill>
                          <a:latin typeface="Rubik"/>
                          <a:ea typeface="Rubik"/>
                          <a:cs typeface="Rubik"/>
                        </a:rPr>
                        <a:t>−0,03</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0">
                          <a:solidFill>
                            <a:srgbClr val="142E3A"/>
                          </a:solidFill>
                          <a:latin typeface="Rubik"/>
                          <a:ea typeface="Rubik"/>
                          <a:cs typeface="Rubik"/>
                        </a:rPr>
                        <a:t>0,00</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EFF3EF"/>
                    </a:solidFill>
                  </a:tcPr>
                </a:tc>
                <a:tc>
                  <a:txBody>
                    <a:bodyPr/>
                    <a:lstStyle/>
                    <a:p>
                      <a:pPr algn="ctr">
                        <a:lnSpc>
                          <a:spcPct val="108000"/>
                        </a:lnSpc>
                        <a:buNone/>
                      </a:pPr>
                      <a:r>
                        <a:rPr sz="1725" b="0">
                          <a:solidFill>
                            <a:srgbClr val="974D48"/>
                          </a:solidFill>
                          <a:latin typeface="Rubik"/>
                          <a:ea typeface="Rubik"/>
                          <a:cs typeface="Rubik"/>
                        </a:rPr>
                        <a:t>−0,01</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2"/>
                  </a:ext>
                </a:extLst>
              </a:tr>
              <a:tr h="552450">
                <a:tc>
                  <a:txBody>
                    <a:bodyPr/>
                    <a:lstStyle/>
                    <a:p>
                      <a:pPr algn="l">
                        <a:lnSpc>
                          <a:spcPct val="108000"/>
                        </a:lnSpc>
                        <a:buNone/>
                      </a:pPr>
                      <a:r>
                        <a:rPr sz="1725" b="1">
                          <a:solidFill>
                            <a:srgbClr val="142E3A"/>
                          </a:solidFill>
                          <a:latin typeface="Rubik"/>
                          <a:ea typeface="Rubik"/>
                          <a:cs typeface="Rubik"/>
                        </a:rPr>
                        <a:t>ElasticNet</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FFFFF"/>
                    </a:solidFill>
                  </a:tcPr>
                </a:tc>
                <a:tc>
                  <a:txBody>
                    <a:bodyPr/>
                    <a:lstStyle/>
                    <a:p>
                      <a:pPr algn="ctr">
                        <a:lnSpc>
                          <a:spcPct val="108000"/>
                        </a:lnSpc>
                        <a:buNone/>
                      </a:pPr>
                      <a:r>
                        <a:rPr sz="1725" b="0">
                          <a:solidFill>
                            <a:srgbClr val="974D48"/>
                          </a:solidFill>
                          <a:latin typeface="Rubik"/>
                          <a:ea typeface="Rubik"/>
                          <a:cs typeface="Rubik"/>
                        </a:rPr>
                        <a:t>−0,07</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0">
                          <a:solidFill>
                            <a:srgbClr val="974D48"/>
                          </a:solidFill>
                          <a:latin typeface="Rubik"/>
                          <a:ea typeface="Rubik"/>
                          <a:cs typeface="Rubik"/>
                        </a:rPr>
                        <a:t>−0,11</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0">
                          <a:solidFill>
                            <a:srgbClr val="974D48"/>
                          </a:solidFill>
                          <a:latin typeface="Rubik"/>
                          <a:ea typeface="Rubik"/>
                          <a:cs typeface="Rubik"/>
                        </a:rPr>
                        <a:t>−0,12</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3"/>
                  </a:ext>
                </a:extLst>
              </a:tr>
              <a:tr h="552450">
                <a:tc>
                  <a:txBody>
                    <a:bodyPr/>
                    <a:lstStyle/>
                    <a:p>
                      <a:pPr algn="l">
                        <a:lnSpc>
                          <a:spcPct val="108000"/>
                        </a:lnSpc>
                        <a:buNone/>
                      </a:pPr>
                      <a:r>
                        <a:rPr sz="1725" b="1">
                          <a:solidFill>
                            <a:srgbClr val="142E3A"/>
                          </a:solidFill>
                          <a:latin typeface="Rubik"/>
                          <a:ea typeface="Rubik"/>
                          <a:cs typeface="Rubik"/>
                        </a:rPr>
                        <a:t>Tendencia</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EFF3EF"/>
                    </a:solidFill>
                  </a:tcPr>
                </a:tc>
                <a:tc>
                  <a:txBody>
                    <a:bodyPr/>
                    <a:lstStyle/>
                    <a:p>
                      <a:pPr algn="ctr">
                        <a:lnSpc>
                          <a:spcPct val="108000"/>
                        </a:lnSpc>
                        <a:buNone/>
                      </a:pPr>
                      <a:r>
                        <a:rPr sz="1725" b="0">
                          <a:solidFill>
                            <a:srgbClr val="974D48"/>
                          </a:solidFill>
                          <a:latin typeface="Rubik"/>
                          <a:ea typeface="Rubik"/>
                          <a:cs typeface="Rubik"/>
                        </a:rPr>
                        <a:t>−0,09</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0">
                          <a:solidFill>
                            <a:srgbClr val="974D48"/>
                          </a:solidFill>
                          <a:latin typeface="Rubik"/>
                          <a:ea typeface="Rubik"/>
                          <a:cs typeface="Rubik"/>
                        </a:rPr>
                        <a:t>−0,17</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0">
                          <a:solidFill>
                            <a:srgbClr val="974D48"/>
                          </a:solidFill>
                          <a:latin typeface="Rubik"/>
                          <a:ea typeface="Rubik"/>
                          <a:cs typeface="Rubik"/>
                        </a:rPr>
                        <a:t>−0,22</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4"/>
                  </a:ext>
                </a:extLst>
              </a:tr>
              <a:tr h="552450">
                <a:tc>
                  <a:txBody>
                    <a:bodyPr/>
                    <a:lstStyle/>
                    <a:p>
                      <a:pPr algn="l">
                        <a:lnSpc>
                          <a:spcPct val="108000"/>
                        </a:lnSpc>
                        <a:buNone/>
                      </a:pPr>
                      <a:r>
                        <a:rPr sz="1725" b="1">
                          <a:solidFill>
                            <a:srgbClr val="142E3A"/>
                          </a:solidFill>
                          <a:latin typeface="Rubik"/>
                          <a:ea typeface="Rubik"/>
                          <a:cs typeface="Rubik"/>
                        </a:rPr>
                        <a:t>XGBoost</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FFFFF"/>
                    </a:solidFill>
                  </a:tcPr>
                </a:tc>
                <a:tc>
                  <a:txBody>
                    <a:bodyPr/>
                    <a:lstStyle/>
                    <a:p>
                      <a:pPr algn="ctr">
                        <a:lnSpc>
                          <a:spcPct val="108000"/>
                        </a:lnSpc>
                        <a:buNone/>
                      </a:pPr>
                      <a:r>
                        <a:rPr sz="1725" b="0">
                          <a:solidFill>
                            <a:srgbClr val="974D48"/>
                          </a:solidFill>
                          <a:latin typeface="Rubik"/>
                          <a:ea typeface="Rubik"/>
                          <a:cs typeface="Rubik"/>
                        </a:rPr>
                        <a:t>−0,21</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0">
                          <a:solidFill>
                            <a:srgbClr val="974D48"/>
                          </a:solidFill>
                          <a:latin typeface="Rubik"/>
                          <a:ea typeface="Rubik"/>
                          <a:cs typeface="Rubik"/>
                        </a:rPr>
                        <a:t>−0,43</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725" b="0" dirty="0">
                          <a:solidFill>
                            <a:srgbClr val="974D48"/>
                          </a:solidFill>
                          <a:latin typeface="Rubik"/>
                          <a:ea typeface="Rubik"/>
                          <a:cs typeface="Rubik"/>
                        </a:rPr>
                        <a:t>−0,15</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5"/>
                  </a:ext>
                </a:extLst>
              </a:tr>
            </a:tbl>
          </a:graphicData>
        </a:graphic>
      </p:graphicFrame>
      <p:sp>
        <p:nvSpPr>
          <p:cNvPr id="16" name="Shape 27">
            <a:extLst>
              <a:ext uri="{FF2B5EF4-FFF2-40B4-BE49-F238E27FC236}">
                <a16:creationId xmlns:a16="http://schemas.microsoft.com/office/drawing/2014/main" id="{B744E3A3-278D-DD16-2E04-5125BD96F2E6}"/>
              </a:ext>
            </a:extLst>
          </p:cNvPr>
          <p:cNvSpPr/>
          <p:nvPr/>
        </p:nvSpPr>
        <p:spPr>
          <a:xfrm>
            <a:off x="8258175" y="2713930"/>
            <a:ext cx="3314700" cy="2458442"/>
          </a:xfrm>
          <a:prstGeom prst="roundRect">
            <a:avLst>
              <a:gd name="adj" fmla="val 4133"/>
            </a:avLst>
          </a:prstGeom>
          <a:solidFill>
            <a:srgbClr val="E3F2EE"/>
          </a:solidFill>
          <a:ln/>
        </p:spPr>
        <p:txBody>
          <a:bodyPr/>
          <a:lstStyle/>
          <a:p>
            <a:endParaRPr lang="es-AR"/>
          </a:p>
        </p:txBody>
      </p:sp>
      <p:sp>
        <p:nvSpPr>
          <p:cNvPr id="18" name="Shape 27">
            <a:extLst>
              <a:ext uri="{FF2B5EF4-FFF2-40B4-BE49-F238E27FC236}">
                <a16:creationId xmlns:a16="http://schemas.microsoft.com/office/drawing/2014/main" id="{8B3A97BE-AA43-9523-48E9-0A7BA8D57886}"/>
              </a:ext>
            </a:extLst>
          </p:cNvPr>
          <p:cNvSpPr/>
          <p:nvPr/>
        </p:nvSpPr>
        <p:spPr>
          <a:xfrm>
            <a:off x="8258175" y="2713930"/>
            <a:ext cx="3314700" cy="2458442"/>
          </a:xfrm>
          <a:prstGeom prst="roundRect">
            <a:avLst>
              <a:gd name="adj" fmla="val 4133"/>
            </a:avLst>
          </a:prstGeom>
          <a:solidFill>
            <a:srgbClr val="E3F2EE"/>
          </a:solidFill>
          <a:ln/>
        </p:spPr>
        <p:txBody>
          <a:bodyPr/>
          <a:lstStyle/>
          <a:p>
            <a:endParaRPr lang="es-AR"/>
          </a:p>
        </p:txBody>
      </p:sp>
      <p:pic>
        <p:nvPicPr>
          <p:cNvPr id="20" name="Image 0" descr="Warning">
            <a:extLst>
              <a:ext uri="{FF2B5EF4-FFF2-40B4-BE49-F238E27FC236}">
                <a16:creationId xmlns:a16="http://schemas.microsoft.com/office/drawing/2014/main" id="{00A098E1-D723-250F-ED10-497E636BF78D}"/>
              </a:ext>
            </a:extLst>
          </p:cNvPr>
          <p:cNvPicPr>
            <a:picLocks noChangeAspect="1"/>
          </p:cNvPicPr>
          <p:nvPr/>
        </p:nvPicPr>
        <p:blipFill>
          <a:blip r:embed="rId3"/>
          <a:srcRect/>
          <a:stretch/>
        </p:blipFill>
        <p:spPr>
          <a:xfrm>
            <a:off x="8461375" y="2947874"/>
            <a:ext cx="355600" cy="355600"/>
          </a:xfrm>
          <a:prstGeom prst="rect">
            <a:avLst/>
          </a:prstGeom>
        </p:spPr>
      </p:pic>
      <p:sp>
        <p:nvSpPr>
          <p:cNvPr id="22" name="Text 28">
            <a:extLst>
              <a:ext uri="{FF2B5EF4-FFF2-40B4-BE49-F238E27FC236}">
                <a16:creationId xmlns:a16="http://schemas.microsoft.com/office/drawing/2014/main" id="{16F94D0E-4229-9F09-F5C8-6CEABCA0EA60}"/>
              </a:ext>
            </a:extLst>
          </p:cNvPr>
          <p:cNvSpPr/>
          <p:nvPr/>
        </p:nvSpPr>
        <p:spPr>
          <a:xfrm>
            <a:off x="8461375" y="3399730"/>
            <a:ext cx="2995549" cy="487561"/>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05F56"/>
                </a:solidFill>
                <a:latin typeface="Montserrat" pitchFamily="34" charset="0"/>
                <a:ea typeface="Montserrat" pitchFamily="34" charset="-122"/>
                <a:cs typeface="Montserrat" pitchFamily="34" charset="-120"/>
              </a:rPr>
              <a:t>Ninguna mejora es estadísticamente significativa</a:t>
            </a:r>
            <a:endParaRPr lang="en-US" sz="1400" dirty="0"/>
          </a:p>
        </p:txBody>
      </p:sp>
      <p:sp>
        <p:nvSpPr>
          <p:cNvPr id="24" name="Text 29">
            <a:extLst>
              <a:ext uri="{FF2B5EF4-FFF2-40B4-BE49-F238E27FC236}">
                <a16:creationId xmlns:a16="http://schemas.microsoft.com/office/drawing/2014/main" id="{3237B6C8-9A6D-4D8D-9AD3-EC11063C0C0C}"/>
              </a:ext>
            </a:extLst>
          </p:cNvPr>
          <p:cNvSpPr/>
          <p:nvPr/>
        </p:nvSpPr>
        <p:spPr>
          <a:xfrm>
            <a:off x="8461375" y="3988891"/>
            <a:ext cx="299554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nter" pitchFamily="34" charset="0"/>
                <a:ea typeface="Inter" pitchFamily="34" charset="-122"/>
                <a:cs typeface="Inter" pitchFamily="34" charset="-120"/>
              </a:rPr>
              <a:t>Error a 90 días: ARIMAX 16,8 USD/t vs. 17,2 de “el precio no cambia”</a:t>
            </a:r>
            <a:endParaRPr lang="en-US" sz="1200" dirty="0"/>
          </a:p>
        </p:txBody>
      </p:sp>
      <p:sp>
        <p:nvSpPr>
          <p:cNvPr id="26" name="Text 30">
            <a:extLst>
              <a:ext uri="{FF2B5EF4-FFF2-40B4-BE49-F238E27FC236}">
                <a16:creationId xmlns:a16="http://schemas.microsoft.com/office/drawing/2014/main" id="{50403B81-67B3-9F08-DF10-625EAD6BAF1B}"/>
              </a:ext>
            </a:extLst>
          </p:cNvPr>
          <p:cNvSpPr/>
          <p:nvPr/>
        </p:nvSpPr>
        <p:spPr>
          <a:xfrm>
            <a:off x="8461375" y="4542531"/>
            <a:ext cx="299554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nter" pitchFamily="34" charset="0"/>
                <a:ea typeface="Inter" pitchFamily="34" charset="-122"/>
                <a:cs typeface="Inter" pitchFamily="34" charset="-120"/>
              </a:rPr>
              <a:t>Mejor caso: soja a 90 días con ARIMAX, +0,09 (25,4 vs. 26,6 USD/t)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195">
            <a:extLst>
              <a:ext uri="{FF2B5EF4-FFF2-40B4-BE49-F238E27FC236}">
                <a16:creationId xmlns:a16="http://schemas.microsoft.com/office/drawing/2014/main" id="{2CE12BBB-F0E0-4DDB-A5E4-44C4A8EBFA5A}"/>
              </a:ext>
            </a:extLst>
          </p:cNvPr>
          <p:cNvSpPr>
            <a:spLocks noGrp="1"/>
          </p:cNvSpPr>
          <p:nvPr/>
        </p:nvSpPr>
        <p:spPr>
          <a:xfrm>
            <a:off x="609600" y="6477000"/>
            <a:ext cx="10287000" cy="209550"/>
          </a:xfrm>
          <a:prstGeom prst="rect">
            <a:avLst/>
          </a:prstGeom>
          <a:noFill/>
          <a:ln w="0">
            <a:noFill/>
            <a:prstDash val="solid"/>
          </a:ln>
        </p:spPr>
        <p:txBody>
          <a:bodyPr wrap="square" lIns="0" tIns="0" rIns="0" bIns="0" anchor="t">
            <a:noAutofit/>
          </a:bodyPr>
          <a:lstStyle>
            <a:defPPr algn="l">
              <a:defRPr sz="1050" b="0">
                <a:solidFill>
                  <a:srgbClr val="6C7F84"/>
                </a:solidFill>
                <a:latin typeface="Rubik"/>
                <a:ea typeface="Rubik"/>
                <a:cs typeface="Rubik"/>
              </a:defRPr>
            </a:defPPr>
            <a:lvl1pPr algn="l">
              <a:defRPr sz="1050" b="0">
                <a:solidFill>
                  <a:srgbClr val="6C7F84"/>
                </a:solidFill>
                <a:latin typeface="Rubik"/>
                <a:ea typeface="Rubik"/>
                <a:cs typeface="Rubik"/>
              </a:defRPr>
            </a:lvl1pPr>
            <a:lvl2pPr algn="l">
              <a:defRPr sz="1050" b="0">
                <a:solidFill>
                  <a:srgbClr val="6C7F84"/>
                </a:solidFill>
                <a:latin typeface="Rubik"/>
                <a:ea typeface="Rubik"/>
                <a:cs typeface="Rubik"/>
              </a:defRPr>
            </a:lvl2pPr>
            <a:lvl3pPr algn="l">
              <a:defRPr sz="1050" b="0">
                <a:solidFill>
                  <a:srgbClr val="6C7F84"/>
                </a:solidFill>
                <a:latin typeface="Rubik"/>
                <a:ea typeface="Rubik"/>
                <a:cs typeface="Rubik"/>
              </a:defRPr>
            </a:lvl3pPr>
            <a:lvl4pPr algn="l">
              <a:defRPr sz="1050" b="0">
                <a:solidFill>
                  <a:srgbClr val="6C7F84"/>
                </a:solidFill>
                <a:latin typeface="Rubik"/>
                <a:ea typeface="Rubik"/>
                <a:cs typeface="Rubik"/>
              </a:defRPr>
            </a:lvl4pPr>
            <a:lvl5pPr algn="l">
              <a:defRPr sz="1050" b="0">
                <a:solidFill>
                  <a:srgbClr val="6C7F84"/>
                </a:solidFill>
                <a:latin typeface="Rubik"/>
                <a:ea typeface="Rubik"/>
                <a:cs typeface="Rubik"/>
              </a:defRPr>
            </a:lvl5pPr>
            <a:lvl6pPr algn="l">
              <a:defRPr sz="1050" b="0">
                <a:solidFill>
                  <a:srgbClr val="6C7F84"/>
                </a:solidFill>
                <a:latin typeface="Rubik"/>
                <a:ea typeface="Rubik"/>
                <a:cs typeface="Rubik"/>
              </a:defRPr>
            </a:lvl6pPr>
            <a:lvl7pPr algn="l">
              <a:defRPr sz="1050" b="0">
                <a:solidFill>
                  <a:srgbClr val="6C7F84"/>
                </a:solidFill>
                <a:latin typeface="Rubik"/>
                <a:ea typeface="Rubik"/>
                <a:cs typeface="Rubik"/>
              </a:defRPr>
            </a:lvl7pPr>
            <a:lvl8pPr algn="l">
              <a:defRPr sz="1050" b="0">
                <a:solidFill>
                  <a:srgbClr val="6C7F84"/>
                </a:solidFill>
                <a:latin typeface="Rubik"/>
                <a:ea typeface="Rubik"/>
                <a:cs typeface="Rubik"/>
              </a:defRPr>
            </a:lvl8pPr>
            <a:lvl9pPr algn="l">
              <a:defRPr sz="1050" b="0">
                <a:solidFill>
                  <a:srgbClr val="6C7F84"/>
                </a:solidFill>
                <a:latin typeface="Rubik"/>
                <a:ea typeface="Rubik"/>
                <a:cs typeface="Rubik"/>
              </a:defRPr>
            </a:lvl9pPr>
          </a:lstStyle>
          <a:p>
            <a:pPr algn="l">
              <a:lnSpc>
                <a:spcPct val="108000"/>
              </a:lnSpc>
              <a:buNone/>
              <a:defRPr sz="1050" b="0">
                <a:solidFill>
                  <a:srgbClr val="6C7F84"/>
                </a:solidFill>
                <a:latin typeface="Rubik"/>
                <a:ea typeface="Rubik"/>
                <a:cs typeface="Rubik"/>
              </a:defRPr>
            </a:pPr>
            <a:r>
              <a:rPr sz="1050" b="0">
                <a:solidFill>
                  <a:srgbClr val="6C7F84"/>
                </a:solidFill>
                <a:latin typeface="Rubik"/>
                <a:ea typeface="Rubik"/>
                <a:cs typeface="Rubik"/>
              </a:rPr>
              <a:t>Fuente: Notebook 2b. Resultados del experimento para los tres granos.</a:t>
            </a:r>
          </a:p>
        </p:txBody>
      </p:sp>
      <p:sp>
        <p:nvSpPr>
          <p:cNvPr id="4" name="text-196">
            <a:extLst>
              <a:ext uri="{FF2B5EF4-FFF2-40B4-BE49-F238E27FC236}">
                <a16:creationId xmlns:a16="http://schemas.microsoft.com/office/drawing/2014/main" id="{23D02A8C-70DF-4F22-B4E1-F0DDD1DAF2B7}"/>
              </a:ext>
            </a:extLst>
          </p:cNvPr>
          <p:cNvSpPr>
            <a:spLocks noGrp="1"/>
          </p:cNvSpPr>
          <p:nvPr/>
        </p:nvSpPr>
        <p:spPr>
          <a:xfrm>
            <a:off x="11049000" y="6448425"/>
            <a:ext cx="523875" cy="247650"/>
          </a:xfrm>
          <a:prstGeom prst="rect">
            <a:avLst/>
          </a:prstGeom>
          <a:noFill/>
          <a:ln w="0">
            <a:noFill/>
            <a:prstDash val="solid"/>
          </a:ln>
        </p:spPr>
        <p:txBody>
          <a:bodyPr wrap="square" lIns="0" tIns="0" rIns="0" bIns="0" anchor="t">
            <a:noAutofit/>
          </a:bodyPr>
          <a:lstStyle>
            <a:defPPr algn="r">
              <a:defRPr sz="1350" b="0">
                <a:solidFill>
                  <a:srgbClr val="6C7F84"/>
                </a:solidFill>
                <a:latin typeface="Rubik"/>
                <a:ea typeface="Rubik"/>
                <a:cs typeface="Rubik"/>
              </a:defRPr>
            </a:defPPr>
            <a:lvl1pPr algn="r">
              <a:defRPr sz="1350" b="0">
                <a:solidFill>
                  <a:srgbClr val="6C7F84"/>
                </a:solidFill>
                <a:latin typeface="Rubik"/>
                <a:ea typeface="Rubik"/>
                <a:cs typeface="Rubik"/>
              </a:defRPr>
            </a:lvl1pPr>
            <a:lvl2pPr algn="r">
              <a:defRPr sz="1350" b="0">
                <a:solidFill>
                  <a:srgbClr val="6C7F84"/>
                </a:solidFill>
                <a:latin typeface="Rubik"/>
                <a:ea typeface="Rubik"/>
                <a:cs typeface="Rubik"/>
              </a:defRPr>
            </a:lvl2pPr>
            <a:lvl3pPr algn="r">
              <a:defRPr sz="1350" b="0">
                <a:solidFill>
                  <a:srgbClr val="6C7F84"/>
                </a:solidFill>
                <a:latin typeface="Rubik"/>
                <a:ea typeface="Rubik"/>
                <a:cs typeface="Rubik"/>
              </a:defRPr>
            </a:lvl3pPr>
            <a:lvl4pPr algn="r">
              <a:defRPr sz="1350" b="0">
                <a:solidFill>
                  <a:srgbClr val="6C7F84"/>
                </a:solidFill>
                <a:latin typeface="Rubik"/>
                <a:ea typeface="Rubik"/>
                <a:cs typeface="Rubik"/>
              </a:defRPr>
            </a:lvl4pPr>
            <a:lvl5pPr algn="r">
              <a:defRPr sz="1350" b="0">
                <a:solidFill>
                  <a:srgbClr val="6C7F84"/>
                </a:solidFill>
                <a:latin typeface="Rubik"/>
                <a:ea typeface="Rubik"/>
                <a:cs typeface="Rubik"/>
              </a:defRPr>
            </a:lvl5pPr>
            <a:lvl6pPr algn="r">
              <a:defRPr sz="1350" b="0">
                <a:solidFill>
                  <a:srgbClr val="6C7F84"/>
                </a:solidFill>
                <a:latin typeface="Rubik"/>
                <a:ea typeface="Rubik"/>
                <a:cs typeface="Rubik"/>
              </a:defRPr>
            </a:lvl6pPr>
            <a:lvl7pPr algn="r">
              <a:defRPr sz="1350" b="0">
                <a:solidFill>
                  <a:srgbClr val="6C7F84"/>
                </a:solidFill>
                <a:latin typeface="Rubik"/>
                <a:ea typeface="Rubik"/>
                <a:cs typeface="Rubik"/>
              </a:defRPr>
            </a:lvl7pPr>
            <a:lvl8pPr algn="r">
              <a:defRPr sz="1350" b="0">
                <a:solidFill>
                  <a:srgbClr val="6C7F84"/>
                </a:solidFill>
                <a:latin typeface="Rubik"/>
                <a:ea typeface="Rubik"/>
                <a:cs typeface="Rubik"/>
              </a:defRPr>
            </a:lvl8pPr>
            <a:lvl9pPr algn="r">
              <a:defRPr sz="1350" b="0">
                <a:solidFill>
                  <a:srgbClr val="6C7F84"/>
                </a:solidFill>
                <a:latin typeface="Rubik"/>
                <a:ea typeface="Rubik"/>
                <a:cs typeface="Rubik"/>
              </a:defRPr>
            </a:lvl9pPr>
          </a:lstStyle>
          <a:p>
            <a:pPr algn="r">
              <a:lnSpc>
                <a:spcPct val="108000"/>
              </a:lnSpc>
              <a:buNone/>
              <a:defRPr sz="1350" b="0">
                <a:solidFill>
                  <a:srgbClr val="6C7F84"/>
                </a:solidFill>
                <a:latin typeface="Rubik"/>
                <a:ea typeface="Rubik"/>
                <a:cs typeface="Rubik"/>
              </a:defRPr>
            </a:pPr>
            <a:r>
              <a:rPr sz="1350" b="0">
                <a:solidFill>
                  <a:srgbClr val="6C7F84"/>
                </a:solidFill>
                <a:latin typeface="Rubik"/>
                <a:ea typeface="Rubik"/>
                <a:cs typeface="Rubik"/>
              </a:rPr>
              <a:t>13</a:t>
            </a:r>
          </a:p>
        </p:txBody>
      </p:sp>
      <p:sp>
        <p:nvSpPr>
          <p:cNvPr id="5" name="text-197">
            <a:extLst>
              <a:ext uri="{FF2B5EF4-FFF2-40B4-BE49-F238E27FC236}">
                <a16:creationId xmlns:a16="http://schemas.microsoft.com/office/drawing/2014/main" id="{56608C5D-207E-40FF-9881-7470417F7DC4}"/>
              </a:ext>
            </a:extLst>
          </p:cNvPr>
          <p:cNvSpPr>
            <a:spLocks noGrp="1"/>
          </p:cNvSpPr>
          <p:nvPr/>
        </p:nvSpPr>
        <p:spPr>
          <a:xfrm>
            <a:off x="609600" y="1790700"/>
            <a:ext cx="7048500" cy="276225"/>
          </a:xfrm>
          <a:prstGeom prst="rect">
            <a:avLst/>
          </a:prstGeom>
          <a:noFill/>
          <a:ln w="0">
            <a:noFill/>
            <a:prstDash val="solid"/>
          </a:ln>
        </p:spPr>
        <p:txBody>
          <a:bodyPr wrap="square" lIns="0" tIns="0" rIns="0" bIns="0" anchor="t">
            <a:noAutofit/>
          </a:bodyPr>
          <a:lstStyle>
            <a:defPPr algn="l">
              <a:defRPr sz="1425" b="1">
                <a:solidFill>
                  <a:srgbClr val="0A8574"/>
                </a:solidFill>
                <a:latin typeface="Rubik"/>
                <a:ea typeface="Rubik"/>
                <a:cs typeface="Rubik"/>
              </a:defRPr>
            </a:defPPr>
            <a:lvl1pPr algn="l">
              <a:defRPr sz="1425" b="1">
                <a:solidFill>
                  <a:srgbClr val="0A8574"/>
                </a:solidFill>
                <a:latin typeface="Rubik"/>
                <a:ea typeface="Rubik"/>
                <a:cs typeface="Rubik"/>
              </a:defRPr>
            </a:lvl1pPr>
            <a:lvl2pPr algn="l">
              <a:defRPr sz="1425" b="1">
                <a:solidFill>
                  <a:srgbClr val="0A8574"/>
                </a:solidFill>
                <a:latin typeface="Rubik"/>
                <a:ea typeface="Rubik"/>
                <a:cs typeface="Rubik"/>
              </a:defRPr>
            </a:lvl2pPr>
            <a:lvl3pPr algn="l">
              <a:defRPr sz="1425" b="1">
                <a:solidFill>
                  <a:srgbClr val="0A8574"/>
                </a:solidFill>
                <a:latin typeface="Rubik"/>
                <a:ea typeface="Rubik"/>
                <a:cs typeface="Rubik"/>
              </a:defRPr>
            </a:lvl3pPr>
            <a:lvl4pPr algn="l">
              <a:defRPr sz="1425" b="1">
                <a:solidFill>
                  <a:srgbClr val="0A8574"/>
                </a:solidFill>
                <a:latin typeface="Rubik"/>
                <a:ea typeface="Rubik"/>
                <a:cs typeface="Rubik"/>
              </a:defRPr>
            </a:lvl4pPr>
            <a:lvl5pPr algn="l">
              <a:defRPr sz="1425" b="1">
                <a:solidFill>
                  <a:srgbClr val="0A8574"/>
                </a:solidFill>
                <a:latin typeface="Rubik"/>
                <a:ea typeface="Rubik"/>
                <a:cs typeface="Rubik"/>
              </a:defRPr>
            </a:lvl5pPr>
            <a:lvl6pPr algn="l">
              <a:defRPr sz="1425" b="1">
                <a:solidFill>
                  <a:srgbClr val="0A8574"/>
                </a:solidFill>
                <a:latin typeface="Rubik"/>
                <a:ea typeface="Rubik"/>
                <a:cs typeface="Rubik"/>
              </a:defRPr>
            </a:lvl6pPr>
            <a:lvl7pPr algn="l">
              <a:defRPr sz="1425" b="1">
                <a:solidFill>
                  <a:srgbClr val="0A8574"/>
                </a:solidFill>
                <a:latin typeface="Rubik"/>
                <a:ea typeface="Rubik"/>
                <a:cs typeface="Rubik"/>
              </a:defRPr>
            </a:lvl7pPr>
            <a:lvl8pPr algn="l">
              <a:defRPr sz="1425" b="1">
                <a:solidFill>
                  <a:srgbClr val="0A8574"/>
                </a:solidFill>
                <a:latin typeface="Rubik"/>
                <a:ea typeface="Rubik"/>
                <a:cs typeface="Rubik"/>
              </a:defRPr>
            </a:lvl8pPr>
            <a:lvl9pPr algn="l">
              <a:defRPr sz="1425" b="1">
                <a:solidFill>
                  <a:srgbClr val="0A8574"/>
                </a:solidFill>
                <a:latin typeface="Rubik"/>
                <a:ea typeface="Rubik"/>
                <a:cs typeface="Rubik"/>
              </a:defRPr>
            </a:lvl9pPr>
          </a:lstStyle>
          <a:p>
            <a:pPr algn="l">
              <a:lnSpc>
                <a:spcPct val="108000"/>
              </a:lnSpc>
              <a:buNone/>
              <a:defRPr sz="1425" b="1">
                <a:solidFill>
                  <a:srgbClr val="0A8574"/>
                </a:solidFill>
                <a:latin typeface="Rubik"/>
                <a:ea typeface="Rubik"/>
                <a:cs typeface="Rubik"/>
              </a:defRPr>
            </a:pPr>
            <a:r>
              <a:rPr sz="1425" b="1" dirty="0">
                <a:solidFill>
                  <a:srgbClr val="0A8574"/>
                </a:solidFill>
                <a:latin typeface="Rubik"/>
                <a:ea typeface="Rubik"/>
                <a:cs typeface="Rubik"/>
              </a:rPr>
              <a:t>XGBOOST</a:t>
            </a:r>
          </a:p>
        </p:txBody>
      </p:sp>
      <p:graphicFrame>
        <p:nvGraphicFramePr>
          <p:cNvPr id="6" name="Tabla 5">
            <a:extLst>
              <a:ext uri="{FF2B5EF4-FFF2-40B4-BE49-F238E27FC236}">
                <a16:creationId xmlns:a16="http://schemas.microsoft.com/office/drawing/2014/main" id="{6014339F-41BF-490E-8220-E49ECE2EFAF7}"/>
              </a:ext>
            </a:extLst>
          </p:cNvPr>
          <p:cNvGraphicFramePr/>
          <p:nvPr>
            <p:extLst>
              <p:ext uri="{D42A27DB-BD31-4B8C-83A1-F6EECF244321}">
                <p14:modId xmlns:p14="http://schemas.microsoft.com/office/powerpoint/2010/main" val="2131125324"/>
              </p:ext>
            </p:extLst>
          </p:nvPr>
        </p:nvGraphicFramePr>
        <p:xfrm>
          <a:off x="609600" y="2133600"/>
          <a:ext cx="7067550" cy="2028825"/>
        </p:xfrm>
        <a:graphic>
          <a:graphicData uri="http://schemas.openxmlformats.org/drawingml/2006/table">
            <a:tbl>
              <a:tblPr/>
              <a:tblGrid>
                <a:gridCol w="292417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381125">
                  <a:extLst>
                    <a:ext uri="{9D8B030D-6E8A-4147-A177-3AD203B41FA5}">
                      <a16:colId xmlns:a16="http://schemas.microsoft.com/office/drawing/2014/main" val="20003"/>
                    </a:ext>
                  </a:extLst>
                </a:gridCol>
              </a:tblGrid>
              <a:tr h="457200">
                <a:tc>
                  <a:txBody>
                    <a:bodyPr/>
                    <a:lstStyle/>
                    <a:p>
                      <a:pPr algn="l">
                        <a:lnSpc>
                          <a:spcPct val="108000"/>
                        </a:lnSpc>
                        <a:buNone/>
                      </a:pPr>
                      <a:r>
                        <a:rPr sz="1500" b="1">
                          <a:solidFill>
                            <a:srgbClr val="FFFFFF"/>
                          </a:solidFill>
                          <a:latin typeface="Rubik"/>
                          <a:ea typeface="Rubik"/>
                          <a:cs typeface="Rubik"/>
                        </a:rPr>
                        <a:t>Variables</a:t>
                      </a:r>
                    </a:p>
                  </a:txBody>
                  <a:tcPr anchor="ctr">
                    <a:lnL w="14288">
                      <a:solidFill>
                        <a:srgbClr val="F8F9F5"/>
                      </a:solidFill>
                      <a:prstDash val="soli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30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60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90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extLst>
                  <a:ext uri="{0D108BD9-81ED-4DB2-BD59-A6C34878D82A}">
                    <a16:rowId xmlns:a16="http://schemas.microsoft.com/office/drawing/2014/main" val="10000"/>
                  </a:ext>
                </a:extLst>
              </a:tr>
              <a:tr h="523875">
                <a:tc>
                  <a:txBody>
                    <a:bodyPr/>
                    <a:lstStyle/>
                    <a:p>
                      <a:pPr algn="l">
                        <a:lnSpc>
                          <a:spcPct val="108000"/>
                        </a:lnSpc>
                        <a:buNone/>
                      </a:pPr>
                      <a:r>
                        <a:rPr sz="1650" b="1">
                          <a:solidFill>
                            <a:srgbClr val="142E3A"/>
                          </a:solidFill>
                          <a:latin typeface="Rubik"/>
                          <a:ea typeface="Rubik"/>
                          <a:cs typeface="Rubik"/>
                        </a:rPr>
                        <a:t>Solo precio</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FFFFF"/>
                    </a:solidFill>
                  </a:tcPr>
                </a:tc>
                <a:tc>
                  <a:txBody>
                    <a:bodyPr/>
                    <a:lstStyle/>
                    <a:p>
                      <a:pPr algn="ctr">
                        <a:lnSpc>
                          <a:spcPct val="108000"/>
                        </a:lnSpc>
                        <a:buNone/>
                      </a:pPr>
                      <a:r>
                        <a:rPr sz="1650" b="0">
                          <a:solidFill>
                            <a:srgbClr val="974D48"/>
                          </a:solidFill>
                          <a:latin typeface="Rubik"/>
                          <a:ea typeface="Rubik"/>
                          <a:cs typeface="Rubik"/>
                        </a:rPr>
                        <a:t>−0,31</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a:solidFill>
                            <a:srgbClr val="974D48"/>
                          </a:solidFill>
                          <a:latin typeface="Rubik"/>
                          <a:ea typeface="Rubik"/>
                          <a:cs typeface="Rubik"/>
                        </a:rPr>
                        <a:t>−0,91</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a:solidFill>
                            <a:srgbClr val="974D48"/>
                          </a:solidFill>
                          <a:latin typeface="Rubik"/>
                          <a:ea typeface="Rubik"/>
                          <a:cs typeface="Rubik"/>
                        </a:rPr>
                        <a:t>−0,76</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1"/>
                  </a:ext>
                </a:extLst>
              </a:tr>
              <a:tr h="523875">
                <a:tc>
                  <a:txBody>
                    <a:bodyPr/>
                    <a:lstStyle/>
                    <a:p>
                      <a:pPr algn="l">
                        <a:lnSpc>
                          <a:spcPct val="108000"/>
                        </a:lnSpc>
                        <a:buNone/>
                      </a:pPr>
                      <a:r>
                        <a:rPr sz="1650" b="1">
                          <a:solidFill>
                            <a:srgbClr val="142E3A"/>
                          </a:solidFill>
                          <a:latin typeface="Rubik"/>
                          <a:ea typeface="Rubik"/>
                          <a:cs typeface="Rubik"/>
                        </a:rPr>
                        <a:t>+ Chicago</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EFF3EF"/>
                    </a:solidFill>
                  </a:tcPr>
                </a:tc>
                <a:tc>
                  <a:txBody>
                    <a:bodyPr/>
                    <a:lstStyle/>
                    <a:p>
                      <a:pPr algn="ctr">
                        <a:lnSpc>
                          <a:spcPct val="108000"/>
                        </a:lnSpc>
                        <a:buNone/>
                      </a:pPr>
                      <a:r>
                        <a:rPr sz="1650" b="0">
                          <a:solidFill>
                            <a:srgbClr val="974D48"/>
                          </a:solidFill>
                          <a:latin typeface="Rubik"/>
                          <a:ea typeface="Rubik"/>
                          <a:cs typeface="Rubik"/>
                        </a:rPr>
                        <a:t>−0,23</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a:solidFill>
                            <a:srgbClr val="974D48"/>
                          </a:solidFill>
                          <a:latin typeface="Rubik"/>
                          <a:ea typeface="Rubik"/>
                          <a:cs typeface="Rubik"/>
                        </a:rPr>
                        <a:t>−0,43</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a:solidFill>
                            <a:srgbClr val="974D48"/>
                          </a:solidFill>
                          <a:latin typeface="Rubik"/>
                          <a:ea typeface="Rubik"/>
                          <a:cs typeface="Rubik"/>
                        </a:rPr>
                        <a:t>−0,18</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2"/>
                  </a:ext>
                </a:extLst>
              </a:tr>
              <a:tr h="523875">
                <a:tc>
                  <a:txBody>
                    <a:bodyPr/>
                    <a:lstStyle/>
                    <a:p>
                      <a:pPr algn="l">
                        <a:lnSpc>
                          <a:spcPct val="108000"/>
                        </a:lnSpc>
                        <a:buNone/>
                      </a:pPr>
                      <a:r>
                        <a:rPr sz="1650" b="1">
                          <a:solidFill>
                            <a:srgbClr val="142E3A"/>
                          </a:solidFill>
                          <a:latin typeface="Rubik"/>
                          <a:ea typeface="Rubik"/>
                          <a:cs typeface="Rubik"/>
                        </a:rPr>
                        <a:t>+ Chicago y lluvia</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FFFFF"/>
                    </a:solidFill>
                  </a:tcPr>
                </a:tc>
                <a:tc>
                  <a:txBody>
                    <a:bodyPr/>
                    <a:lstStyle/>
                    <a:p>
                      <a:pPr algn="ctr">
                        <a:lnSpc>
                          <a:spcPct val="108000"/>
                        </a:lnSpc>
                        <a:buNone/>
                      </a:pPr>
                      <a:r>
                        <a:rPr sz="1650" b="0">
                          <a:solidFill>
                            <a:srgbClr val="974D48"/>
                          </a:solidFill>
                          <a:latin typeface="Rubik"/>
                          <a:ea typeface="Rubik"/>
                          <a:cs typeface="Rubik"/>
                        </a:rPr>
                        <a:t>−0,21</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a:solidFill>
                            <a:srgbClr val="974D48"/>
                          </a:solidFill>
                          <a:latin typeface="Rubik"/>
                          <a:ea typeface="Rubik"/>
                          <a:cs typeface="Rubik"/>
                        </a:rPr>
                        <a:t>−0,43</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dirty="0">
                          <a:solidFill>
                            <a:srgbClr val="974D48"/>
                          </a:solidFill>
                          <a:latin typeface="Rubik"/>
                          <a:ea typeface="Rubik"/>
                          <a:cs typeface="Rubik"/>
                        </a:rPr>
                        <a:t>−0,15</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3"/>
                  </a:ext>
                </a:extLst>
              </a:tr>
            </a:tbl>
          </a:graphicData>
        </a:graphic>
      </p:graphicFrame>
      <p:sp>
        <p:nvSpPr>
          <p:cNvPr id="7" name="text-198">
            <a:extLst>
              <a:ext uri="{FF2B5EF4-FFF2-40B4-BE49-F238E27FC236}">
                <a16:creationId xmlns:a16="http://schemas.microsoft.com/office/drawing/2014/main" id="{BDCCE056-657D-462B-86F0-8FF9CFDD136D}"/>
              </a:ext>
            </a:extLst>
          </p:cNvPr>
          <p:cNvSpPr>
            <a:spLocks noGrp="1"/>
          </p:cNvSpPr>
          <p:nvPr/>
        </p:nvSpPr>
        <p:spPr>
          <a:xfrm>
            <a:off x="609600" y="4495800"/>
            <a:ext cx="7067550" cy="276225"/>
          </a:xfrm>
          <a:prstGeom prst="rect">
            <a:avLst/>
          </a:prstGeom>
          <a:noFill/>
          <a:ln w="0">
            <a:noFill/>
            <a:prstDash val="solid"/>
          </a:ln>
        </p:spPr>
        <p:txBody>
          <a:bodyPr wrap="square" lIns="0" tIns="0" rIns="0" bIns="0" anchor="t">
            <a:noAutofit/>
          </a:bodyPr>
          <a:lstStyle>
            <a:defPPr algn="l">
              <a:defRPr sz="1425" b="1">
                <a:solidFill>
                  <a:srgbClr val="0A8574"/>
                </a:solidFill>
                <a:latin typeface="Rubik"/>
                <a:ea typeface="Rubik"/>
                <a:cs typeface="Rubik"/>
              </a:defRPr>
            </a:defPPr>
            <a:lvl1pPr algn="l">
              <a:defRPr sz="1425" b="1">
                <a:solidFill>
                  <a:srgbClr val="0A8574"/>
                </a:solidFill>
                <a:latin typeface="Rubik"/>
                <a:ea typeface="Rubik"/>
                <a:cs typeface="Rubik"/>
              </a:defRPr>
            </a:lvl1pPr>
            <a:lvl2pPr algn="l">
              <a:defRPr sz="1425" b="1">
                <a:solidFill>
                  <a:srgbClr val="0A8574"/>
                </a:solidFill>
                <a:latin typeface="Rubik"/>
                <a:ea typeface="Rubik"/>
                <a:cs typeface="Rubik"/>
              </a:defRPr>
            </a:lvl2pPr>
            <a:lvl3pPr algn="l">
              <a:defRPr sz="1425" b="1">
                <a:solidFill>
                  <a:srgbClr val="0A8574"/>
                </a:solidFill>
                <a:latin typeface="Rubik"/>
                <a:ea typeface="Rubik"/>
                <a:cs typeface="Rubik"/>
              </a:defRPr>
            </a:lvl3pPr>
            <a:lvl4pPr algn="l">
              <a:defRPr sz="1425" b="1">
                <a:solidFill>
                  <a:srgbClr val="0A8574"/>
                </a:solidFill>
                <a:latin typeface="Rubik"/>
                <a:ea typeface="Rubik"/>
                <a:cs typeface="Rubik"/>
              </a:defRPr>
            </a:lvl4pPr>
            <a:lvl5pPr algn="l">
              <a:defRPr sz="1425" b="1">
                <a:solidFill>
                  <a:srgbClr val="0A8574"/>
                </a:solidFill>
                <a:latin typeface="Rubik"/>
                <a:ea typeface="Rubik"/>
                <a:cs typeface="Rubik"/>
              </a:defRPr>
            </a:lvl5pPr>
            <a:lvl6pPr algn="l">
              <a:defRPr sz="1425" b="1">
                <a:solidFill>
                  <a:srgbClr val="0A8574"/>
                </a:solidFill>
                <a:latin typeface="Rubik"/>
                <a:ea typeface="Rubik"/>
                <a:cs typeface="Rubik"/>
              </a:defRPr>
            </a:lvl6pPr>
            <a:lvl7pPr algn="l">
              <a:defRPr sz="1425" b="1">
                <a:solidFill>
                  <a:srgbClr val="0A8574"/>
                </a:solidFill>
                <a:latin typeface="Rubik"/>
                <a:ea typeface="Rubik"/>
                <a:cs typeface="Rubik"/>
              </a:defRPr>
            </a:lvl7pPr>
            <a:lvl8pPr algn="l">
              <a:defRPr sz="1425" b="1">
                <a:solidFill>
                  <a:srgbClr val="0A8574"/>
                </a:solidFill>
                <a:latin typeface="Rubik"/>
                <a:ea typeface="Rubik"/>
                <a:cs typeface="Rubik"/>
              </a:defRPr>
            </a:lvl8pPr>
            <a:lvl9pPr algn="l">
              <a:defRPr sz="1425" b="1">
                <a:solidFill>
                  <a:srgbClr val="0A8574"/>
                </a:solidFill>
                <a:latin typeface="Rubik"/>
                <a:ea typeface="Rubik"/>
                <a:cs typeface="Rubik"/>
              </a:defRPr>
            </a:lvl9pPr>
          </a:lstStyle>
          <a:p>
            <a:pPr algn="l">
              <a:lnSpc>
                <a:spcPct val="108000"/>
              </a:lnSpc>
              <a:buNone/>
              <a:defRPr sz="1425" b="1">
                <a:solidFill>
                  <a:srgbClr val="0A8574"/>
                </a:solidFill>
                <a:latin typeface="Rubik"/>
                <a:ea typeface="Rubik"/>
                <a:cs typeface="Rubik"/>
              </a:defRPr>
            </a:pPr>
            <a:r>
              <a:rPr sz="1425" b="1" dirty="0">
                <a:solidFill>
                  <a:srgbClr val="0A8574"/>
                </a:solidFill>
                <a:latin typeface="Rubik"/>
                <a:ea typeface="Rubik"/>
                <a:cs typeface="Rubik"/>
              </a:rPr>
              <a:t>ARIMA / ARIMAX</a:t>
            </a:r>
          </a:p>
        </p:txBody>
      </p:sp>
      <p:graphicFrame>
        <p:nvGraphicFramePr>
          <p:cNvPr id="8" name="Tabla 7">
            <a:extLst>
              <a:ext uri="{FF2B5EF4-FFF2-40B4-BE49-F238E27FC236}">
                <a16:creationId xmlns:a16="http://schemas.microsoft.com/office/drawing/2014/main" id="{63782DC5-A51C-47E3-8A5E-655A4DC49CCB}"/>
              </a:ext>
            </a:extLst>
          </p:cNvPr>
          <p:cNvGraphicFramePr/>
          <p:nvPr>
            <p:extLst>
              <p:ext uri="{D42A27DB-BD31-4B8C-83A1-F6EECF244321}">
                <p14:modId xmlns:p14="http://schemas.microsoft.com/office/powerpoint/2010/main" val="1669807615"/>
              </p:ext>
            </p:extLst>
          </p:nvPr>
        </p:nvGraphicFramePr>
        <p:xfrm>
          <a:off x="609600" y="4797136"/>
          <a:ext cx="7067550" cy="1304925"/>
        </p:xfrm>
        <a:graphic>
          <a:graphicData uri="http://schemas.openxmlformats.org/drawingml/2006/table">
            <a:tbl>
              <a:tblPr/>
              <a:tblGrid>
                <a:gridCol w="292417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381125">
                  <a:extLst>
                    <a:ext uri="{9D8B030D-6E8A-4147-A177-3AD203B41FA5}">
                      <a16:colId xmlns:a16="http://schemas.microsoft.com/office/drawing/2014/main" val="20003"/>
                    </a:ext>
                  </a:extLst>
                </a:gridCol>
              </a:tblGrid>
              <a:tr h="409575">
                <a:tc>
                  <a:txBody>
                    <a:bodyPr/>
                    <a:lstStyle/>
                    <a:p>
                      <a:pPr algn="l">
                        <a:lnSpc>
                          <a:spcPct val="108000"/>
                        </a:lnSpc>
                        <a:buNone/>
                      </a:pPr>
                      <a:r>
                        <a:rPr sz="1500" b="1" dirty="0">
                          <a:solidFill>
                            <a:srgbClr val="FFFFFF"/>
                          </a:solidFill>
                          <a:latin typeface="Rubik"/>
                          <a:ea typeface="Rubik"/>
                          <a:cs typeface="Rubik"/>
                        </a:rPr>
                        <a:t>Variables</a:t>
                      </a:r>
                    </a:p>
                  </a:txBody>
                  <a:tcPr anchor="ctr">
                    <a:lnL w="14288">
                      <a:solidFill>
                        <a:srgbClr val="F8F9F5"/>
                      </a:solidFill>
                      <a:prstDash val="soli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30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60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tc>
                  <a:txBody>
                    <a:bodyPr/>
                    <a:lstStyle/>
                    <a:p>
                      <a:pPr algn="ctr">
                        <a:lnSpc>
                          <a:spcPct val="108000"/>
                        </a:lnSpc>
                        <a:buNone/>
                      </a:pPr>
                      <a:r>
                        <a:rPr sz="1500" b="1">
                          <a:solidFill>
                            <a:srgbClr val="FFFFFF"/>
                          </a:solidFill>
                          <a:latin typeface="Rubik"/>
                          <a:ea typeface="Rubik"/>
                          <a:cs typeface="Rubik"/>
                        </a:rPr>
                        <a:t>90 días</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a:solidFill>
                        <a:srgbClr val="F8F9F5"/>
                      </a:solidFill>
                      <a:prstDash val="solid"/>
                    </a:lnT>
                    <a:lnB w="14288">
                      <a:solidFill>
                        <a:srgbClr val="F8F9F5"/>
                      </a:solidFill>
                      <a:prstDash val="solid"/>
                    </a:lnB>
                    <a:solidFill>
                      <a:srgbClr val="142E3A"/>
                    </a:solidFill>
                  </a:tcPr>
                </a:tc>
                <a:extLst>
                  <a:ext uri="{0D108BD9-81ED-4DB2-BD59-A6C34878D82A}">
                    <a16:rowId xmlns:a16="http://schemas.microsoft.com/office/drawing/2014/main" val="10000"/>
                  </a:ext>
                </a:extLst>
              </a:tr>
              <a:tr h="447675">
                <a:tc>
                  <a:txBody>
                    <a:bodyPr/>
                    <a:lstStyle/>
                    <a:p>
                      <a:pPr algn="l">
                        <a:lnSpc>
                          <a:spcPct val="108000"/>
                        </a:lnSpc>
                        <a:buNone/>
                      </a:pPr>
                      <a:r>
                        <a:rPr sz="1650" b="1">
                          <a:solidFill>
                            <a:srgbClr val="142E3A"/>
                          </a:solidFill>
                          <a:latin typeface="Rubik"/>
                          <a:ea typeface="Rubik"/>
                          <a:cs typeface="Rubik"/>
                        </a:rPr>
                        <a:t>Solo precio</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FFFFF"/>
                    </a:solidFill>
                  </a:tcPr>
                </a:tc>
                <a:tc>
                  <a:txBody>
                    <a:bodyPr/>
                    <a:lstStyle/>
                    <a:p>
                      <a:pPr algn="ctr">
                        <a:lnSpc>
                          <a:spcPct val="108000"/>
                        </a:lnSpc>
                        <a:buNone/>
                      </a:pPr>
                      <a:r>
                        <a:rPr sz="1650" b="0">
                          <a:solidFill>
                            <a:srgbClr val="974D48"/>
                          </a:solidFill>
                          <a:latin typeface="Rubik"/>
                          <a:ea typeface="Rubik"/>
                          <a:cs typeface="Rubik"/>
                        </a:rPr>
                        <a:t>−0,03</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a:solidFill>
                            <a:srgbClr val="142E3A"/>
                          </a:solidFill>
                          <a:latin typeface="Rubik"/>
                          <a:ea typeface="Rubik"/>
                          <a:cs typeface="Rubik"/>
                        </a:rPr>
                        <a:t>0,00</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EFF3EF"/>
                    </a:solidFill>
                  </a:tcPr>
                </a:tc>
                <a:tc>
                  <a:txBody>
                    <a:bodyPr/>
                    <a:lstStyle/>
                    <a:p>
                      <a:pPr algn="ctr">
                        <a:lnSpc>
                          <a:spcPct val="108000"/>
                        </a:lnSpc>
                        <a:buNone/>
                      </a:pPr>
                      <a:r>
                        <a:rPr sz="1650" b="0">
                          <a:solidFill>
                            <a:srgbClr val="974D48"/>
                          </a:solidFill>
                          <a:latin typeface="Rubik"/>
                          <a:ea typeface="Rubik"/>
                          <a:cs typeface="Rubik"/>
                        </a:rPr>
                        <a:t>−0,01</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extLst>
                  <a:ext uri="{0D108BD9-81ED-4DB2-BD59-A6C34878D82A}">
                    <a16:rowId xmlns:a16="http://schemas.microsoft.com/office/drawing/2014/main" val="10001"/>
                  </a:ext>
                </a:extLst>
              </a:tr>
              <a:tr h="447675">
                <a:tc>
                  <a:txBody>
                    <a:bodyPr/>
                    <a:lstStyle/>
                    <a:p>
                      <a:pPr algn="l">
                        <a:lnSpc>
                          <a:spcPct val="108000"/>
                        </a:lnSpc>
                        <a:buNone/>
                      </a:pPr>
                      <a:r>
                        <a:rPr sz="1650" b="1">
                          <a:solidFill>
                            <a:srgbClr val="142E3A"/>
                          </a:solidFill>
                          <a:latin typeface="Rubik"/>
                          <a:ea typeface="Rubik"/>
                          <a:cs typeface="Rubik"/>
                        </a:rPr>
                        <a:t>+ Chicago y lluvia</a:t>
                      </a:r>
                    </a:p>
                  </a:txBody>
                  <a:tcPr anchor="ctr">
                    <a:lnL w="14288">
                      <a:solidFill>
                        <a:srgbClr val="F8F9F5"/>
                      </a:solidFill>
                      <a:prstDash val="soli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EFF3EF"/>
                    </a:solidFill>
                  </a:tcPr>
                </a:tc>
                <a:tc>
                  <a:txBody>
                    <a:bodyPr/>
                    <a:lstStyle/>
                    <a:p>
                      <a:pPr algn="ctr">
                        <a:lnSpc>
                          <a:spcPct val="108000"/>
                        </a:lnSpc>
                        <a:buNone/>
                      </a:pPr>
                      <a:r>
                        <a:rPr sz="1650" b="0">
                          <a:solidFill>
                            <a:srgbClr val="974D48"/>
                          </a:solidFill>
                          <a:latin typeface="Rubik"/>
                          <a:ea typeface="Rubik"/>
                          <a:cs typeface="Rubik"/>
                        </a:rPr>
                        <a:t>−0,06</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F9EAE5"/>
                    </a:solidFill>
                  </a:tcPr>
                </a:tc>
                <a:tc>
                  <a:txBody>
                    <a:bodyPr/>
                    <a:lstStyle/>
                    <a:p>
                      <a:pPr algn="ctr">
                        <a:lnSpc>
                          <a:spcPct val="108000"/>
                        </a:lnSpc>
                        <a:buNone/>
                      </a:pPr>
                      <a:r>
                        <a:rPr sz="1650" b="0">
                          <a:solidFill>
                            <a:srgbClr val="086C55"/>
                          </a:solidFill>
                          <a:latin typeface="Rubik"/>
                          <a:ea typeface="Rubik"/>
                          <a:cs typeface="Rubik"/>
                        </a:rPr>
                        <a:t>+0,02</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CAE9DB"/>
                    </a:solidFill>
                  </a:tcPr>
                </a:tc>
                <a:tc>
                  <a:txBody>
                    <a:bodyPr/>
                    <a:lstStyle/>
                    <a:p>
                      <a:pPr algn="ctr">
                        <a:lnSpc>
                          <a:spcPct val="108000"/>
                        </a:lnSpc>
                        <a:buNone/>
                      </a:pPr>
                      <a:r>
                        <a:rPr sz="1650" b="0" dirty="0">
                          <a:solidFill>
                            <a:srgbClr val="086C55"/>
                          </a:solidFill>
                          <a:latin typeface="Rubik"/>
                          <a:ea typeface="Rubik"/>
                          <a:cs typeface="Rubik"/>
                        </a:rPr>
                        <a:t>+0,04</a:t>
                      </a:r>
                    </a:p>
                  </a:txBody>
                  <a:tcPr anchor="ctr">
                    <a:lnL w="14288" cap="flat" cmpd="sng" algn="ctr">
                      <a:solidFill>
                        <a:srgbClr val="F8F9F5"/>
                      </a:solidFill>
                      <a:prstDash val="solid"/>
                      <a:round/>
                      <a:headEnd type="none" w="med" len="med"/>
                      <a:tailEnd type="none" w="med" len="med"/>
                    </a:lnL>
                    <a:lnR w="14288">
                      <a:solidFill>
                        <a:srgbClr val="F8F9F5"/>
                      </a:solidFill>
                      <a:prstDash val="solid"/>
                    </a:lnR>
                    <a:lnT w="14288" cap="flat" cmpd="sng" algn="ctr">
                      <a:solidFill>
                        <a:srgbClr val="F8F9F5"/>
                      </a:solidFill>
                      <a:prstDash val="solid"/>
                      <a:round/>
                      <a:headEnd type="none" w="med" len="med"/>
                      <a:tailEnd type="none" w="med" len="med"/>
                    </a:lnT>
                    <a:lnB w="14288">
                      <a:solidFill>
                        <a:srgbClr val="F8F9F5"/>
                      </a:solidFill>
                      <a:prstDash val="solid"/>
                    </a:lnB>
                    <a:solidFill>
                      <a:srgbClr val="CAE9DB"/>
                    </a:solidFill>
                  </a:tcPr>
                </a:tc>
                <a:extLst>
                  <a:ext uri="{0D108BD9-81ED-4DB2-BD59-A6C34878D82A}">
                    <a16:rowId xmlns:a16="http://schemas.microsoft.com/office/drawing/2014/main" val="10002"/>
                  </a:ext>
                </a:extLst>
              </a:tr>
            </a:tbl>
          </a:graphicData>
        </a:graphic>
      </p:graphicFrame>
      <p:graphicFrame>
        <p:nvGraphicFramePr>
          <p:cNvPr id="9" name="Chart">
            <a:extLst>
              <a:ext uri="{FF2B5EF4-FFF2-40B4-BE49-F238E27FC236}">
                <a16:creationId xmlns:a16="http://schemas.microsoft.com/office/drawing/2014/main" id="{03AAEF24-5FED-4459-BE73-22C8BC4AE3BC}"/>
              </a:ext>
            </a:extLst>
          </p:cNvPr>
          <p:cNvGraphicFramePr/>
          <p:nvPr/>
        </p:nvGraphicFramePr>
        <p:xfrm>
          <a:off x="7981950" y="2038350"/>
          <a:ext cx="3600450" cy="290512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199">
            <a:extLst>
              <a:ext uri="{FF2B5EF4-FFF2-40B4-BE49-F238E27FC236}">
                <a16:creationId xmlns:a16="http://schemas.microsoft.com/office/drawing/2014/main" id="{7D86A27C-924D-4419-95BB-A169AFE0C1B4}"/>
              </a:ext>
            </a:extLst>
          </p:cNvPr>
          <p:cNvSpPr>
            <a:spLocks noGrp="1"/>
          </p:cNvSpPr>
          <p:nvPr/>
        </p:nvSpPr>
        <p:spPr>
          <a:xfrm>
            <a:off x="8096250" y="5172075"/>
            <a:ext cx="3486150" cy="704850"/>
          </a:xfrm>
          <a:prstGeom prst="rect">
            <a:avLst/>
          </a:prstGeom>
          <a:noFill/>
          <a:ln w="0">
            <a:noFill/>
            <a:prstDash val="solid"/>
          </a:ln>
        </p:spPr>
        <p:txBody>
          <a:bodyPr wrap="square" lIns="0" tIns="0" rIns="0" bIns="0" anchor="t">
            <a:noAutofit/>
          </a:bodyPr>
          <a:lstStyle>
            <a:defPPr algn="l">
              <a:defRPr sz="2100" b="1">
                <a:solidFill>
                  <a:srgbClr val="0A8574"/>
                </a:solidFill>
                <a:latin typeface="Rubik"/>
                <a:ea typeface="Rubik"/>
                <a:cs typeface="Rubik"/>
              </a:defRPr>
            </a:defPPr>
            <a:lvl1pPr algn="l">
              <a:defRPr sz="2100" b="1">
                <a:solidFill>
                  <a:srgbClr val="0A8574"/>
                </a:solidFill>
                <a:latin typeface="Rubik"/>
                <a:ea typeface="Rubik"/>
                <a:cs typeface="Rubik"/>
              </a:defRPr>
            </a:lvl1pPr>
            <a:lvl2pPr algn="l">
              <a:defRPr sz="2100" b="1">
                <a:solidFill>
                  <a:srgbClr val="0A8574"/>
                </a:solidFill>
                <a:latin typeface="Rubik"/>
                <a:ea typeface="Rubik"/>
                <a:cs typeface="Rubik"/>
              </a:defRPr>
            </a:lvl2pPr>
            <a:lvl3pPr algn="l">
              <a:defRPr sz="2100" b="1">
                <a:solidFill>
                  <a:srgbClr val="0A8574"/>
                </a:solidFill>
                <a:latin typeface="Rubik"/>
                <a:ea typeface="Rubik"/>
                <a:cs typeface="Rubik"/>
              </a:defRPr>
            </a:lvl3pPr>
            <a:lvl4pPr algn="l">
              <a:defRPr sz="2100" b="1">
                <a:solidFill>
                  <a:srgbClr val="0A8574"/>
                </a:solidFill>
                <a:latin typeface="Rubik"/>
                <a:ea typeface="Rubik"/>
                <a:cs typeface="Rubik"/>
              </a:defRPr>
            </a:lvl4pPr>
            <a:lvl5pPr algn="l">
              <a:defRPr sz="2100" b="1">
                <a:solidFill>
                  <a:srgbClr val="0A8574"/>
                </a:solidFill>
                <a:latin typeface="Rubik"/>
                <a:ea typeface="Rubik"/>
                <a:cs typeface="Rubik"/>
              </a:defRPr>
            </a:lvl5pPr>
            <a:lvl6pPr algn="l">
              <a:defRPr sz="2100" b="1">
                <a:solidFill>
                  <a:srgbClr val="0A8574"/>
                </a:solidFill>
                <a:latin typeface="Rubik"/>
                <a:ea typeface="Rubik"/>
                <a:cs typeface="Rubik"/>
              </a:defRPr>
            </a:lvl6pPr>
            <a:lvl7pPr algn="l">
              <a:defRPr sz="2100" b="1">
                <a:solidFill>
                  <a:srgbClr val="0A8574"/>
                </a:solidFill>
                <a:latin typeface="Rubik"/>
                <a:ea typeface="Rubik"/>
                <a:cs typeface="Rubik"/>
              </a:defRPr>
            </a:lvl7pPr>
            <a:lvl8pPr algn="l">
              <a:defRPr sz="2100" b="1">
                <a:solidFill>
                  <a:srgbClr val="0A8574"/>
                </a:solidFill>
                <a:latin typeface="Rubik"/>
                <a:ea typeface="Rubik"/>
                <a:cs typeface="Rubik"/>
              </a:defRPr>
            </a:lvl8pPr>
            <a:lvl9pPr algn="l">
              <a:defRPr sz="2100" b="1">
                <a:solidFill>
                  <a:srgbClr val="0A8574"/>
                </a:solidFill>
                <a:latin typeface="Rubik"/>
                <a:ea typeface="Rubik"/>
                <a:cs typeface="Rubik"/>
              </a:defRPr>
            </a:lvl9pPr>
          </a:lstStyle>
          <a:p>
            <a:pPr algn="l">
              <a:lnSpc>
                <a:spcPct val="108000"/>
              </a:lnSpc>
              <a:buNone/>
              <a:defRPr sz="2100" b="1">
                <a:solidFill>
                  <a:srgbClr val="0A8574"/>
                </a:solidFill>
                <a:latin typeface="Rubik"/>
                <a:ea typeface="Rubik"/>
                <a:cs typeface="Rubik"/>
              </a:defRPr>
            </a:pPr>
            <a:r>
              <a:rPr sz="2100" b="1">
                <a:solidFill>
                  <a:srgbClr val="0A8574"/>
                </a:solidFill>
                <a:latin typeface="Rubik"/>
                <a:ea typeface="Rubik"/>
                <a:cs typeface="Rubik"/>
              </a:rPr>
              <a:t>Chicago aporta la mayor</a:t>
            </a:r>
          </a:p>
          <a:p>
            <a:pPr algn="l">
              <a:lnSpc>
                <a:spcPct val="108000"/>
              </a:lnSpc>
              <a:buNone/>
              <a:defRPr sz="2100" b="1">
                <a:solidFill>
                  <a:srgbClr val="0A8574"/>
                </a:solidFill>
                <a:latin typeface="Rubik"/>
                <a:ea typeface="Rubik"/>
                <a:cs typeface="Rubik"/>
              </a:defRPr>
            </a:pPr>
            <a:r>
              <a:rPr sz="2100" b="1">
                <a:solidFill>
                  <a:srgbClr val="0A8574"/>
                </a:solidFill>
                <a:latin typeface="Rubik"/>
                <a:ea typeface="Rubik"/>
                <a:cs typeface="Rubik"/>
              </a:rPr>
              <a:t>mejora observada.</a:t>
            </a:r>
          </a:p>
        </p:txBody>
      </p:sp>
      <p:sp>
        <p:nvSpPr>
          <p:cNvPr id="11" name="text-200">
            <a:extLst>
              <a:ext uri="{FF2B5EF4-FFF2-40B4-BE49-F238E27FC236}">
                <a16:creationId xmlns:a16="http://schemas.microsoft.com/office/drawing/2014/main" id="{53F6EC64-E9BE-4CFF-B254-EFD1ADF38A8E}"/>
              </a:ext>
            </a:extLst>
          </p:cNvPr>
          <p:cNvSpPr>
            <a:spLocks noGrp="1"/>
          </p:cNvSpPr>
          <p:nvPr/>
        </p:nvSpPr>
        <p:spPr>
          <a:xfrm>
            <a:off x="8096250" y="5934075"/>
            <a:ext cx="3486150" cy="361950"/>
          </a:xfrm>
          <a:prstGeom prst="rect">
            <a:avLst/>
          </a:prstGeom>
          <a:noFill/>
          <a:ln w="0">
            <a:noFill/>
            <a:prstDash val="solid"/>
          </a:ln>
        </p:spPr>
        <p:txBody>
          <a:bodyPr wrap="square" lIns="0" tIns="0" rIns="0" bIns="0" anchor="t">
            <a:noAutofit/>
          </a:bodyPr>
          <a:lstStyle>
            <a:defPPr algn="l">
              <a:defRPr sz="1650" b="0">
                <a:solidFill>
                  <a:srgbClr val="42565E"/>
                </a:solidFill>
                <a:latin typeface="Rubik"/>
                <a:ea typeface="Rubik"/>
                <a:cs typeface="Rubik"/>
              </a:defRPr>
            </a:defPPr>
            <a:lvl1pPr algn="l">
              <a:defRPr sz="1650" b="0">
                <a:solidFill>
                  <a:srgbClr val="42565E"/>
                </a:solidFill>
                <a:latin typeface="Rubik"/>
                <a:ea typeface="Rubik"/>
                <a:cs typeface="Rubik"/>
              </a:defRPr>
            </a:lvl1pPr>
            <a:lvl2pPr algn="l">
              <a:defRPr sz="1650" b="0">
                <a:solidFill>
                  <a:srgbClr val="42565E"/>
                </a:solidFill>
                <a:latin typeface="Rubik"/>
                <a:ea typeface="Rubik"/>
                <a:cs typeface="Rubik"/>
              </a:defRPr>
            </a:lvl2pPr>
            <a:lvl3pPr algn="l">
              <a:defRPr sz="1650" b="0">
                <a:solidFill>
                  <a:srgbClr val="42565E"/>
                </a:solidFill>
                <a:latin typeface="Rubik"/>
                <a:ea typeface="Rubik"/>
                <a:cs typeface="Rubik"/>
              </a:defRPr>
            </a:lvl3pPr>
            <a:lvl4pPr algn="l">
              <a:defRPr sz="1650" b="0">
                <a:solidFill>
                  <a:srgbClr val="42565E"/>
                </a:solidFill>
                <a:latin typeface="Rubik"/>
                <a:ea typeface="Rubik"/>
                <a:cs typeface="Rubik"/>
              </a:defRPr>
            </a:lvl4pPr>
            <a:lvl5pPr algn="l">
              <a:defRPr sz="1650" b="0">
                <a:solidFill>
                  <a:srgbClr val="42565E"/>
                </a:solidFill>
                <a:latin typeface="Rubik"/>
                <a:ea typeface="Rubik"/>
                <a:cs typeface="Rubik"/>
              </a:defRPr>
            </a:lvl5pPr>
            <a:lvl6pPr algn="l">
              <a:defRPr sz="1650" b="0">
                <a:solidFill>
                  <a:srgbClr val="42565E"/>
                </a:solidFill>
                <a:latin typeface="Rubik"/>
                <a:ea typeface="Rubik"/>
                <a:cs typeface="Rubik"/>
              </a:defRPr>
            </a:lvl6pPr>
            <a:lvl7pPr algn="l">
              <a:defRPr sz="1650" b="0">
                <a:solidFill>
                  <a:srgbClr val="42565E"/>
                </a:solidFill>
                <a:latin typeface="Rubik"/>
                <a:ea typeface="Rubik"/>
                <a:cs typeface="Rubik"/>
              </a:defRPr>
            </a:lvl7pPr>
            <a:lvl8pPr algn="l">
              <a:defRPr sz="1650" b="0">
                <a:solidFill>
                  <a:srgbClr val="42565E"/>
                </a:solidFill>
                <a:latin typeface="Rubik"/>
                <a:ea typeface="Rubik"/>
                <a:cs typeface="Rubik"/>
              </a:defRPr>
            </a:lvl8pPr>
            <a:lvl9pPr algn="l">
              <a:defRPr sz="1650" b="0">
                <a:solidFill>
                  <a:srgbClr val="42565E"/>
                </a:solidFill>
                <a:latin typeface="Rubik"/>
                <a:ea typeface="Rubik"/>
                <a:cs typeface="Rubik"/>
              </a:defRPr>
            </a:lvl9pPr>
          </a:lstStyle>
          <a:p>
            <a:pPr algn="l">
              <a:lnSpc>
                <a:spcPct val="108000"/>
              </a:lnSpc>
              <a:buNone/>
              <a:defRPr sz="1650" b="0">
                <a:solidFill>
                  <a:srgbClr val="42565E"/>
                </a:solidFill>
                <a:latin typeface="Rubik"/>
                <a:ea typeface="Rubik"/>
                <a:cs typeface="Rubik"/>
              </a:defRPr>
            </a:pPr>
            <a:r>
              <a:rPr sz="1650" b="0">
                <a:solidFill>
                  <a:srgbClr val="42565E"/>
                </a:solidFill>
                <a:latin typeface="Rubik"/>
                <a:ea typeface="Rubik"/>
                <a:cs typeface="Rubik"/>
              </a:rPr>
              <a:t>La lluvia aporta poco.</a:t>
            </a:r>
          </a:p>
        </p:txBody>
      </p:sp>
      <p:sp>
        <p:nvSpPr>
          <p:cNvPr id="14" name="Text 32">
            <a:extLst>
              <a:ext uri="{FF2B5EF4-FFF2-40B4-BE49-F238E27FC236}">
                <a16:creationId xmlns:a16="http://schemas.microsoft.com/office/drawing/2014/main" id="{6C003829-EBED-19B0-3F1D-1AB7559F34D7}"/>
              </a:ext>
            </a:extLst>
          </p:cNvPr>
          <p:cNvSpPr/>
          <p:nvPr/>
        </p:nvSpPr>
        <p:spPr>
          <a:xfrm>
            <a:off x="8096250" y="6163498"/>
            <a:ext cx="363651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nter" pitchFamily="34" charset="0"/>
                <a:ea typeface="Inter" pitchFamily="34" charset="-122"/>
                <a:cs typeface="Inter" pitchFamily="34" charset="-120"/>
              </a:rPr>
              <a:t>ElasticNet descartó casi todas las variables: da casi lo mismo con una, dos o tres fuentes</a:t>
            </a:r>
            <a:endParaRPr lang="en-US" sz="1200" dirty="0"/>
          </a:p>
        </p:txBody>
      </p:sp>
      <p:sp>
        <p:nvSpPr>
          <p:cNvPr id="17" name="Text 1">
            <a:extLst>
              <a:ext uri="{FF2B5EF4-FFF2-40B4-BE49-F238E27FC236}">
                <a16:creationId xmlns:a16="http://schemas.microsoft.com/office/drawing/2014/main" id="{04ECF902-449D-D170-65D4-5C94DD22767B}"/>
              </a:ext>
            </a:extLst>
          </p:cNvPr>
          <p:cNvSpPr/>
          <p:nvPr/>
        </p:nvSpPr>
        <p:spPr>
          <a:xfrm>
            <a:off x="609585" y="737592"/>
            <a:ext cx="10972526" cy="310158"/>
          </a:xfrm>
          <a:prstGeom prst="rect">
            <a:avLst/>
          </a:prstGeom>
          <a:noFill/>
          <a:ln/>
        </p:spPr>
        <p:txBody>
          <a:bodyPr wrap="none" lIns="0" tIns="0" rIns="0" bIns="0" rtlCol="0" anchor="t"/>
          <a:lstStyle/>
          <a:p>
            <a:pPr marL="0" indent="0" algn="l">
              <a:lnSpc>
                <a:spcPct val="90000"/>
              </a:lnSpc>
              <a:buNone/>
            </a:pPr>
            <a:r>
              <a:rPr lang="en-US" sz="2250" b="1" kern="100" spc="-18" dirty="0">
                <a:solidFill>
                  <a:srgbClr val="142E3A"/>
                </a:solidFill>
                <a:latin typeface="Public Sans Bold" pitchFamily="34" charset="0"/>
                <a:ea typeface="Public Sans Bold" pitchFamily="34" charset="-122"/>
                <a:cs typeface="Public Sans Bold" pitchFamily="34" charset="0"/>
              </a:rPr>
              <a:t>¿Cuánto aporta cada fuente?</a:t>
            </a:r>
            <a:endParaRPr lang="en-US" sz="2250" dirty="0"/>
          </a:p>
        </p:txBody>
      </p:sp>
      <p:sp>
        <p:nvSpPr>
          <p:cNvPr id="19" name="Text 2">
            <a:extLst>
              <a:ext uri="{FF2B5EF4-FFF2-40B4-BE49-F238E27FC236}">
                <a16:creationId xmlns:a16="http://schemas.microsoft.com/office/drawing/2014/main" id="{EDBCC502-FA89-7A08-AE76-CD98F0FD6D64}"/>
              </a:ext>
            </a:extLst>
          </p:cNvPr>
          <p:cNvSpPr/>
          <p:nvPr/>
        </p:nvSpPr>
        <p:spPr>
          <a:xfrm>
            <a:off x="609890" y="1155029"/>
            <a:ext cx="11582110" cy="203398"/>
          </a:xfrm>
          <a:prstGeom prst="rect">
            <a:avLst/>
          </a:prstGeom>
          <a:noFill/>
          <a:ln/>
        </p:spPr>
        <p:txBody>
          <a:bodyPr wrap="none" lIns="0" tIns="0" rIns="0" bIns="0" rtlCol="0" anchor="t"/>
          <a:lstStyle/>
          <a:p>
            <a:pPr marL="0" indent="0" algn="l">
              <a:lnSpc>
                <a:spcPct val="103000"/>
              </a:lnSpc>
              <a:buNone/>
            </a:pPr>
            <a:r>
              <a:rPr lang="en-US" sz="1300" dirty="0">
                <a:solidFill>
                  <a:srgbClr val="5E6B70"/>
                </a:solidFill>
                <a:latin typeface="Public Sans" pitchFamily="34" charset="0"/>
                <a:ea typeface="Public Sans" pitchFamily="34" charset="-122"/>
                <a:cs typeface="Public Sans" pitchFamily="34" charset="0"/>
              </a:rPr>
              <a:t>Comparación de variables en el mismo modelo. Puntaje R² frente a precio constante.</a:t>
            </a:r>
            <a:endParaRPr lang="en-US" sz="1300" dirty="0"/>
          </a:p>
        </p:txBody>
      </p:sp>
    </p:spTree>
    <p:extLst>
      <p:ext uri="{BB962C8B-B14F-4D97-AF65-F5344CB8AC3E}">
        <p14:creationId xmlns:p14="http://schemas.microsoft.com/office/powerpoint/2010/main" val="1832480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title-201">
            <a:extLst>
              <a:ext uri="{FF2B5EF4-FFF2-40B4-BE49-F238E27FC236}">
                <a16:creationId xmlns:a16="http://schemas.microsoft.com/office/drawing/2014/main" id="{913197F3-0161-41BB-9638-0ED0530839E2}"/>
              </a:ext>
            </a:extLst>
          </p:cNvPr>
          <p:cNvSpPr>
            <a:spLocks noGrp="1"/>
          </p:cNvSpPr>
          <p:nvPr/>
        </p:nvSpPr>
        <p:spPr>
          <a:xfrm>
            <a:off x="609600" y="485775"/>
            <a:ext cx="10972800" cy="666750"/>
          </a:xfrm>
          <a:prstGeom prst="rect">
            <a:avLst/>
          </a:prstGeom>
          <a:noFill/>
          <a:ln w="0">
            <a:noFill/>
            <a:prstDash val="solid"/>
          </a:ln>
        </p:spPr>
        <p:txBody>
          <a:bodyPr wrap="square" lIns="0" tIns="0" rIns="0" bIns="0" anchor="t">
            <a:noAutofit/>
          </a:bodyPr>
          <a:lstStyle>
            <a:defPPr algn="l">
              <a:defRPr sz="3300" b="1">
                <a:solidFill>
                  <a:srgbClr val="FFFFFF"/>
                </a:solidFill>
                <a:latin typeface="Rubik"/>
                <a:ea typeface="Rubik"/>
                <a:cs typeface="Rubik"/>
              </a:defRPr>
            </a:defPPr>
            <a:lvl1pPr algn="l">
              <a:defRPr sz="3300" b="1">
                <a:solidFill>
                  <a:srgbClr val="FFFFFF"/>
                </a:solidFill>
                <a:latin typeface="Rubik"/>
                <a:ea typeface="Rubik"/>
                <a:cs typeface="Rubik"/>
              </a:defRPr>
            </a:lvl1pPr>
            <a:lvl2pPr algn="l">
              <a:defRPr sz="3300" b="1">
                <a:solidFill>
                  <a:srgbClr val="FFFFFF"/>
                </a:solidFill>
                <a:latin typeface="Rubik"/>
                <a:ea typeface="Rubik"/>
                <a:cs typeface="Rubik"/>
              </a:defRPr>
            </a:lvl2pPr>
            <a:lvl3pPr algn="l">
              <a:defRPr sz="3300" b="1">
                <a:solidFill>
                  <a:srgbClr val="FFFFFF"/>
                </a:solidFill>
                <a:latin typeface="Rubik"/>
                <a:ea typeface="Rubik"/>
                <a:cs typeface="Rubik"/>
              </a:defRPr>
            </a:lvl3pPr>
            <a:lvl4pPr algn="l">
              <a:defRPr sz="3300" b="1">
                <a:solidFill>
                  <a:srgbClr val="FFFFFF"/>
                </a:solidFill>
                <a:latin typeface="Rubik"/>
                <a:ea typeface="Rubik"/>
                <a:cs typeface="Rubik"/>
              </a:defRPr>
            </a:lvl4pPr>
            <a:lvl5pPr algn="l">
              <a:defRPr sz="3300" b="1">
                <a:solidFill>
                  <a:srgbClr val="FFFFFF"/>
                </a:solidFill>
                <a:latin typeface="Rubik"/>
                <a:ea typeface="Rubik"/>
                <a:cs typeface="Rubik"/>
              </a:defRPr>
            </a:lvl5pPr>
            <a:lvl6pPr algn="l">
              <a:defRPr sz="3300" b="1">
                <a:solidFill>
                  <a:srgbClr val="FFFFFF"/>
                </a:solidFill>
                <a:latin typeface="Rubik"/>
                <a:ea typeface="Rubik"/>
                <a:cs typeface="Rubik"/>
              </a:defRPr>
            </a:lvl6pPr>
            <a:lvl7pPr algn="l">
              <a:defRPr sz="3300" b="1">
                <a:solidFill>
                  <a:srgbClr val="FFFFFF"/>
                </a:solidFill>
                <a:latin typeface="Rubik"/>
                <a:ea typeface="Rubik"/>
                <a:cs typeface="Rubik"/>
              </a:defRPr>
            </a:lvl7pPr>
            <a:lvl8pPr algn="l">
              <a:defRPr sz="3300" b="1">
                <a:solidFill>
                  <a:srgbClr val="FFFFFF"/>
                </a:solidFill>
                <a:latin typeface="Rubik"/>
                <a:ea typeface="Rubik"/>
                <a:cs typeface="Rubik"/>
              </a:defRPr>
            </a:lvl8pPr>
            <a:lvl9pPr algn="l">
              <a:defRPr sz="3300" b="1">
                <a:solidFill>
                  <a:srgbClr val="FFFFFF"/>
                </a:solidFill>
                <a:latin typeface="Rubik"/>
                <a:ea typeface="Rubik"/>
                <a:cs typeface="Rubik"/>
              </a:defRPr>
            </a:lvl9pPr>
          </a:lstStyle>
          <a:p>
            <a:pPr algn="l">
              <a:lnSpc>
                <a:spcPct val="108000"/>
              </a:lnSpc>
              <a:buNone/>
              <a:defRPr sz="3300" b="1">
                <a:solidFill>
                  <a:srgbClr val="FFFFFF"/>
                </a:solidFill>
                <a:latin typeface="Rubik"/>
                <a:ea typeface="Rubik"/>
                <a:cs typeface="Rubik"/>
              </a:defRPr>
            </a:pPr>
            <a:r>
              <a:rPr sz="2800" kern="100" spc="-22" dirty="0" err="1">
                <a:solidFill>
                  <a:srgbClr val="142E3A"/>
                </a:solidFill>
                <a:latin typeface="Public Sans Bold" pitchFamily="34" charset="0"/>
              </a:rPr>
              <a:t>Pronósticos</a:t>
            </a:r>
            <a:r>
              <a:rPr sz="2800" kern="100" spc="-22" dirty="0">
                <a:solidFill>
                  <a:srgbClr val="142E3A"/>
                </a:solidFill>
                <a:latin typeface="Public Sans Bold" pitchFamily="34" charset="0"/>
              </a:rPr>
              <a:t> a 30, 60 y 90 días</a:t>
            </a:r>
          </a:p>
        </p:txBody>
      </p:sp>
      <p:sp>
        <p:nvSpPr>
          <p:cNvPr id="2" name="text-202">
            <a:extLst>
              <a:ext uri="{FF2B5EF4-FFF2-40B4-BE49-F238E27FC236}">
                <a16:creationId xmlns:a16="http://schemas.microsoft.com/office/drawing/2014/main" id="{748BD3A8-674C-4378-B7A9-AE5AAC7F3D90}"/>
              </a:ext>
            </a:extLst>
          </p:cNvPr>
          <p:cNvSpPr>
            <a:spLocks noGrp="1"/>
          </p:cNvSpPr>
          <p:nvPr/>
        </p:nvSpPr>
        <p:spPr>
          <a:xfrm>
            <a:off x="555914" y="1035998"/>
            <a:ext cx="10972800" cy="55245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chemeClr val="bg1">
                    <a:lumMod val="65000"/>
                  </a:schemeClr>
                </a:solidFill>
                <a:latin typeface="Rubik"/>
                <a:ea typeface="Rubik"/>
                <a:cs typeface="Rubik"/>
              </a:rPr>
              <a:t>ARIMAX </a:t>
            </a:r>
            <a:r>
              <a:rPr sz="1800" b="0" dirty="0" err="1">
                <a:solidFill>
                  <a:schemeClr val="bg1">
                    <a:lumMod val="65000"/>
                  </a:schemeClr>
                </a:solidFill>
                <a:latin typeface="Rubik"/>
                <a:ea typeface="Rubik"/>
                <a:cs typeface="Rubik"/>
              </a:rPr>
              <a:t>desde</a:t>
            </a:r>
            <a:r>
              <a:rPr sz="1800" b="0" dirty="0">
                <a:solidFill>
                  <a:schemeClr val="bg1">
                    <a:lumMod val="65000"/>
                  </a:schemeClr>
                </a:solidFill>
                <a:latin typeface="Rubik"/>
                <a:ea typeface="Rubik"/>
                <a:cs typeface="Rubik"/>
              </a:rPr>
              <a:t> el 24/09/2026. El </a:t>
            </a:r>
            <a:r>
              <a:rPr sz="1800" b="0" dirty="0" err="1">
                <a:solidFill>
                  <a:schemeClr val="bg1">
                    <a:lumMod val="65000"/>
                  </a:schemeClr>
                </a:solidFill>
                <a:latin typeface="Rubik"/>
                <a:ea typeface="Rubik"/>
                <a:cs typeface="Rubik"/>
              </a:rPr>
              <a:t>escenario</a:t>
            </a:r>
            <a:r>
              <a:rPr sz="1800" b="0" dirty="0">
                <a:solidFill>
                  <a:schemeClr val="bg1">
                    <a:lumMod val="65000"/>
                  </a:schemeClr>
                </a:solidFill>
                <a:latin typeface="Rubik"/>
                <a:ea typeface="Rubik"/>
                <a:cs typeface="Rubik"/>
              </a:rPr>
              <a:t> central </a:t>
            </a:r>
            <a:r>
              <a:rPr sz="1800" b="0" dirty="0" err="1">
                <a:solidFill>
                  <a:schemeClr val="bg1">
                    <a:lumMod val="65000"/>
                  </a:schemeClr>
                </a:solidFill>
                <a:latin typeface="Rubik"/>
                <a:ea typeface="Rubik"/>
                <a:cs typeface="Rubik"/>
              </a:rPr>
              <a:t>muestra</a:t>
            </a:r>
            <a:r>
              <a:rPr sz="1800" b="0" dirty="0">
                <a:solidFill>
                  <a:schemeClr val="bg1">
                    <a:lumMod val="65000"/>
                  </a:schemeClr>
                </a:solidFill>
                <a:latin typeface="Rubik"/>
                <a:ea typeface="Rubik"/>
                <a:cs typeface="Rubik"/>
              </a:rPr>
              <a:t> </a:t>
            </a:r>
            <a:r>
              <a:rPr sz="1800" b="0" dirty="0" err="1">
                <a:solidFill>
                  <a:schemeClr val="bg1">
                    <a:lumMod val="65000"/>
                  </a:schemeClr>
                </a:solidFill>
                <a:latin typeface="Rubik"/>
                <a:ea typeface="Rubik"/>
                <a:cs typeface="Rubik"/>
              </a:rPr>
              <a:t>precios</a:t>
            </a:r>
            <a:r>
              <a:rPr sz="1800" b="0" dirty="0">
                <a:solidFill>
                  <a:schemeClr val="bg1">
                    <a:lumMod val="65000"/>
                  </a:schemeClr>
                </a:solidFill>
                <a:latin typeface="Rubik"/>
                <a:ea typeface="Rubik"/>
                <a:cs typeface="Rubik"/>
              </a:rPr>
              <a:t> </a:t>
            </a:r>
            <a:r>
              <a:rPr sz="1800" b="0" dirty="0" err="1">
                <a:solidFill>
                  <a:schemeClr val="bg1">
                    <a:lumMod val="65000"/>
                  </a:schemeClr>
                </a:solidFill>
                <a:latin typeface="Rubik"/>
                <a:ea typeface="Rubik"/>
                <a:cs typeface="Rubik"/>
              </a:rPr>
              <a:t>casi</a:t>
            </a:r>
            <a:r>
              <a:rPr sz="1800" b="0" dirty="0">
                <a:solidFill>
                  <a:schemeClr val="bg1">
                    <a:lumMod val="65000"/>
                  </a:schemeClr>
                </a:solidFill>
                <a:latin typeface="Rubik"/>
                <a:ea typeface="Rubik"/>
                <a:cs typeface="Rubik"/>
              </a:rPr>
              <a:t> </a:t>
            </a:r>
            <a:r>
              <a:rPr sz="1800" b="0" dirty="0" err="1">
                <a:solidFill>
                  <a:schemeClr val="bg1">
                    <a:lumMod val="65000"/>
                  </a:schemeClr>
                </a:solidFill>
                <a:latin typeface="Rubik"/>
                <a:ea typeface="Rubik"/>
                <a:cs typeface="Rubik"/>
              </a:rPr>
              <a:t>estables</a:t>
            </a:r>
            <a:r>
              <a:rPr sz="1800" b="0" dirty="0">
                <a:solidFill>
                  <a:schemeClr val="bg1">
                    <a:lumMod val="65000"/>
                  </a:schemeClr>
                </a:solidFill>
                <a:latin typeface="Rubik"/>
                <a:ea typeface="Rubik"/>
                <a:cs typeface="Rubik"/>
              </a:rPr>
              <a:t>.</a:t>
            </a:r>
          </a:p>
        </p:txBody>
      </p:sp>
      <p:sp>
        <p:nvSpPr>
          <p:cNvPr id="3" name="text-203">
            <a:extLst>
              <a:ext uri="{FF2B5EF4-FFF2-40B4-BE49-F238E27FC236}">
                <a16:creationId xmlns:a16="http://schemas.microsoft.com/office/drawing/2014/main" id="{6082D0C2-E448-495A-B672-F3533869F4F0}"/>
              </a:ext>
            </a:extLst>
          </p:cNvPr>
          <p:cNvSpPr>
            <a:spLocks noGrp="1"/>
          </p:cNvSpPr>
          <p:nvPr/>
        </p:nvSpPr>
        <p:spPr>
          <a:xfrm>
            <a:off x="609600" y="6477000"/>
            <a:ext cx="10287000" cy="209550"/>
          </a:xfrm>
          <a:prstGeom prst="rect">
            <a:avLst/>
          </a:prstGeom>
          <a:noFill/>
          <a:ln w="0">
            <a:noFill/>
            <a:prstDash val="solid"/>
          </a:ln>
        </p:spPr>
        <p:txBody>
          <a:bodyPr wrap="square" lIns="0" tIns="0" rIns="0" bIns="0" anchor="t">
            <a:noAutofit/>
          </a:bodyPr>
          <a:lstStyle>
            <a:defPPr algn="l">
              <a:defRPr sz="1050" b="0">
                <a:solidFill>
                  <a:srgbClr val="AAC5BE"/>
                </a:solidFill>
                <a:latin typeface="Rubik"/>
                <a:ea typeface="Rubik"/>
                <a:cs typeface="Rubik"/>
              </a:defRPr>
            </a:defPPr>
            <a:lvl1pPr algn="l">
              <a:defRPr sz="1050" b="0">
                <a:solidFill>
                  <a:srgbClr val="AAC5BE"/>
                </a:solidFill>
                <a:latin typeface="Rubik"/>
                <a:ea typeface="Rubik"/>
                <a:cs typeface="Rubik"/>
              </a:defRPr>
            </a:lvl1pPr>
            <a:lvl2pPr algn="l">
              <a:defRPr sz="1050" b="0">
                <a:solidFill>
                  <a:srgbClr val="AAC5BE"/>
                </a:solidFill>
                <a:latin typeface="Rubik"/>
                <a:ea typeface="Rubik"/>
                <a:cs typeface="Rubik"/>
              </a:defRPr>
            </a:lvl2pPr>
            <a:lvl3pPr algn="l">
              <a:defRPr sz="1050" b="0">
                <a:solidFill>
                  <a:srgbClr val="AAC5BE"/>
                </a:solidFill>
                <a:latin typeface="Rubik"/>
                <a:ea typeface="Rubik"/>
                <a:cs typeface="Rubik"/>
              </a:defRPr>
            </a:lvl3pPr>
            <a:lvl4pPr algn="l">
              <a:defRPr sz="1050" b="0">
                <a:solidFill>
                  <a:srgbClr val="AAC5BE"/>
                </a:solidFill>
                <a:latin typeface="Rubik"/>
                <a:ea typeface="Rubik"/>
                <a:cs typeface="Rubik"/>
              </a:defRPr>
            </a:lvl4pPr>
            <a:lvl5pPr algn="l">
              <a:defRPr sz="1050" b="0">
                <a:solidFill>
                  <a:srgbClr val="AAC5BE"/>
                </a:solidFill>
                <a:latin typeface="Rubik"/>
                <a:ea typeface="Rubik"/>
                <a:cs typeface="Rubik"/>
              </a:defRPr>
            </a:lvl5pPr>
            <a:lvl6pPr algn="l">
              <a:defRPr sz="1050" b="0">
                <a:solidFill>
                  <a:srgbClr val="AAC5BE"/>
                </a:solidFill>
                <a:latin typeface="Rubik"/>
                <a:ea typeface="Rubik"/>
                <a:cs typeface="Rubik"/>
              </a:defRPr>
            </a:lvl6pPr>
            <a:lvl7pPr algn="l">
              <a:defRPr sz="1050" b="0">
                <a:solidFill>
                  <a:srgbClr val="AAC5BE"/>
                </a:solidFill>
                <a:latin typeface="Rubik"/>
                <a:ea typeface="Rubik"/>
                <a:cs typeface="Rubik"/>
              </a:defRPr>
            </a:lvl7pPr>
            <a:lvl8pPr algn="l">
              <a:defRPr sz="1050" b="0">
                <a:solidFill>
                  <a:srgbClr val="AAC5BE"/>
                </a:solidFill>
                <a:latin typeface="Rubik"/>
                <a:ea typeface="Rubik"/>
                <a:cs typeface="Rubik"/>
              </a:defRPr>
            </a:lvl8pPr>
            <a:lvl9pPr algn="l">
              <a:defRPr sz="1050" b="0">
                <a:solidFill>
                  <a:srgbClr val="AAC5BE"/>
                </a:solidFill>
                <a:latin typeface="Rubik"/>
                <a:ea typeface="Rubik"/>
                <a:cs typeface="Rubik"/>
              </a:defRPr>
            </a:lvl9pPr>
          </a:lstStyle>
          <a:p>
            <a:pPr algn="l">
              <a:lnSpc>
                <a:spcPct val="108000"/>
              </a:lnSpc>
              <a:buNone/>
              <a:defRPr sz="1050" b="0">
                <a:solidFill>
                  <a:srgbClr val="AAC5BE"/>
                </a:solidFill>
                <a:latin typeface="Rubik"/>
                <a:ea typeface="Rubik"/>
                <a:cs typeface="Rubik"/>
              </a:defRPr>
            </a:pPr>
            <a:r>
              <a:rPr sz="1050" b="0">
                <a:solidFill>
                  <a:srgbClr val="AAC5BE"/>
                </a:solidFill>
                <a:latin typeface="Rubik"/>
                <a:ea typeface="Rubik"/>
                <a:cs typeface="Rubik"/>
              </a:rPr>
              <a:t>Fuente: Notebook 2b. Valores en USD por tonelada.</a:t>
            </a:r>
          </a:p>
        </p:txBody>
      </p:sp>
      <p:sp>
        <p:nvSpPr>
          <p:cNvPr id="4" name="text-204">
            <a:extLst>
              <a:ext uri="{FF2B5EF4-FFF2-40B4-BE49-F238E27FC236}">
                <a16:creationId xmlns:a16="http://schemas.microsoft.com/office/drawing/2014/main" id="{A7BA406A-DBD0-4450-B060-BF62CE56E32C}"/>
              </a:ext>
            </a:extLst>
          </p:cNvPr>
          <p:cNvSpPr>
            <a:spLocks noGrp="1"/>
          </p:cNvSpPr>
          <p:nvPr/>
        </p:nvSpPr>
        <p:spPr>
          <a:xfrm>
            <a:off x="11049000" y="6448425"/>
            <a:ext cx="523875" cy="247650"/>
          </a:xfrm>
          <a:prstGeom prst="rect">
            <a:avLst/>
          </a:prstGeom>
          <a:noFill/>
          <a:ln w="0">
            <a:noFill/>
            <a:prstDash val="solid"/>
          </a:ln>
        </p:spPr>
        <p:txBody>
          <a:bodyPr wrap="square" lIns="0" tIns="0" rIns="0" bIns="0" anchor="t">
            <a:noAutofit/>
          </a:bodyPr>
          <a:lstStyle>
            <a:defPPr algn="r">
              <a:defRPr sz="1350" b="0">
                <a:solidFill>
                  <a:srgbClr val="AAC5BE"/>
                </a:solidFill>
                <a:latin typeface="Rubik"/>
                <a:ea typeface="Rubik"/>
                <a:cs typeface="Rubik"/>
              </a:defRPr>
            </a:defPPr>
            <a:lvl1pPr algn="r">
              <a:defRPr sz="1350" b="0">
                <a:solidFill>
                  <a:srgbClr val="AAC5BE"/>
                </a:solidFill>
                <a:latin typeface="Rubik"/>
                <a:ea typeface="Rubik"/>
                <a:cs typeface="Rubik"/>
              </a:defRPr>
            </a:lvl1pPr>
            <a:lvl2pPr algn="r">
              <a:defRPr sz="1350" b="0">
                <a:solidFill>
                  <a:srgbClr val="AAC5BE"/>
                </a:solidFill>
                <a:latin typeface="Rubik"/>
                <a:ea typeface="Rubik"/>
                <a:cs typeface="Rubik"/>
              </a:defRPr>
            </a:lvl2pPr>
            <a:lvl3pPr algn="r">
              <a:defRPr sz="1350" b="0">
                <a:solidFill>
                  <a:srgbClr val="AAC5BE"/>
                </a:solidFill>
                <a:latin typeface="Rubik"/>
                <a:ea typeface="Rubik"/>
                <a:cs typeface="Rubik"/>
              </a:defRPr>
            </a:lvl3pPr>
            <a:lvl4pPr algn="r">
              <a:defRPr sz="1350" b="0">
                <a:solidFill>
                  <a:srgbClr val="AAC5BE"/>
                </a:solidFill>
                <a:latin typeface="Rubik"/>
                <a:ea typeface="Rubik"/>
                <a:cs typeface="Rubik"/>
              </a:defRPr>
            </a:lvl4pPr>
            <a:lvl5pPr algn="r">
              <a:defRPr sz="1350" b="0">
                <a:solidFill>
                  <a:srgbClr val="AAC5BE"/>
                </a:solidFill>
                <a:latin typeface="Rubik"/>
                <a:ea typeface="Rubik"/>
                <a:cs typeface="Rubik"/>
              </a:defRPr>
            </a:lvl5pPr>
            <a:lvl6pPr algn="r">
              <a:defRPr sz="1350" b="0">
                <a:solidFill>
                  <a:srgbClr val="AAC5BE"/>
                </a:solidFill>
                <a:latin typeface="Rubik"/>
                <a:ea typeface="Rubik"/>
                <a:cs typeface="Rubik"/>
              </a:defRPr>
            </a:lvl6pPr>
            <a:lvl7pPr algn="r">
              <a:defRPr sz="1350" b="0">
                <a:solidFill>
                  <a:srgbClr val="AAC5BE"/>
                </a:solidFill>
                <a:latin typeface="Rubik"/>
                <a:ea typeface="Rubik"/>
                <a:cs typeface="Rubik"/>
              </a:defRPr>
            </a:lvl7pPr>
            <a:lvl8pPr algn="r">
              <a:defRPr sz="1350" b="0">
                <a:solidFill>
                  <a:srgbClr val="AAC5BE"/>
                </a:solidFill>
                <a:latin typeface="Rubik"/>
                <a:ea typeface="Rubik"/>
                <a:cs typeface="Rubik"/>
              </a:defRPr>
            </a:lvl8pPr>
            <a:lvl9pPr algn="r">
              <a:defRPr sz="1350" b="0">
                <a:solidFill>
                  <a:srgbClr val="AAC5BE"/>
                </a:solidFill>
                <a:latin typeface="Rubik"/>
                <a:ea typeface="Rubik"/>
                <a:cs typeface="Rubik"/>
              </a:defRPr>
            </a:lvl9pPr>
          </a:lstStyle>
          <a:p>
            <a:pPr algn="r">
              <a:lnSpc>
                <a:spcPct val="108000"/>
              </a:lnSpc>
              <a:buNone/>
              <a:defRPr sz="1350" b="0">
                <a:solidFill>
                  <a:srgbClr val="AAC5BE"/>
                </a:solidFill>
                <a:latin typeface="Rubik"/>
                <a:ea typeface="Rubik"/>
                <a:cs typeface="Rubik"/>
              </a:defRPr>
            </a:pPr>
            <a:r>
              <a:rPr sz="1350" b="0">
                <a:solidFill>
                  <a:srgbClr val="AAC5BE"/>
                </a:solidFill>
                <a:latin typeface="Rubik"/>
                <a:ea typeface="Rubik"/>
                <a:cs typeface="Rubik"/>
              </a:rPr>
              <a:t>14</a:t>
            </a:r>
          </a:p>
        </p:txBody>
      </p:sp>
      <p:sp>
        <p:nvSpPr>
          <p:cNvPr id="5" name="text-205">
            <a:extLst>
              <a:ext uri="{FF2B5EF4-FFF2-40B4-BE49-F238E27FC236}">
                <a16:creationId xmlns:a16="http://schemas.microsoft.com/office/drawing/2014/main" id="{2A030223-5027-46C4-BE53-5D26D4C0147A}"/>
              </a:ext>
            </a:extLst>
          </p:cNvPr>
          <p:cNvSpPr>
            <a:spLocks noGrp="1"/>
          </p:cNvSpPr>
          <p:nvPr/>
        </p:nvSpPr>
        <p:spPr>
          <a:xfrm>
            <a:off x="666070" y="1962150"/>
            <a:ext cx="3333750" cy="342900"/>
          </a:xfrm>
          <a:prstGeom prst="rect">
            <a:avLst/>
          </a:prstGeom>
          <a:noFill/>
          <a:ln w="0">
            <a:noFill/>
            <a:prstDash val="solid"/>
          </a:ln>
        </p:spPr>
        <p:txBody>
          <a:bodyPr wrap="square" lIns="0" tIns="0" rIns="0" bIns="0" anchor="t">
            <a:noAutofit/>
          </a:bodyPr>
          <a:lstStyle>
            <a:defPPr algn="l">
              <a:defRPr sz="1950" b="1">
                <a:solidFill>
                  <a:srgbClr val="D3AF63"/>
                </a:solidFill>
                <a:latin typeface="Rubik"/>
                <a:ea typeface="Rubik"/>
                <a:cs typeface="Rubik"/>
              </a:defRPr>
            </a:defPPr>
            <a:lvl1pPr algn="l">
              <a:defRPr sz="1950" b="1">
                <a:solidFill>
                  <a:srgbClr val="D3AF63"/>
                </a:solidFill>
                <a:latin typeface="Rubik"/>
                <a:ea typeface="Rubik"/>
                <a:cs typeface="Rubik"/>
              </a:defRPr>
            </a:lvl1pPr>
            <a:lvl2pPr algn="l">
              <a:defRPr sz="1950" b="1">
                <a:solidFill>
                  <a:srgbClr val="D3AF63"/>
                </a:solidFill>
                <a:latin typeface="Rubik"/>
                <a:ea typeface="Rubik"/>
                <a:cs typeface="Rubik"/>
              </a:defRPr>
            </a:lvl2pPr>
            <a:lvl3pPr algn="l">
              <a:defRPr sz="1950" b="1">
                <a:solidFill>
                  <a:srgbClr val="D3AF63"/>
                </a:solidFill>
                <a:latin typeface="Rubik"/>
                <a:ea typeface="Rubik"/>
                <a:cs typeface="Rubik"/>
              </a:defRPr>
            </a:lvl3pPr>
            <a:lvl4pPr algn="l">
              <a:defRPr sz="1950" b="1">
                <a:solidFill>
                  <a:srgbClr val="D3AF63"/>
                </a:solidFill>
                <a:latin typeface="Rubik"/>
                <a:ea typeface="Rubik"/>
                <a:cs typeface="Rubik"/>
              </a:defRPr>
            </a:lvl4pPr>
            <a:lvl5pPr algn="l">
              <a:defRPr sz="1950" b="1">
                <a:solidFill>
                  <a:srgbClr val="D3AF63"/>
                </a:solidFill>
                <a:latin typeface="Rubik"/>
                <a:ea typeface="Rubik"/>
                <a:cs typeface="Rubik"/>
              </a:defRPr>
            </a:lvl5pPr>
            <a:lvl6pPr algn="l">
              <a:defRPr sz="1950" b="1">
                <a:solidFill>
                  <a:srgbClr val="D3AF63"/>
                </a:solidFill>
                <a:latin typeface="Rubik"/>
                <a:ea typeface="Rubik"/>
                <a:cs typeface="Rubik"/>
              </a:defRPr>
            </a:lvl6pPr>
            <a:lvl7pPr algn="l">
              <a:defRPr sz="1950" b="1">
                <a:solidFill>
                  <a:srgbClr val="D3AF63"/>
                </a:solidFill>
                <a:latin typeface="Rubik"/>
                <a:ea typeface="Rubik"/>
                <a:cs typeface="Rubik"/>
              </a:defRPr>
            </a:lvl7pPr>
            <a:lvl8pPr algn="l">
              <a:defRPr sz="1950" b="1">
                <a:solidFill>
                  <a:srgbClr val="D3AF63"/>
                </a:solidFill>
                <a:latin typeface="Rubik"/>
                <a:ea typeface="Rubik"/>
                <a:cs typeface="Rubik"/>
              </a:defRPr>
            </a:lvl8pPr>
            <a:lvl9pPr algn="l">
              <a:defRPr sz="1950" b="1">
                <a:solidFill>
                  <a:srgbClr val="D3AF63"/>
                </a:solidFill>
                <a:latin typeface="Rubik"/>
                <a:ea typeface="Rubik"/>
                <a:cs typeface="Rubik"/>
              </a:defRPr>
            </a:lvl9pPr>
          </a:lstStyle>
          <a:p>
            <a:pPr algn="l">
              <a:lnSpc>
                <a:spcPct val="108000"/>
              </a:lnSpc>
              <a:buNone/>
              <a:defRPr sz="1950" b="1">
                <a:solidFill>
                  <a:srgbClr val="D3AF63"/>
                </a:solidFill>
                <a:latin typeface="Rubik"/>
                <a:ea typeface="Rubik"/>
                <a:cs typeface="Rubik"/>
              </a:defRPr>
            </a:pPr>
            <a:r>
              <a:rPr sz="2400" b="1" dirty="0">
                <a:solidFill>
                  <a:srgbClr val="FFC000"/>
                </a:solidFill>
                <a:latin typeface="Rubik"/>
                <a:ea typeface="Rubik"/>
                <a:cs typeface="Rubik"/>
              </a:rPr>
              <a:t>SOJA</a:t>
            </a:r>
          </a:p>
        </p:txBody>
      </p:sp>
      <p:sp>
        <p:nvSpPr>
          <p:cNvPr id="6" name="text-206">
            <a:extLst>
              <a:ext uri="{FF2B5EF4-FFF2-40B4-BE49-F238E27FC236}">
                <a16:creationId xmlns:a16="http://schemas.microsoft.com/office/drawing/2014/main" id="{4389444A-C4C1-47F7-9DA2-B105B765BA71}"/>
              </a:ext>
            </a:extLst>
          </p:cNvPr>
          <p:cNvSpPr>
            <a:spLocks noGrp="1"/>
          </p:cNvSpPr>
          <p:nvPr/>
        </p:nvSpPr>
        <p:spPr>
          <a:xfrm>
            <a:off x="609600" y="2533650"/>
            <a:ext cx="3333750" cy="828675"/>
          </a:xfrm>
          <a:prstGeom prst="rect">
            <a:avLst/>
          </a:prstGeom>
          <a:noFill/>
          <a:ln w="0">
            <a:noFill/>
            <a:prstDash val="solid"/>
          </a:ln>
        </p:spPr>
        <p:txBody>
          <a:bodyPr wrap="square" lIns="0" tIns="0" rIns="0" bIns="0" anchor="t">
            <a:noAutofit/>
          </a:bodyPr>
          <a:lstStyle>
            <a:defPPr algn="l">
              <a:defRPr sz="5025" b="1">
                <a:solidFill>
                  <a:srgbClr val="FFFFFF"/>
                </a:solidFill>
                <a:latin typeface="Rubik"/>
                <a:ea typeface="Rubik"/>
                <a:cs typeface="Rubik"/>
              </a:defRPr>
            </a:defPPr>
            <a:lvl1pPr algn="l">
              <a:defRPr sz="5025" b="1">
                <a:solidFill>
                  <a:srgbClr val="FFFFFF"/>
                </a:solidFill>
                <a:latin typeface="Rubik"/>
                <a:ea typeface="Rubik"/>
                <a:cs typeface="Rubik"/>
              </a:defRPr>
            </a:lvl1pPr>
            <a:lvl2pPr algn="l">
              <a:defRPr sz="5025" b="1">
                <a:solidFill>
                  <a:srgbClr val="FFFFFF"/>
                </a:solidFill>
                <a:latin typeface="Rubik"/>
                <a:ea typeface="Rubik"/>
                <a:cs typeface="Rubik"/>
              </a:defRPr>
            </a:lvl2pPr>
            <a:lvl3pPr algn="l">
              <a:defRPr sz="5025" b="1">
                <a:solidFill>
                  <a:srgbClr val="FFFFFF"/>
                </a:solidFill>
                <a:latin typeface="Rubik"/>
                <a:ea typeface="Rubik"/>
                <a:cs typeface="Rubik"/>
              </a:defRPr>
            </a:lvl3pPr>
            <a:lvl4pPr algn="l">
              <a:defRPr sz="5025" b="1">
                <a:solidFill>
                  <a:srgbClr val="FFFFFF"/>
                </a:solidFill>
                <a:latin typeface="Rubik"/>
                <a:ea typeface="Rubik"/>
                <a:cs typeface="Rubik"/>
              </a:defRPr>
            </a:lvl4pPr>
            <a:lvl5pPr algn="l">
              <a:defRPr sz="5025" b="1">
                <a:solidFill>
                  <a:srgbClr val="FFFFFF"/>
                </a:solidFill>
                <a:latin typeface="Rubik"/>
                <a:ea typeface="Rubik"/>
                <a:cs typeface="Rubik"/>
              </a:defRPr>
            </a:lvl5pPr>
            <a:lvl6pPr algn="l">
              <a:defRPr sz="5025" b="1">
                <a:solidFill>
                  <a:srgbClr val="FFFFFF"/>
                </a:solidFill>
                <a:latin typeface="Rubik"/>
                <a:ea typeface="Rubik"/>
                <a:cs typeface="Rubik"/>
              </a:defRPr>
            </a:lvl6pPr>
            <a:lvl7pPr algn="l">
              <a:defRPr sz="5025" b="1">
                <a:solidFill>
                  <a:srgbClr val="FFFFFF"/>
                </a:solidFill>
                <a:latin typeface="Rubik"/>
                <a:ea typeface="Rubik"/>
                <a:cs typeface="Rubik"/>
              </a:defRPr>
            </a:lvl7pPr>
            <a:lvl8pPr algn="l">
              <a:defRPr sz="5025" b="1">
                <a:solidFill>
                  <a:srgbClr val="FFFFFF"/>
                </a:solidFill>
                <a:latin typeface="Rubik"/>
                <a:ea typeface="Rubik"/>
                <a:cs typeface="Rubik"/>
              </a:defRPr>
            </a:lvl8pPr>
            <a:lvl9pPr algn="l">
              <a:defRPr sz="5025" b="1">
                <a:solidFill>
                  <a:srgbClr val="FFFFFF"/>
                </a:solidFill>
                <a:latin typeface="Rubik"/>
                <a:ea typeface="Rubik"/>
                <a:cs typeface="Rubik"/>
              </a:defRPr>
            </a:lvl9pPr>
          </a:lstStyle>
          <a:p>
            <a:pPr algn="l">
              <a:lnSpc>
                <a:spcPct val="108000"/>
              </a:lnSpc>
              <a:buNone/>
              <a:defRPr sz="5025" b="1">
                <a:solidFill>
                  <a:srgbClr val="FFFFFF"/>
                </a:solidFill>
                <a:latin typeface="Rubik"/>
                <a:ea typeface="Rubik"/>
                <a:cs typeface="Rubik"/>
              </a:defRPr>
            </a:pPr>
            <a:r>
              <a:rPr sz="5025" b="1" dirty="0">
                <a:solidFill>
                  <a:srgbClr val="FFFFFF"/>
                </a:solidFill>
                <a:latin typeface="Rubik"/>
                <a:ea typeface="Rubik"/>
                <a:cs typeface="Rubik"/>
              </a:rPr>
              <a:t>369,9</a:t>
            </a:r>
          </a:p>
        </p:txBody>
      </p:sp>
      <p:sp>
        <p:nvSpPr>
          <p:cNvPr id="7" name="text-207">
            <a:extLst>
              <a:ext uri="{FF2B5EF4-FFF2-40B4-BE49-F238E27FC236}">
                <a16:creationId xmlns:a16="http://schemas.microsoft.com/office/drawing/2014/main" id="{9538411B-AEE4-4784-8D4D-DC058186163C}"/>
              </a:ext>
            </a:extLst>
          </p:cNvPr>
          <p:cNvSpPr>
            <a:spLocks noGrp="1"/>
          </p:cNvSpPr>
          <p:nvPr/>
        </p:nvSpPr>
        <p:spPr>
          <a:xfrm>
            <a:off x="609600" y="3419475"/>
            <a:ext cx="3333750" cy="333375"/>
          </a:xfrm>
          <a:prstGeom prst="rect">
            <a:avLst/>
          </a:prstGeom>
          <a:noFill/>
          <a:ln w="0">
            <a:noFill/>
            <a:prstDash val="solid"/>
          </a:ln>
        </p:spPr>
        <p:txBody>
          <a:bodyPr wrap="square" lIns="0" tIns="0" rIns="0" bIns="0" anchor="t">
            <a:noAutofit/>
          </a:bodyPr>
          <a:lstStyle>
            <a:defPPr algn="l">
              <a:defRPr sz="1875" b="0">
                <a:solidFill>
                  <a:srgbClr val="FFFFFF"/>
                </a:solidFill>
                <a:latin typeface="Rubik"/>
                <a:ea typeface="Rubik"/>
                <a:cs typeface="Rubik"/>
              </a:defRPr>
            </a:defPPr>
            <a:lvl1pPr algn="l">
              <a:defRPr sz="1875" b="0">
                <a:solidFill>
                  <a:srgbClr val="FFFFFF"/>
                </a:solidFill>
                <a:latin typeface="Rubik"/>
                <a:ea typeface="Rubik"/>
                <a:cs typeface="Rubik"/>
              </a:defRPr>
            </a:lvl1pPr>
            <a:lvl2pPr algn="l">
              <a:defRPr sz="1875" b="0">
                <a:solidFill>
                  <a:srgbClr val="FFFFFF"/>
                </a:solidFill>
                <a:latin typeface="Rubik"/>
                <a:ea typeface="Rubik"/>
                <a:cs typeface="Rubik"/>
              </a:defRPr>
            </a:lvl2pPr>
            <a:lvl3pPr algn="l">
              <a:defRPr sz="1875" b="0">
                <a:solidFill>
                  <a:srgbClr val="FFFFFF"/>
                </a:solidFill>
                <a:latin typeface="Rubik"/>
                <a:ea typeface="Rubik"/>
                <a:cs typeface="Rubik"/>
              </a:defRPr>
            </a:lvl3pPr>
            <a:lvl4pPr algn="l">
              <a:defRPr sz="1875" b="0">
                <a:solidFill>
                  <a:srgbClr val="FFFFFF"/>
                </a:solidFill>
                <a:latin typeface="Rubik"/>
                <a:ea typeface="Rubik"/>
                <a:cs typeface="Rubik"/>
              </a:defRPr>
            </a:lvl4pPr>
            <a:lvl5pPr algn="l">
              <a:defRPr sz="1875" b="0">
                <a:solidFill>
                  <a:srgbClr val="FFFFFF"/>
                </a:solidFill>
                <a:latin typeface="Rubik"/>
                <a:ea typeface="Rubik"/>
                <a:cs typeface="Rubik"/>
              </a:defRPr>
            </a:lvl5pPr>
            <a:lvl6pPr algn="l">
              <a:defRPr sz="1875" b="0">
                <a:solidFill>
                  <a:srgbClr val="FFFFFF"/>
                </a:solidFill>
                <a:latin typeface="Rubik"/>
                <a:ea typeface="Rubik"/>
                <a:cs typeface="Rubik"/>
              </a:defRPr>
            </a:lvl6pPr>
            <a:lvl7pPr algn="l">
              <a:defRPr sz="1875" b="0">
                <a:solidFill>
                  <a:srgbClr val="FFFFFF"/>
                </a:solidFill>
                <a:latin typeface="Rubik"/>
                <a:ea typeface="Rubik"/>
                <a:cs typeface="Rubik"/>
              </a:defRPr>
            </a:lvl7pPr>
            <a:lvl8pPr algn="l">
              <a:defRPr sz="1875" b="0">
                <a:solidFill>
                  <a:srgbClr val="FFFFFF"/>
                </a:solidFill>
                <a:latin typeface="Rubik"/>
                <a:ea typeface="Rubik"/>
                <a:cs typeface="Rubik"/>
              </a:defRPr>
            </a:lvl8pPr>
            <a:lvl9pPr algn="l">
              <a:defRPr sz="1875" b="0">
                <a:solidFill>
                  <a:srgbClr val="FFFFFF"/>
                </a:solidFill>
                <a:latin typeface="Rubik"/>
                <a:ea typeface="Rubik"/>
                <a:cs typeface="Rubik"/>
              </a:defRPr>
            </a:lvl9pPr>
          </a:lstStyle>
          <a:p>
            <a:pPr algn="l">
              <a:lnSpc>
                <a:spcPct val="108000"/>
              </a:lnSpc>
              <a:buNone/>
              <a:defRPr sz="1875" b="0">
                <a:solidFill>
                  <a:srgbClr val="FFFFFF"/>
                </a:solidFill>
                <a:latin typeface="Rubik"/>
                <a:ea typeface="Rubik"/>
                <a:cs typeface="Rubik"/>
              </a:defRPr>
            </a:pPr>
            <a:r>
              <a:rPr sz="1875" b="0">
                <a:solidFill>
                  <a:srgbClr val="FFFFFF"/>
                </a:solidFill>
                <a:latin typeface="Rubik"/>
                <a:ea typeface="Rubik"/>
                <a:cs typeface="Rubik"/>
              </a:rPr>
              <a:t>USD/t a 90 días</a:t>
            </a:r>
          </a:p>
        </p:txBody>
      </p:sp>
      <p:sp>
        <p:nvSpPr>
          <p:cNvPr id="8" name="rule-208">
            <a:extLst>
              <a:ext uri="{FF2B5EF4-FFF2-40B4-BE49-F238E27FC236}">
                <a16:creationId xmlns:a16="http://schemas.microsoft.com/office/drawing/2014/main" id="{3B8199D7-81B2-4BE1-BACB-C76233EDFE29}"/>
              </a:ext>
            </a:extLst>
          </p:cNvPr>
          <p:cNvSpPr>
            <a:spLocks noGrp="1"/>
          </p:cNvSpPr>
          <p:nvPr/>
        </p:nvSpPr>
        <p:spPr>
          <a:xfrm>
            <a:off x="609600" y="3886200"/>
            <a:ext cx="3333750" cy="0"/>
          </a:xfrm>
          <a:prstGeom prst="line">
            <a:avLst/>
          </a:prstGeom>
          <a:noFill/>
          <a:ln w="11430">
            <a:solidFill>
              <a:srgbClr val="456D66"/>
            </a:solidFill>
            <a:prstDash val="solid"/>
          </a:ln>
        </p:spPr>
        <p:txBody>
          <a:bodyPr/>
          <a:lstStyle/>
          <a:p>
            <a:endParaRPr lang="es-AR"/>
          </a:p>
        </p:txBody>
      </p:sp>
      <p:sp>
        <p:nvSpPr>
          <p:cNvPr id="9" name="text-209">
            <a:extLst>
              <a:ext uri="{FF2B5EF4-FFF2-40B4-BE49-F238E27FC236}">
                <a16:creationId xmlns:a16="http://schemas.microsoft.com/office/drawing/2014/main" id="{DDBF563E-91EB-432C-B901-18B2BFAA2C5C}"/>
              </a:ext>
            </a:extLst>
          </p:cNvPr>
          <p:cNvSpPr>
            <a:spLocks noGrp="1"/>
          </p:cNvSpPr>
          <p:nvPr/>
        </p:nvSpPr>
        <p:spPr>
          <a:xfrm>
            <a:off x="609600" y="4133850"/>
            <a:ext cx="3333750" cy="323850"/>
          </a:xfrm>
          <a:prstGeom prst="rect">
            <a:avLst/>
          </a:prstGeom>
          <a:noFill/>
          <a:ln w="0">
            <a:noFill/>
            <a:prstDash val="solid"/>
          </a:ln>
        </p:spPr>
        <p:txBody>
          <a:bodyPr wrap="square" lIns="0" tIns="0" rIns="0" bIns="0" anchor="t">
            <a:noAutofit/>
          </a:bodyPr>
          <a:lstStyle>
            <a:defPPr algn="l">
              <a:defRPr sz="1725" b="0">
                <a:solidFill>
                  <a:srgbClr val="DCE8E3"/>
                </a:solidFill>
                <a:latin typeface="Rubik"/>
                <a:ea typeface="Rubik"/>
                <a:cs typeface="Rubik"/>
              </a:defRPr>
            </a:defPPr>
            <a:lvl1pPr algn="l">
              <a:defRPr sz="1725" b="0">
                <a:solidFill>
                  <a:srgbClr val="DCE8E3"/>
                </a:solidFill>
                <a:latin typeface="Rubik"/>
                <a:ea typeface="Rubik"/>
                <a:cs typeface="Rubik"/>
              </a:defRPr>
            </a:lvl1pPr>
            <a:lvl2pPr algn="l">
              <a:defRPr sz="1725" b="0">
                <a:solidFill>
                  <a:srgbClr val="DCE8E3"/>
                </a:solidFill>
                <a:latin typeface="Rubik"/>
                <a:ea typeface="Rubik"/>
                <a:cs typeface="Rubik"/>
              </a:defRPr>
            </a:lvl2pPr>
            <a:lvl3pPr algn="l">
              <a:defRPr sz="1725" b="0">
                <a:solidFill>
                  <a:srgbClr val="DCE8E3"/>
                </a:solidFill>
                <a:latin typeface="Rubik"/>
                <a:ea typeface="Rubik"/>
                <a:cs typeface="Rubik"/>
              </a:defRPr>
            </a:lvl3pPr>
            <a:lvl4pPr algn="l">
              <a:defRPr sz="1725" b="0">
                <a:solidFill>
                  <a:srgbClr val="DCE8E3"/>
                </a:solidFill>
                <a:latin typeface="Rubik"/>
                <a:ea typeface="Rubik"/>
                <a:cs typeface="Rubik"/>
              </a:defRPr>
            </a:lvl4pPr>
            <a:lvl5pPr algn="l">
              <a:defRPr sz="1725" b="0">
                <a:solidFill>
                  <a:srgbClr val="DCE8E3"/>
                </a:solidFill>
                <a:latin typeface="Rubik"/>
                <a:ea typeface="Rubik"/>
                <a:cs typeface="Rubik"/>
              </a:defRPr>
            </a:lvl5pPr>
            <a:lvl6pPr algn="l">
              <a:defRPr sz="1725" b="0">
                <a:solidFill>
                  <a:srgbClr val="DCE8E3"/>
                </a:solidFill>
                <a:latin typeface="Rubik"/>
                <a:ea typeface="Rubik"/>
                <a:cs typeface="Rubik"/>
              </a:defRPr>
            </a:lvl6pPr>
            <a:lvl7pPr algn="l">
              <a:defRPr sz="1725" b="0">
                <a:solidFill>
                  <a:srgbClr val="DCE8E3"/>
                </a:solidFill>
                <a:latin typeface="Rubik"/>
                <a:ea typeface="Rubik"/>
                <a:cs typeface="Rubik"/>
              </a:defRPr>
            </a:lvl7pPr>
            <a:lvl8pPr algn="l">
              <a:defRPr sz="1725" b="0">
                <a:solidFill>
                  <a:srgbClr val="DCE8E3"/>
                </a:solidFill>
                <a:latin typeface="Rubik"/>
                <a:ea typeface="Rubik"/>
                <a:cs typeface="Rubik"/>
              </a:defRPr>
            </a:lvl8pPr>
            <a:lvl9pPr algn="l">
              <a:defRPr sz="1725" b="0">
                <a:solidFill>
                  <a:srgbClr val="DCE8E3"/>
                </a:solidFill>
                <a:latin typeface="Rubik"/>
                <a:ea typeface="Rubik"/>
                <a:cs typeface="Rubik"/>
              </a:defRPr>
            </a:lvl9pPr>
          </a:lstStyle>
          <a:p>
            <a:pPr algn="l">
              <a:lnSpc>
                <a:spcPct val="108000"/>
              </a:lnSpc>
              <a:buNone/>
              <a:defRPr sz="1725" b="0">
                <a:solidFill>
                  <a:srgbClr val="DCE8E3"/>
                </a:solidFill>
                <a:latin typeface="Rubik"/>
                <a:ea typeface="Rubik"/>
                <a:cs typeface="Rubik"/>
              </a:defRPr>
            </a:pPr>
            <a:r>
              <a:rPr sz="1725" b="0" dirty="0" err="1">
                <a:solidFill>
                  <a:srgbClr val="DCE8E3"/>
                </a:solidFill>
                <a:latin typeface="Rubik"/>
                <a:ea typeface="Rubik"/>
                <a:cs typeface="Rubik"/>
              </a:rPr>
              <a:t>Precio</a:t>
            </a:r>
            <a:r>
              <a:rPr sz="1725" b="0" dirty="0">
                <a:solidFill>
                  <a:srgbClr val="DCE8E3"/>
                </a:solidFill>
                <a:latin typeface="Rubik"/>
                <a:ea typeface="Rubik"/>
                <a:cs typeface="Rubik"/>
              </a:rPr>
              <a:t> al 24/09: 375,0</a:t>
            </a:r>
          </a:p>
        </p:txBody>
      </p:sp>
      <p:sp>
        <p:nvSpPr>
          <p:cNvPr id="10" name="text-210">
            <a:extLst>
              <a:ext uri="{FF2B5EF4-FFF2-40B4-BE49-F238E27FC236}">
                <a16:creationId xmlns:a16="http://schemas.microsoft.com/office/drawing/2014/main" id="{D50967E3-A779-488E-BB16-30495C71E971}"/>
              </a:ext>
            </a:extLst>
          </p:cNvPr>
          <p:cNvSpPr>
            <a:spLocks noGrp="1"/>
          </p:cNvSpPr>
          <p:nvPr/>
        </p:nvSpPr>
        <p:spPr>
          <a:xfrm>
            <a:off x="609600" y="4543425"/>
            <a:ext cx="3333750" cy="64770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30 días: 376,0</a:t>
            </a:r>
          </a:p>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60 días: 376,3</a:t>
            </a:r>
          </a:p>
        </p:txBody>
      </p:sp>
      <p:sp>
        <p:nvSpPr>
          <p:cNvPr id="11" name="text-211">
            <a:extLst>
              <a:ext uri="{FF2B5EF4-FFF2-40B4-BE49-F238E27FC236}">
                <a16:creationId xmlns:a16="http://schemas.microsoft.com/office/drawing/2014/main" id="{65C58094-DBC3-4E0E-892B-07887DD8C07D}"/>
              </a:ext>
            </a:extLst>
          </p:cNvPr>
          <p:cNvSpPr>
            <a:spLocks noGrp="1"/>
          </p:cNvSpPr>
          <p:nvPr/>
        </p:nvSpPr>
        <p:spPr>
          <a:xfrm>
            <a:off x="609600" y="5353050"/>
            <a:ext cx="3333750" cy="409575"/>
          </a:xfrm>
          <a:prstGeom prst="rect">
            <a:avLst/>
          </a:prstGeom>
          <a:noFill/>
          <a:ln w="0">
            <a:noFill/>
            <a:prstDash val="solid"/>
          </a:ln>
        </p:spPr>
        <p:txBody>
          <a:bodyPr wrap="square" lIns="0" tIns="0" rIns="0" bIns="0" anchor="t">
            <a:noAutofit/>
          </a:bodyPr>
          <a:lstStyle>
            <a:defPPr algn="l">
              <a:defRPr sz="2025" b="1">
                <a:solidFill>
                  <a:srgbClr val="D3AF63"/>
                </a:solidFill>
                <a:latin typeface="Rubik"/>
                <a:ea typeface="Rubik"/>
                <a:cs typeface="Rubik"/>
              </a:defRPr>
            </a:defPPr>
            <a:lvl1pPr algn="l">
              <a:defRPr sz="2025" b="1">
                <a:solidFill>
                  <a:srgbClr val="D3AF63"/>
                </a:solidFill>
                <a:latin typeface="Rubik"/>
                <a:ea typeface="Rubik"/>
                <a:cs typeface="Rubik"/>
              </a:defRPr>
            </a:lvl1pPr>
            <a:lvl2pPr algn="l">
              <a:defRPr sz="2025" b="1">
                <a:solidFill>
                  <a:srgbClr val="D3AF63"/>
                </a:solidFill>
                <a:latin typeface="Rubik"/>
                <a:ea typeface="Rubik"/>
                <a:cs typeface="Rubik"/>
              </a:defRPr>
            </a:lvl2pPr>
            <a:lvl3pPr algn="l">
              <a:defRPr sz="2025" b="1">
                <a:solidFill>
                  <a:srgbClr val="D3AF63"/>
                </a:solidFill>
                <a:latin typeface="Rubik"/>
                <a:ea typeface="Rubik"/>
                <a:cs typeface="Rubik"/>
              </a:defRPr>
            </a:lvl3pPr>
            <a:lvl4pPr algn="l">
              <a:defRPr sz="2025" b="1">
                <a:solidFill>
                  <a:srgbClr val="D3AF63"/>
                </a:solidFill>
                <a:latin typeface="Rubik"/>
                <a:ea typeface="Rubik"/>
                <a:cs typeface="Rubik"/>
              </a:defRPr>
            </a:lvl4pPr>
            <a:lvl5pPr algn="l">
              <a:defRPr sz="2025" b="1">
                <a:solidFill>
                  <a:srgbClr val="D3AF63"/>
                </a:solidFill>
                <a:latin typeface="Rubik"/>
                <a:ea typeface="Rubik"/>
                <a:cs typeface="Rubik"/>
              </a:defRPr>
            </a:lvl5pPr>
            <a:lvl6pPr algn="l">
              <a:defRPr sz="2025" b="1">
                <a:solidFill>
                  <a:srgbClr val="D3AF63"/>
                </a:solidFill>
                <a:latin typeface="Rubik"/>
                <a:ea typeface="Rubik"/>
                <a:cs typeface="Rubik"/>
              </a:defRPr>
            </a:lvl6pPr>
            <a:lvl7pPr algn="l">
              <a:defRPr sz="2025" b="1">
                <a:solidFill>
                  <a:srgbClr val="D3AF63"/>
                </a:solidFill>
                <a:latin typeface="Rubik"/>
                <a:ea typeface="Rubik"/>
                <a:cs typeface="Rubik"/>
              </a:defRPr>
            </a:lvl7pPr>
            <a:lvl8pPr algn="l">
              <a:defRPr sz="2025" b="1">
                <a:solidFill>
                  <a:srgbClr val="D3AF63"/>
                </a:solidFill>
                <a:latin typeface="Rubik"/>
                <a:ea typeface="Rubik"/>
                <a:cs typeface="Rubik"/>
              </a:defRPr>
            </a:lvl8pPr>
            <a:lvl9pPr algn="l">
              <a:defRPr sz="2025" b="1">
                <a:solidFill>
                  <a:srgbClr val="D3AF63"/>
                </a:solidFill>
                <a:latin typeface="Rubik"/>
                <a:ea typeface="Rubik"/>
                <a:cs typeface="Rubik"/>
              </a:defRPr>
            </a:lvl9pPr>
          </a:lstStyle>
          <a:p>
            <a:pPr algn="l">
              <a:lnSpc>
                <a:spcPct val="108000"/>
              </a:lnSpc>
              <a:buNone/>
              <a:defRPr sz="2025" b="1">
                <a:solidFill>
                  <a:srgbClr val="D3AF63"/>
                </a:solidFill>
                <a:latin typeface="Rubik"/>
                <a:ea typeface="Rubik"/>
                <a:cs typeface="Rubik"/>
              </a:defRPr>
            </a:pPr>
            <a:r>
              <a:rPr sz="2025" b="1">
                <a:solidFill>
                  <a:srgbClr val="D3AF63"/>
                </a:solidFill>
                <a:latin typeface="Rubik"/>
                <a:ea typeface="Rubik"/>
                <a:cs typeface="Rubik"/>
              </a:rPr>
              <a:t>Rango: 336 a 432</a:t>
            </a:r>
          </a:p>
        </p:txBody>
      </p:sp>
      <p:sp>
        <p:nvSpPr>
          <p:cNvPr id="12" name="text-212">
            <a:extLst>
              <a:ext uri="{FF2B5EF4-FFF2-40B4-BE49-F238E27FC236}">
                <a16:creationId xmlns:a16="http://schemas.microsoft.com/office/drawing/2014/main" id="{89264637-46E2-4CE0-AF38-77B1D619E1F8}"/>
              </a:ext>
            </a:extLst>
          </p:cNvPr>
          <p:cNvSpPr>
            <a:spLocks noGrp="1"/>
          </p:cNvSpPr>
          <p:nvPr/>
        </p:nvSpPr>
        <p:spPr>
          <a:xfrm>
            <a:off x="4343400" y="1926772"/>
            <a:ext cx="3333750" cy="342900"/>
          </a:xfrm>
          <a:prstGeom prst="rect">
            <a:avLst/>
          </a:prstGeom>
          <a:noFill/>
          <a:ln w="0">
            <a:noFill/>
            <a:prstDash val="solid"/>
          </a:ln>
        </p:spPr>
        <p:txBody>
          <a:bodyPr wrap="square" lIns="0" tIns="0" rIns="0" bIns="0" anchor="t">
            <a:noAutofit/>
          </a:bodyPr>
          <a:lstStyle>
            <a:defPPr algn="l">
              <a:defRPr sz="1950" b="1">
                <a:solidFill>
                  <a:srgbClr val="D3AF63"/>
                </a:solidFill>
                <a:latin typeface="Rubik"/>
                <a:ea typeface="Rubik"/>
                <a:cs typeface="Rubik"/>
              </a:defRPr>
            </a:defPPr>
            <a:lvl1pPr algn="l">
              <a:defRPr sz="1950" b="1">
                <a:solidFill>
                  <a:srgbClr val="D3AF63"/>
                </a:solidFill>
                <a:latin typeface="Rubik"/>
                <a:ea typeface="Rubik"/>
                <a:cs typeface="Rubik"/>
              </a:defRPr>
            </a:lvl1pPr>
            <a:lvl2pPr algn="l">
              <a:defRPr sz="1950" b="1">
                <a:solidFill>
                  <a:srgbClr val="D3AF63"/>
                </a:solidFill>
                <a:latin typeface="Rubik"/>
                <a:ea typeface="Rubik"/>
                <a:cs typeface="Rubik"/>
              </a:defRPr>
            </a:lvl2pPr>
            <a:lvl3pPr algn="l">
              <a:defRPr sz="1950" b="1">
                <a:solidFill>
                  <a:srgbClr val="D3AF63"/>
                </a:solidFill>
                <a:latin typeface="Rubik"/>
                <a:ea typeface="Rubik"/>
                <a:cs typeface="Rubik"/>
              </a:defRPr>
            </a:lvl3pPr>
            <a:lvl4pPr algn="l">
              <a:defRPr sz="1950" b="1">
                <a:solidFill>
                  <a:srgbClr val="D3AF63"/>
                </a:solidFill>
                <a:latin typeface="Rubik"/>
                <a:ea typeface="Rubik"/>
                <a:cs typeface="Rubik"/>
              </a:defRPr>
            </a:lvl4pPr>
            <a:lvl5pPr algn="l">
              <a:defRPr sz="1950" b="1">
                <a:solidFill>
                  <a:srgbClr val="D3AF63"/>
                </a:solidFill>
                <a:latin typeface="Rubik"/>
                <a:ea typeface="Rubik"/>
                <a:cs typeface="Rubik"/>
              </a:defRPr>
            </a:lvl5pPr>
            <a:lvl6pPr algn="l">
              <a:defRPr sz="1950" b="1">
                <a:solidFill>
                  <a:srgbClr val="D3AF63"/>
                </a:solidFill>
                <a:latin typeface="Rubik"/>
                <a:ea typeface="Rubik"/>
                <a:cs typeface="Rubik"/>
              </a:defRPr>
            </a:lvl6pPr>
            <a:lvl7pPr algn="l">
              <a:defRPr sz="1950" b="1">
                <a:solidFill>
                  <a:srgbClr val="D3AF63"/>
                </a:solidFill>
                <a:latin typeface="Rubik"/>
                <a:ea typeface="Rubik"/>
                <a:cs typeface="Rubik"/>
              </a:defRPr>
            </a:lvl7pPr>
            <a:lvl8pPr algn="l">
              <a:defRPr sz="1950" b="1">
                <a:solidFill>
                  <a:srgbClr val="D3AF63"/>
                </a:solidFill>
                <a:latin typeface="Rubik"/>
                <a:ea typeface="Rubik"/>
                <a:cs typeface="Rubik"/>
              </a:defRPr>
            </a:lvl8pPr>
            <a:lvl9pPr algn="l">
              <a:defRPr sz="1950" b="1">
                <a:solidFill>
                  <a:srgbClr val="D3AF63"/>
                </a:solidFill>
                <a:latin typeface="Rubik"/>
                <a:ea typeface="Rubik"/>
                <a:cs typeface="Rubik"/>
              </a:defRPr>
            </a:lvl9pPr>
          </a:lstStyle>
          <a:p>
            <a:pPr algn="l">
              <a:lnSpc>
                <a:spcPct val="108000"/>
              </a:lnSpc>
              <a:buNone/>
              <a:defRPr sz="1950" b="1">
                <a:solidFill>
                  <a:srgbClr val="D3AF63"/>
                </a:solidFill>
                <a:latin typeface="Rubik"/>
                <a:ea typeface="Rubik"/>
                <a:cs typeface="Rubik"/>
              </a:defRPr>
            </a:pPr>
            <a:r>
              <a:rPr sz="2400" b="1" dirty="0">
                <a:solidFill>
                  <a:srgbClr val="FFC000"/>
                </a:solidFill>
                <a:latin typeface="Rubik"/>
                <a:ea typeface="Rubik"/>
                <a:cs typeface="Rubik"/>
              </a:rPr>
              <a:t>MAÍZ</a:t>
            </a:r>
          </a:p>
        </p:txBody>
      </p:sp>
      <p:sp>
        <p:nvSpPr>
          <p:cNvPr id="13" name="text-213">
            <a:extLst>
              <a:ext uri="{FF2B5EF4-FFF2-40B4-BE49-F238E27FC236}">
                <a16:creationId xmlns:a16="http://schemas.microsoft.com/office/drawing/2014/main" id="{73DF6A85-78B3-4AF2-AF4D-BA2944BD0B32}"/>
              </a:ext>
            </a:extLst>
          </p:cNvPr>
          <p:cNvSpPr>
            <a:spLocks noGrp="1"/>
          </p:cNvSpPr>
          <p:nvPr/>
        </p:nvSpPr>
        <p:spPr>
          <a:xfrm>
            <a:off x="4343400" y="2533650"/>
            <a:ext cx="3333750" cy="828675"/>
          </a:xfrm>
          <a:prstGeom prst="rect">
            <a:avLst/>
          </a:prstGeom>
          <a:noFill/>
          <a:ln w="0">
            <a:noFill/>
            <a:prstDash val="solid"/>
          </a:ln>
        </p:spPr>
        <p:txBody>
          <a:bodyPr wrap="square" lIns="0" tIns="0" rIns="0" bIns="0" anchor="t">
            <a:noAutofit/>
          </a:bodyPr>
          <a:lstStyle>
            <a:defPPr algn="l">
              <a:defRPr sz="5025" b="1">
                <a:solidFill>
                  <a:srgbClr val="FFFFFF"/>
                </a:solidFill>
                <a:latin typeface="Rubik"/>
                <a:ea typeface="Rubik"/>
                <a:cs typeface="Rubik"/>
              </a:defRPr>
            </a:defPPr>
            <a:lvl1pPr algn="l">
              <a:defRPr sz="5025" b="1">
                <a:solidFill>
                  <a:srgbClr val="FFFFFF"/>
                </a:solidFill>
                <a:latin typeface="Rubik"/>
                <a:ea typeface="Rubik"/>
                <a:cs typeface="Rubik"/>
              </a:defRPr>
            </a:lvl1pPr>
            <a:lvl2pPr algn="l">
              <a:defRPr sz="5025" b="1">
                <a:solidFill>
                  <a:srgbClr val="FFFFFF"/>
                </a:solidFill>
                <a:latin typeface="Rubik"/>
                <a:ea typeface="Rubik"/>
                <a:cs typeface="Rubik"/>
              </a:defRPr>
            </a:lvl2pPr>
            <a:lvl3pPr algn="l">
              <a:defRPr sz="5025" b="1">
                <a:solidFill>
                  <a:srgbClr val="FFFFFF"/>
                </a:solidFill>
                <a:latin typeface="Rubik"/>
                <a:ea typeface="Rubik"/>
                <a:cs typeface="Rubik"/>
              </a:defRPr>
            </a:lvl3pPr>
            <a:lvl4pPr algn="l">
              <a:defRPr sz="5025" b="1">
                <a:solidFill>
                  <a:srgbClr val="FFFFFF"/>
                </a:solidFill>
                <a:latin typeface="Rubik"/>
                <a:ea typeface="Rubik"/>
                <a:cs typeface="Rubik"/>
              </a:defRPr>
            </a:lvl4pPr>
            <a:lvl5pPr algn="l">
              <a:defRPr sz="5025" b="1">
                <a:solidFill>
                  <a:srgbClr val="FFFFFF"/>
                </a:solidFill>
                <a:latin typeface="Rubik"/>
                <a:ea typeface="Rubik"/>
                <a:cs typeface="Rubik"/>
              </a:defRPr>
            </a:lvl5pPr>
            <a:lvl6pPr algn="l">
              <a:defRPr sz="5025" b="1">
                <a:solidFill>
                  <a:srgbClr val="FFFFFF"/>
                </a:solidFill>
                <a:latin typeface="Rubik"/>
                <a:ea typeface="Rubik"/>
                <a:cs typeface="Rubik"/>
              </a:defRPr>
            </a:lvl6pPr>
            <a:lvl7pPr algn="l">
              <a:defRPr sz="5025" b="1">
                <a:solidFill>
                  <a:srgbClr val="FFFFFF"/>
                </a:solidFill>
                <a:latin typeface="Rubik"/>
                <a:ea typeface="Rubik"/>
                <a:cs typeface="Rubik"/>
              </a:defRPr>
            </a:lvl7pPr>
            <a:lvl8pPr algn="l">
              <a:defRPr sz="5025" b="1">
                <a:solidFill>
                  <a:srgbClr val="FFFFFF"/>
                </a:solidFill>
                <a:latin typeface="Rubik"/>
                <a:ea typeface="Rubik"/>
                <a:cs typeface="Rubik"/>
              </a:defRPr>
            </a:lvl8pPr>
            <a:lvl9pPr algn="l">
              <a:defRPr sz="5025" b="1">
                <a:solidFill>
                  <a:srgbClr val="FFFFFF"/>
                </a:solidFill>
                <a:latin typeface="Rubik"/>
                <a:ea typeface="Rubik"/>
                <a:cs typeface="Rubik"/>
              </a:defRPr>
            </a:lvl9pPr>
          </a:lstStyle>
          <a:p>
            <a:pPr algn="l">
              <a:lnSpc>
                <a:spcPct val="108000"/>
              </a:lnSpc>
              <a:buNone/>
              <a:defRPr sz="5025" b="1">
                <a:solidFill>
                  <a:srgbClr val="FFFFFF"/>
                </a:solidFill>
                <a:latin typeface="Rubik"/>
                <a:ea typeface="Rubik"/>
                <a:cs typeface="Rubik"/>
              </a:defRPr>
            </a:pPr>
            <a:r>
              <a:rPr sz="5025" b="1" dirty="0">
                <a:solidFill>
                  <a:srgbClr val="FFFFFF"/>
                </a:solidFill>
                <a:latin typeface="Rubik"/>
                <a:ea typeface="Rubik"/>
                <a:cs typeface="Rubik"/>
              </a:rPr>
              <a:t>197,4</a:t>
            </a:r>
          </a:p>
        </p:txBody>
      </p:sp>
      <p:sp>
        <p:nvSpPr>
          <p:cNvPr id="14" name="text-214">
            <a:extLst>
              <a:ext uri="{FF2B5EF4-FFF2-40B4-BE49-F238E27FC236}">
                <a16:creationId xmlns:a16="http://schemas.microsoft.com/office/drawing/2014/main" id="{A3445ED9-EC0F-4A1F-94AF-514C6B782E1B}"/>
              </a:ext>
            </a:extLst>
          </p:cNvPr>
          <p:cNvSpPr>
            <a:spLocks noGrp="1"/>
          </p:cNvSpPr>
          <p:nvPr/>
        </p:nvSpPr>
        <p:spPr>
          <a:xfrm>
            <a:off x="4343400" y="3419475"/>
            <a:ext cx="3333750" cy="333375"/>
          </a:xfrm>
          <a:prstGeom prst="rect">
            <a:avLst/>
          </a:prstGeom>
          <a:noFill/>
          <a:ln w="0">
            <a:noFill/>
            <a:prstDash val="solid"/>
          </a:ln>
        </p:spPr>
        <p:txBody>
          <a:bodyPr wrap="square" lIns="0" tIns="0" rIns="0" bIns="0" anchor="t">
            <a:noAutofit/>
          </a:bodyPr>
          <a:lstStyle>
            <a:defPPr algn="l">
              <a:defRPr sz="1875" b="0">
                <a:solidFill>
                  <a:srgbClr val="FFFFFF"/>
                </a:solidFill>
                <a:latin typeface="Rubik"/>
                <a:ea typeface="Rubik"/>
                <a:cs typeface="Rubik"/>
              </a:defRPr>
            </a:defPPr>
            <a:lvl1pPr algn="l">
              <a:defRPr sz="1875" b="0">
                <a:solidFill>
                  <a:srgbClr val="FFFFFF"/>
                </a:solidFill>
                <a:latin typeface="Rubik"/>
                <a:ea typeface="Rubik"/>
                <a:cs typeface="Rubik"/>
              </a:defRPr>
            </a:lvl1pPr>
            <a:lvl2pPr algn="l">
              <a:defRPr sz="1875" b="0">
                <a:solidFill>
                  <a:srgbClr val="FFFFFF"/>
                </a:solidFill>
                <a:latin typeface="Rubik"/>
                <a:ea typeface="Rubik"/>
                <a:cs typeface="Rubik"/>
              </a:defRPr>
            </a:lvl2pPr>
            <a:lvl3pPr algn="l">
              <a:defRPr sz="1875" b="0">
                <a:solidFill>
                  <a:srgbClr val="FFFFFF"/>
                </a:solidFill>
                <a:latin typeface="Rubik"/>
                <a:ea typeface="Rubik"/>
                <a:cs typeface="Rubik"/>
              </a:defRPr>
            </a:lvl3pPr>
            <a:lvl4pPr algn="l">
              <a:defRPr sz="1875" b="0">
                <a:solidFill>
                  <a:srgbClr val="FFFFFF"/>
                </a:solidFill>
                <a:latin typeface="Rubik"/>
                <a:ea typeface="Rubik"/>
                <a:cs typeface="Rubik"/>
              </a:defRPr>
            </a:lvl4pPr>
            <a:lvl5pPr algn="l">
              <a:defRPr sz="1875" b="0">
                <a:solidFill>
                  <a:srgbClr val="FFFFFF"/>
                </a:solidFill>
                <a:latin typeface="Rubik"/>
                <a:ea typeface="Rubik"/>
                <a:cs typeface="Rubik"/>
              </a:defRPr>
            </a:lvl5pPr>
            <a:lvl6pPr algn="l">
              <a:defRPr sz="1875" b="0">
                <a:solidFill>
                  <a:srgbClr val="FFFFFF"/>
                </a:solidFill>
                <a:latin typeface="Rubik"/>
                <a:ea typeface="Rubik"/>
                <a:cs typeface="Rubik"/>
              </a:defRPr>
            </a:lvl6pPr>
            <a:lvl7pPr algn="l">
              <a:defRPr sz="1875" b="0">
                <a:solidFill>
                  <a:srgbClr val="FFFFFF"/>
                </a:solidFill>
                <a:latin typeface="Rubik"/>
                <a:ea typeface="Rubik"/>
                <a:cs typeface="Rubik"/>
              </a:defRPr>
            </a:lvl7pPr>
            <a:lvl8pPr algn="l">
              <a:defRPr sz="1875" b="0">
                <a:solidFill>
                  <a:srgbClr val="FFFFFF"/>
                </a:solidFill>
                <a:latin typeface="Rubik"/>
                <a:ea typeface="Rubik"/>
                <a:cs typeface="Rubik"/>
              </a:defRPr>
            </a:lvl8pPr>
            <a:lvl9pPr algn="l">
              <a:defRPr sz="1875" b="0">
                <a:solidFill>
                  <a:srgbClr val="FFFFFF"/>
                </a:solidFill>
                <a:latin typeface="Rubik"/>
                <a:ea typeface="Rubik"/>
                <a:cs typeface="Rubik"/>
              </a:defRPr>
            </a:lvl9pPr>
          </a:lstStyle>
          <a:p>
            <a:pPr algn="l">
              <a:lnSpc>
                <a:spcPct val="108000"/>
              </a:lnSpc>
              <a:buNone/>
              <a:defRPr sz="1875" b="0">
                <a:solidFill>
                  <a:srgbClr val="FFFFFF"/>
                </a:solidFill>
                <a:latin typeface="Rubik"/>
                <a:ea typeface="Rubik"/>
                <a:cs typeface="Rubik"/>
              </a:defRPr>
            </a:pPr>
            <a:r>
              <a:rPr sz="1875" b="0">
                <a:solidFill>
                  <a:srgbClr val="FFFFFF"/>
                </a:solidFill>
                <a:latin typeface="Rubik"/>
                <a:ea typeface="Rubik"/>
                <a:cs typeface="Rubik"/>
              </a:rPr>
              <a:t>USD/t a 90 días</a:t>
            </a:r>
          </a:p>
        </p:txBody>
      </p:sp>
      <p:sp>
        <p:nvSpPr>
          <p:cNvPr id="15" name="rule-215">
            <a:extLst>
              <a:ext uri="{FF2B5EF4-FFF2-40B4-BE49-F238E27FC236}">
                <a16:creationId xmlns:a16="http://schemas.microsoft.com/office/drawing/2014/main" id="{715E7095-B2E5-407A-8038-19358F8ED140}"/>
              </a:ext>
            </a:extLst>
          </p:cNvPr>
          <p:cNvSpPr>
            <a:spLocks noGrp="1"/>
          </p:cNvSpPr>
          <p:nvPr/>
        </p:nvSpPr>
        <p:spPr>
          <a:xfrm>
            <a:off x="4343400" y="3886200"/>
            <a:ext cx="3333750" cy="0"/>
          </a:xfrm>
          <a:prstGeom prst="line">
            <a:avLst/>
          </a:prstGeom>
          <a:noFill/>
          <a:ln w="11430">
            <a:solidFill>
              <a:srgbClr val="456D66"/>
            </a:solidFill>
            <a:prstDash val="solid"/>
          </a:ln>
        </p:spPr>
        <p:txBody>
          <a:bodyPr/>
          <a:lstStyle/>
          <a:p>
            <a:endParaRPr lang="es-AR"/>
          </a:p>
        </p:txBody>
      </p:sp>
      <p:sp>
        <p:nvSpPr>
          <p:cNvPr id="16" name="text-216">
            <a:extLst>
              <a:ext uri="{FF2B5EF4-FFF2-40B4-BE49-F238E27FC236}">
                <a16:creationId xmlns:a16="http://schemas.microsoft.com/office/drawing/2014/main" id="{CA0A2E05-515B-472F-A74E-31F5AADF70AD}"/>
              </a:ext>
            </a:extLst>
          </p:cNvPr>
          <p:cNvSpPr>
            <a:spLocks noGrp="1"/>
          </p:cNvSpPr>
          <p:nvPr/>
        </p:nvSpPr>
        <p:spPr>
          <a:xfrm>
            <a:off x="4343400" y="4133850"/>
            <a:ext cx="3333750" cy="323850"/>
          </a:xfrm>
          <a:prstGeom prst="rect">
            <a:avLst/>
          </a:prstGeom>
          <a:noFill/>
          <a:ln w="0">
            <a:noFill/>
            <a:prstDash val="solid"/>
          </a:ln>
        </p:spPr>
        <p:txBody>
          <a:bodyPr wrap="square" lIns="0" tIns="0" rIns="0" bIns="0" anchor="t">
            <a:noAutofit/>
          </a:bodyPr>
          <a:lstStyle>
            <a:defPPr algn="l">
              <a:defRPr sz="1725" b="0">
                <a:solidFill>
                  <a:srgbClr val="DCE8E3"/>
                </a:solidFill>
                <a:latin typeface="Rubik"/>
                <a:ea typeface="Rubik"/>
                <a:cs typeface="Rubik"/>
              </a:defRPr>
            </a:defPPr>
            <a:lvl1pPr algn="l">
              <a:defRPr sz="1725" b="0">
                <a:solidFill>
                  <a:srgbClr val="DCE8E3"/>
                </a:solidFill>
                <a:latin typeface="Rubik"/>
                <a:ea typeface="Rubik"/>
                <a:cs typeface="Rubik"/>
              </a:defRPr>
            </a:lvl1pPr>
            <a:lvl2pPr algn="l">
              <a:defRPr sz="1725" b="0">
                <a:solidFill>
                  <a:srgbClr val="DCE8E3"/>
                </a:solidFill>
                <a:latin typeface="Rubik"/>
                <a:ea typeface="Rubik"/>
                <a:cs typeface="Rubik"/>
              </a:defRPr>
            </a:lvl2pPr>
            <a:lvl3pPr algn="l">
              <a:defRPr sz="1725" b="0">
                <a:solidFill>
                  <a:srgbClr val="DCE8E3"/>
                </a:solidFill>
                <a:latin typeface="Rubik"/>
                <a:ea typeface="Rubik"/>
                <a:cs typeface="Rubik"/>
              </a:defRPr>
            </a:lvl3pPr>
            <a:lvl4pPr algn="l">
              <a:defRPr sz="1725" b="0">
                <a:solidFill>
                  <a:srgbClr val="DCE8E3"/>
                </a:solidFill>
                <a:latin typeface="Rubik"/>
                <a:ea typeface="Rubik"/>
                <a:cs typeface="Rubik"/>
              </a:defRPr>
            </a:lvl4pPr>
            <a:lvl5pPr algn="l">
              <a:defRPr sz="1725" b="0">
                <a:solidFill>
                  <a:srgbClr val="DCE8E3"/>
                </a:solidFill>
                <a:latin typeface="Rubik"/>
                <a:ea typeface="Rubik"/>
                <a:cs typeface="Rubik"/>
              </a:defRPr>
            </a:lvl5pPr>
            <a:lvl6pPr algn="l">
              <a:defRPr sz="1725" b="0">
                <a:solidFill>
                  <a:srgbClr val="DCE8E3"/>
                </a:solidFill>
                <a:latin typeface="Rubik"/>
                <a:ea typeface="Rubik"/>
                <a:cs typeface="Rubik"/>
              </a:defRPr>
            </a:lvl6pPr>
            <a:lvl7pPr algn="l">
              <a:defRPr sz="1725" b="0">
                <a:solidFill>
                  <a:srgbClr val="DCE8E3"/>
                </a:solidFill>
                <a:latin typeface="Rubik"/>
                <a:ea typeface="Rubik"/>
                <a:cs typeface="Rubik"/>
              </a:defRPr>
            </a:lvl7pPr>
            <a:lvl8pPr algn="l">
              <a:defRPr sz="1725" b="0">
                <a:solidFill>
                  <a:srgbClr val="DCE8E3"/>
                </a:solidFill>
                <a:latin typeface="Rubik"/>
                <a:ea typeface="Rubik"/>
                <a:cs typeface="Rubik"/>
              </a:defRPr>
            </a:lvl8pPr>
            <a:lvl9pPr algn="l">
              <a:defRPr sz="1725" b="0">
                <a:solidFill>
                  <a:srgbClr val="DCE8E3"/>
                </a:solidFill>
                <a:latin typeface="Rubik"/>
                <a:ea typeface="Rubik"/>
                <a:cs typeface="Rubik"/>
              </a:defRPr>
            </a:lvl9pPr>
          </a:lstStyle>
          <a:p>
            <a:pPr algn="l">
              <a:lnSpc>
                <a:spcPct val="108000"/>
              </a:lnSpc>
              <a:buNone/>
              <a:defRPr sz="1725" b="0">
                <a:solidFill>
                  <a:srgbClr val="DCE8E3"/>
                </a:solidFill>
                <a:latin typeface="Rubik"/>
                <a:ea typeface="Rubik"/>
                <a:cs typeface="Rubik"/>
              </a:defRPr>
            </a:pPr>
            <a:r>
              <a:rPr sz="1725" b="0" dirty="0" err="1">
                <a:solidFill>
                  <a:srgbClr val="DCE8E3"/>
                </a:solidFill>
                <a:latin typeface="Rubik"/>
                <a:ea typeface="Rubik"/>
                <a:cs typeface="Rubik"/>
              </a:rPr>
              <a:t>Precio</a:t>
            </a:r>
            <a:r>
              <a:rPr sz="1725" b="0" dirty="0">
                <a:solidFill>
                  <a:srgbClr val="DCE8E3"/>
                </a:solidFill>
                <a:latin typeface="Rubik"/>
                <a:ea typeface="Rubik"/>
                <a:cs typeface="Rubik"/>
              </a:rPr>
              <a:t> al 24/09: 197,5</a:t>
            </a:r>
          </a:p>
        </p:txBody>
      </p:sp>
      <p:sp>
        <p:nvSpPr>
          <p:cNvPr id="17" name="text-217">
            <a:extLst>
              <a:ext uri="{FF2B5EF4-FFF2-40B4-BE49-F238E27FC236}">
                <a16:creationId xmlns:a16="http://schemas.microsoft.com/office/drawing/2014/main" id="{48993F42-FB73-4AE6-BEEC-4D4F6E992F0A}"/>
              </a:ext>
            </a:extLst>
          </p:cNvPr>
          <p:cNvSpPr>
            <a:spLocks noGrp="1"/>
          </p:cNvSpPr>
          <p:nvPr/>
        </p:nvSpPr>
        <p:spPr>
          <a:xfrm>
            <a:off x="4343400" y="4543425"/>
            <a:ext cx="3333750" cy="64770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30 días: 197,4</a:t>
            </a:r>
          </a:p>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60 días: 197,7</a:t>
            </a:r>
          </a:p>
        </p:txBody>
      </p:sp>
      <p:sp>
        <p:nvSpPr>
          <p:cNvPr id="18" name="text-218">
            <a:extLst>
              <a:ext uri="{FF2B5EF4-FFF2-40B4-BE49-F238E27FC236}">
                <a16:creationId xmlns:a16="http://schemas.microsoft.com/office/drawing/2014/main" id="{4402BCCF-BABC-4BF4-8B3B-D5F0FA623208}"/>
              </a:ext>
            </a:extLst>
          </p:cNvPr>
          <p:cNvSpPr>
            <a:spLocks noGrp="1"/>
          </p:cNvSpPr>
          <p:nvPr/>
        </p:nvSpPr>
        <p:spPr>
          <a:xfrm>
            <a:off x="4343400" y="5353050"/>
            <a:ext cx="3333750" cy="409575"/>
          </a:xfrm>
          <a:prstGeom prst="rect">
            <a:avLst/>
          </a:prstGeom>
          <a:noFill/>
          <a:ln w="0">
            <a:noFill/>
            <a:prstDash val="solid"/>
          </a:ln>
        </p:spPr>
        <p:txBody>
          <a:bodyPr wrap="square" lIns="0" tIns="0" rIns="0" bIns="0" anchor="t">
            <a:noAutofit/>
          </a:bodyPr>
          <a:lstStyle>
            <a:defPPr algn="l">
              <a:defRPr sz="2025" b="1">
                <a:solidFill>
                  <a:srgbClr val="D3AF63"/>
                </a:solidFill>
                <a:latin typeface="Rubik"/>
                <a:ea typeface="Rubik"/>
                <a:cs typeface="Rubik"/>
              </a:defRPr>
            </a:defPPr>
            <a:lvl1pPr algn="l">
              <a:defRPr sz="2025" b="1">
                <a:solidFill>
                  <a:srgbClr val="D3AF63"/>
                </a:solidFill>
                <a:latin typeface="Rubik"/>
                <a:ea typeface="Rubik"/>
                <a:cs typeface="Rubik"/>
              </a:defRPr>
            </a:lvl1pPr>
            <a:lvl2pPr algn="l">
              <a:defRPr sz="2025" b="1">
                <a:solidFill>
                  <a:srgbClr val="D3AF63"/>
                </a:solidFill>
                <a:latin typeface="Rubik"/>
                <a:ea typeface="Rubik"/>
                <a:cs typeface="Rubik"/>
              </a:defRPr>
            </a:lvl2pPr>
            <a:lvl3pPr algn="l">
              <a:defRPr sz="2025" b="1">
                <a:solidFill>
                  <a:srgbClr val="D3AF63"/>
                </a:solidFill>
                <a:latin typeface="Rubik"/>
                <a:ea typeface="Rubik"/>
                <a:cs typeface="Rubik"/>
              </a:defRPr>
            </a:lvl3pPr>
            <a:lvl4pPr algn="l">
              <a:defRPr sz="2025" b="1">
                <a:solidFill>
                  <a:srgbClr val="D3AF63"/>
                </a:solidFill>
                <a:latin typeface="Rubik"/>
                <a:ea typeface="Rubik"/>
                <a:cs typeface="Rubik"/>
              </a:defRPr>
            </a:lvl4pPr>
            <a:lvl5pPr algn="l">
              <a:defRPr sz="2025" b="1">
                <a:solidFill>
                  <a:srgbClr val="D3AF63"/>
                </a:solidFill>
                <a:latin typeface="Rubik"/>
                <a:ea typeface="Rubik"/>
                <a:cs typeface="Rubik"/>
              </a:defRPr>
            </a:lvl5pPr>
            <a:lvl6pPr algn="l">
              <a:defRPr sz="2025" b="1">
                <a:solidFill>
                  <a:srgbClr val="D3AF63"/>
                </a:solidFill>
                <a:latin typeface="Rubik"/>
                <a:ea typeface="Rubik"/>
                <a:cs typeface="Rubik"/>
              </a:defRPr>
            </a:lvl6pPr>
            <a:lvl7pPr algn="l">
              <a:defRPr sz="2025" b="1">
                <a:solidFill>
                  <a:srgbClr val="D3AF63"/>
                </a:solidFill>
                <a:latin typeface="Rubik"/>
                <a:ea typeface="Rubik"/>
                <a:cs typeface="Rubik"/>
              </a:defRPr>
            </a:lvl7pPr>
            <a:lvl8pPr algn="l">
              <a:defRPr sz="2025" b="1">
                <a:solidFill>
                  <a:srgbClr val="D3AF63"/>
                </a:solidFill>
                <a:latin typeface="Rubik"/>
                <a:ea typeface="Rubik"/>
                <a:cs typeface="Rubik"/>
              </a:defRPr>
            </a:lvl8pPr>
            <a:lvl9pPr algn="l">
              <a:defRPr sz="2025" b="1">
                <a:solidFill>
                  <a:srgbClr val="D3AF63"/>
                </a:solidFill>
                <a:latin typeface="Rubik"/>
                <a:ea typeface="Rubik"/>
                <a:cs typeface="Rubik"/>
              </a:defRPr>
            </a:lvl9pPr>
          </a:lstStyle>
          <a:p>
            <a:pPr algn="l">
              <a:lnSpc>
                <a:spcPct val="108000"/>
              </a:lnSpc>
              <a:buNone/>
              <a:defRPr sz="2025" b="1">
                <a:solidFill>
                  <a:srgbClr val="D3AF63"/>
                </a:solidFill>
                <a:latin typeface="Rubik"/>
                <a:ea typeface="Rubik"/>
                <a:cs typeface="Rubik"/>
              </a:defRPr>
            </a:pPr>
            <a:r>
              <a:rPr sz="2025" b="1">
                <a:solidFill>
                  <a:srgbClr val="D3AF63"/>
                </a:solidFill>
                <a:latin typeface="Rubik"/>
                <a:ea typeface="Rubik"/>
                <a:cs typeface="Rubik"/>
              </a:rPr>
              <a:t>Rango: 178 a 213</a:t>
            </a:r>
          </a:p>
        </p:txBody>
      </p:sp>
      <p:sp>
        <p:nvSpPr>
          <p:cNvPr id="19" name="text-219">
            <a:extLst>
              <a:ext uri="{FF2B5EF4-FFF2-40B4-BE49-F238E27FC236}">
                <a16:creationId xmlns:a16="http://schemas.microsoft.com/office/drawing/2014/main" id="{AA2859BA-D952-47D4-9995-E1D7F738C488}"/>
              </a:ext>
            </a:extLst>
          </p:cNvPr>
          <p:cNvSpPr>
            <a:spLocks noGrp="1"/>
          </p:cNvSpPr>
          <p:nvPr/>
        </p:nvSpPr>
        <p:spPr>
          <a:xfrm>
            <a:off x="8077200" y="1938337"/>
            <a:ext cx="3333750" cy="342900"/>
          </a:xfrm>
          <a:prstGeom prst="rect">
            <a:avLst/>
          </a:prstGeom>
          <a:noFill/>
          <a:ln w="0">
            <a:noFill/>
            <a:prstDash val="solid"/>
          </a:ln>
        </p:spPr>
        <p:txBody>
          <a:bodyPr wrap="square" lIns="0" tIns="0" rIns="0" bIns="0" anchor="t">
            <a:noAutofit/>
          </a:bodyPr>
          <a:lstStyle>
            <a:defPPr algn="l">
              <a:defRPr sz="1950" b="1">
                <a:solidFill>
                  <a:srgbClr val="D3AF63"/>
                </a:solidFill>
                <a:latin typeface="Rubik"/>
                <a:ea typeface="Rubik"/>
                <a:cs typeface="Rubik"/>
              </a:defRPr>
            </a:defPPr>
            <a:lvl1pPr algn="l">
              <a:defRPr sz="1950" b="1">
                <a:solidFill>
                  <a:srgbClr val="D3AF63"/>
                </a:solidFill>
                <a:latin typeface="Rubik"/>
                <a:ea typeface="Rubik"/>
                <a:cs typeface="Rubik"/>
              </a:defRPr>
            </a:lvl1pPr>
            <a:lvl2pPr algn="l">
              <a:defRPr sz="1950" b="1">
                <a:solidFill>
                  <a:srgbClr val="D3AF63"/>
                </a:solidFill>
                <a:latin typeface="Rubik"/>
                <a:ea typeface="Rubik"/>
                <a:cs typeface="Rubik"/>
              </a:defRPr>
            </a:lvl2pPr>
            <a:lvl3pPr algn="l">
              <a:defRPr sz="1950" b="1">
                <a:solidFill>
                  <a:srgbClr val="D3AF63"/>
                </a:solidFill>
                <a:latin typeface="Rubik"/>
                <a:ea typeface="Rubik"/>
                <a:cs typeface="Rubik"/>
              </a:defRPr>
            </a:lvl3pPr>
            <a:lvl4pPr algn="l">
              <a:defRPr sz="1950" b="1">
                <a:solidFill>
                  <a:srgbClr val="D3AF63"/>
                </a:solidFill>
                <a:latin typeface="Rubik"/>
                <a:ea typeface="Rubik"/>
                <a:cs typeface="Rubik"/>
              </a:defRPr>
            </a:lvl4pPr>
            <a:lvl5pPr algn="l">
              <a:defRPr sz="1950" b="1">
                <a:solidFill>
                  <a:srgbClr val="D3AF63"/>
                </a:solidFill>
                <a:latin typeface="Rubik"/>
                <a:ea typeface="Rubik"/>
                <a:cs typeface="Rubik"/>
              </a:defRPr>
            </a:lvl5pPr>
            <a:lvl6pPr algn="l">
              <a:defRPr sz="1950" b="1">
                <a:solidFill>
                  <a:srgbClr val="D3AF63"/>
                </a:solidFill>
                <a:latin typeface="Rubik"/>
                <a:ea typeface="Rubik"/>
                <a:cs typeface="Rubik"/>
              </a:defRPr>
            </a:lvl6pPr>
            <a:lvl7pPr algn="l">
              <a:defRPr sz="1950" b="1">
                <a:solidFill>
                  <a:srgbClr val="D3AF63"/>
                </a:solidFill>
                <a:latin typeface="Rubik"/>
                <a:ea typeface="Rubik"/>
                <a:cs typeface="Rubik"/>
              </a:defRPr>
            </a:lvl7pPr>
            <a:lvl8pPr algn="l">
              <a:defRPr sz="1950" b="1">
                <a:solidFill>
                  <a:srgbClr val="D3AF63"/>
                </a:solidFill>
                <a:latin typeface="Rubik"/>
                <a:ea typeface="Rubik"/>
                <a:cs typeface="Rubik"/>
              </a:defRPr>
            </a:lvl8pPr>
            <a:lvl9pPr algn="l">
              <a:defRPr sz="1950" b="1">
                <a:solidFill>
                  <a:srgbClr val="D3AF63"/>
                </a:solidFill>
                <a:latin typeface="Rubik"/>
                <a:ea typeface="Rubik"/>
                <a:cs typeface="Rubik"/>
              </a:defRPr>
            </a:lvl9pPr>
          </a:lstStyle>
          <a:p>
            <a:pPr algn="l">
              <a:lnSpc>
                <a:spcPct val="108000"/>
              </a:lnSpc>
              <a:buNone/>
              <a:defRPr sz="1950" b="1">
                <a:solidFill>
                  <a:srgbClr val="D3AF63"/>
                </a:solidFill>
                <a:latin typeface="Rubik"/>
                <a:ea typeface="Rubik"/>
                <a:cs typeface="Rubik"/>
              </a:defRPr>
            </a:pPr>
            <a:r>
              <a:rPr sz="2400" b="1" dirty="0">
                <a:solidFill>
                  <a:srgbClr val="FFC000"/>
                </a:solidFill>
                <a:latin typeface="Rubik"/>
                <a:ea typeface="Rubik"/>
                <a:cs typeface="Rubik"/>
              </a:rPr>
              <a:t>TRIGO</a:t>
            </a:r>
          </a:p>
        </p:txBody>
      </p:sp>
      <p:sp>
        <p:nvSpPr>
          <p:cNvPr id="20" name="text-220">
            <a:extLst>
              <a:ext uri="{FF2B5EF4-FFF2-40B4-BE49-F238E27FC236}">
                <a16:creationId xmlns:a16="http://schemas.microsoft.com/office/drawing/2014/main" id="{A9CB5825-9DC1-49E5-AF2F-AE0F28D12D5E}"/>
              </a:ext>
            </a:extLst>
          </p:cNvPr>
          <p:cNvSpPr>
            <a:spLocks noGrp="1"/>
          </p:cNvSpPr>
          <p:nvPr/>
        </p:nvSpPr>
        <p:spPr>
          <a:xfrm>
            <a:off x="8077200" y="2533650"/>
            <a:ext cx="3333750" cy="828675"/>
          </a:xfrm>
          <a:prstGeom prst="rect">
            <a:avLst/>
          </a:prstGeom>
          <a:noFill/>
          <a:ln w="0">
            <a:noFill/>
            <a:prstDash val="solid"/>
          </a:ln>
        </p:spPr>
        <p:txBody>
          <a:bodyPr wrap="square" lIns="0" tIns="0" rIns="0" bIns="0" anchor="t">
            <a:noAutofit/>
          </a:bodyPr>
          <a:lstStyle>
            <a:defPPr algn="l">
              <a:defRPr sz="5025" b="1">
                <a:solidFill>
                  <a:srgbClr val="FFFFFF"/>
                </a:solidFill>
                <a:latin typeface="Rubik"/>
                <a:ea typeface="Rubik"/>
                <a:cs typeface="Rubik"/>
              </a:defRPr>
            </a:defPPr>
            <a:lvl1pPr algn="l">
              <a:defRPr sz="5025" b="1">
                <a:solidFill>
                  <a:srgbClr val="FFFFFF"/>
                </a:solidFill>
                <a:latin typeface="Rubik"/>
                <a:ea typeface="Rubik"/>
                <a:cs typeface="Rubik"/>
              </a:defRPr>
            </a:lvl1pPr>
            <a:lvl2pPr algn="l">
              <a:defRPr sz="5025" b="1">
                <a:solidFill>
                  <a:srgbClr val="FFFFFF"/>
                </a:solidFill>
                <a:latin typeface="Rubik"/>
                <a:ea typeface="Rubik"/>
                <a:cs typeface="Rubik"/>
              </a:defRPr>
            </a:lvl2pPr>
            <a:lvl3pPr algn="l">
              <a:defRPr sz="5025" b="1">
                <a:solidFill>
                  <a:srgbClr val="FFFFFF"/>
                </a:solidFill>
                <a:latin typeface="Rubik"/>
                <a:ea typeface="Rubik"/>
                <a:cs typeface="Rubik"/>
              </a:defRPr>
            </a:lvl3pPr>
            <a:lvl4pPr algn="l">
              <a:defRPr sz="5025" b="1">
                <a:solidFill>
                  <a:srgbClr val="FFFFFF"/>
                </a:solidFill>
                <a:latin typeface="Rubik"/>
                <a:ea typeface="Rubik"/>
                <a:cs typeface="Rubik"/>
              </a:defRPr>
            </a:lvl4pPr>
            <a:lvl5pPr algn="l">
              <a:defRPr sz="5025" b="1">
                <a:solidFill>
                  <a:srgbClr val="FFFFFF"/>
                </a:solidFill>
                <a:latin typeface="Rubik"/>
                <a:ea typeface="Rubik"/>
                <a:cs typeface="Rubik"/>
              </a:defRPr>
            </a:lvl5pPr>
            <a:lvl6pPr algn="l">
              <a:defRPr sz="5025" b="1">
                <a:solidFill>
                  <a:srgbClr val="FFFFFF"/>
                </a:solidFill>
                <a:latin typeface="Rubik"/>
                <a:ea typeface="Rubik"/>
                <a:cs typeface="Rubik"/>
              </a:defRPr>
            </a:lvl6pPr>
            <a:lvl7pPr algn="l">
              <a:defRPr sz="5025" b="1">
                <a:solidFill>
                  <a:srgbClr val="FFFFFF"/>
                </a:solidFill>
                <a:latin typeface="Rubik"/>
                <a:ea typeface="Rubik"/>
                <a:cs typeface="Rubik"/>
              </a:defRPr>
            </a:lvl7pPr>
            <a:lvl8pPr algn="l">
              <a:defRPr sz="5025" b="1">
                <a:solidFill>
                  <a:srgbClr val="FFFFFF"/>
                </a:solidFill>
                <a:latin typeface="Rubik"/>
                <a:ea typeface="Rubik"/>
                <a:cs typeface="Rubik"/>
              </a:defRPr>
            </a:lvl8pPr>
            <a:lvl9pPr algn="l">
              <a:defRPr sz="5025" b="1">
                <a:solidFill>
                  <a:srgbClr val="FFFFFF"/>
                </a:solidFill>
                <a:latin typeface="Rubik"/>
                <a:ea typeface="Rubik"/>
                <a:cs typeface="Rubik"/>
              </a:defRPr>
            </a:lvl9pPr>
          </a:lstStyle>
          <a:p>
            <a:pPr algn="l">
              <a:lnSpc>
                <a:spcPct val="108000"/>
              </a:lnSpc>
              <a:buNone/>
              <a:defRPr sz="5025" b="1">
                <a:solidFill>
                  <a:srgbClr val="FFFFFF"/>
                </a:solidFill>
                <a:latin typeface="Rubik"/>
                <a:ea typeface="Rubik"/>
                <a:cs typeface="Rubik"/>
              </a:defRPr>
            </a:pPr>
            <a:r>
              <a:rPr sz="5025" b="1" dirty="0">
                <a:solidFill>
                  <a:srgbClr val="FFFFFF"/>
                </a:solidFill>
                <a:latin typeface="Rubik"/>
                <a:ea typeface="Rubik"/>
                <a:cs typeface="Rubik"/>
              </a:rPr>
              <a:t>231,9</a:t>
            </a:r>
          </a:p>
        </p:txBody>
      </p:sp>
      <p:sp>
        <p:nvSpPr>
          <p:cNvPr id="21" name="text-221">
            <a:extLst>
              <a:ext uri="{FF2B5EF4-FFF2-40B4-BE49-F238E27FC236}">
                <a16:creationId xmlns:a16="http://schemas.microsoft.com/office/drawing/2014/main" id="{FFE956C1-5B8C-4D85-95AD-3D277208C9BA}"/>
              </a:ext>
            </a:extLst>
          </p:cNvPr>
          <p:cNvSpPr>
            <a:spLocks noGrp="1"/>
          </p:cNvSpPr>
          <p:nvPr/>
        </p:nvSpPr>
        <p:spPr>
          <a:xfrm>
            <a:off x="8077200" y="3419475"/>
            <a:ext cx="3333750" cy="333375"/>
          </a:xfrm>
          <a:prstGeom prst="rect">
            <a:avLst/>
          </a:prstGeom>
          <a:noFill/>
          <a:ln w="0">
            <a:noFill/>
            <a:prstDash val="solid"/>
          </a:ln>
        </p:spPr>
        <p:txBody>
          <a:bodyPr wrap="square" lIns="0" tIns="0" rIns="0" bIns="0" anchor="t">
            <a:noAutofit/>
          </a:bodyPr>
          <a:lstStyle>
            <a:defPPr algn="l">
              <a:defRPr sz="1875" b="0">
                <a:solidFill>
                  <a:srgbClr val="FFFFFF"/>
                </a:solidFill>
                <a:latin typeface="Rubik"/>
                <a:ea typeface="Rubik"/>
                <a:cs typeface="Rubik"/>
              </a:defRPr>
            </a:defPPr>
            <a:lvl1pPr algn="l">
              <a:defRPr sz="1875" b="0">
                <a:solidFill>
                  <a:srgbClr val="FFFFFF"/>
                </a:solidFill>
                <a:latin typeface="Rubik"/>
                <a:ea typeface="Rubik"/>
                <a:cs typeface="Rubik"/>
              </a:defRPr>
            </a:lvl1pPr>
            <a:lvl2pPr algn="l">
              <a:defRPr sz="1875" b="0">
                <a:solidFill>
                  <a:srgbClr val="FFFFFF"/>
                </a:solidFill>
                <a:latin typeface="Rubik"/>
                <a:ea typeface="Rubik"/>
                <a:cs typeface="Rubik"/>
              </a:defRPr>
            </a:lvl2pPr>
            <a:lvl3pPr algn="l">
              <a:defRPr sz="1875" b="0">
                <a:solidFill>
                  <a:srgbClr val="FFFFFF"/>
                </a:solidFill>
                <a:latin typeface="Rubik"/>
                <a:ea typeface="Rubik"/>
                <a:cs typeface="Rubik"/>
              </a:defRPr>
            </a:lvl3pPr>
            <a:lvl4pPr algn="l">
              <a:defRPr sz="1875" b="0">
                <a:solidFill>
                  <a:srgbClr val="FFFFFF"/>
                </a:solidFill>
                <a:latin typeface="Rubik"/>
                <a:ea typeface="Rubik"/>
                <a:cs typeface="Rubik"/>
              </a:defRPr>
            </a:lvl4pPr>
            <a:lvl5pPr algn="l">
              <a:defRPr sz="1875" b="0">
                <a:solidFill>
                  <a:srgbClr val="FFFFFF"/>
                </a:solidFill>
                <a:latin typeface="Rubik"/>
                <a:ea typeface="Rubik"/>
                <a:cs typeface="Rubik"/>
              </a:defRPr>
            </a:lvl5pPr>
            <a:lvl6pPr algn="l">
              <a:defRPr sz="1875" b="0">
                <a:solidFill>
                  <a:srgbClr val="FFFFFF"/>
                </a:solidFill>
                <a:latin typeface="Rubik"/>
                <a:ea typeface="Rubik"/>
                <a:cs typeface="Rubik"/>
              </a:defRPr>
            </a:lvl6pPr>
            <a:lvl7pPr algn="l">
              <a:defRPr sz="1875" b="0">
                <a:solidFill>
                  <a:srgbClr val="FFFFFF"/>
                </a:solidFill>
                <a:latin typeface="Rubik"/>
                <a:ea typeface="Rubik"/>
                <a:cs typeface="Rubik"/>
              </a:defRPr>
            </a:lvl7pPr>
            <a:lvl8pPr algn="l">
              <a:defRPr sz="1875" b="0">
                <a:solidFill>
                  <a:srgbClr val="FFFFFF"/>
                </a:solidFill>
                <a:latin typeface="Rubik"/>
                <a:ea typeface="Rubik"/>
                <a:cs typeface="Rubik"/>
              </a:defRPr>
            </a:lvl8pPr>
            <a:lvl9pPr algn="l">
              <a:defRPr sz="1875" b="0">
                <a:solidFill>
                  <a:srgbClr val="FFFFFF"/>
                </a:solidFill>
                <a:latin typeface="Rubik"/>
                <a:ea typeface="Rubik"/>
                <a:cs typeface="Rubik"/>
              </a:defRPr>
            </a:lvl9pPr>
          </a:lstStyle>
          <a:p>
            <a:pPr algn="l">
              <a:lnSpc>
                <a:spcPct val="108000"/>
              </a:lnSpc>
              <a:buNone/>
              <a:defRPr sz="1875" b="0">
                <a:solidFill>
                  <a:srgbClr val="FFFFFF"/>
                </a:solidFill>
                <a:latin typeface="Rubik"/>
                <a:ea typeface="Rubik"/>
                <a:cs typeface="Rubik"/>
              </a:defRPr>
            </a:pPr>
            <a:r>
              <a:rPr sz="1875" b="0">
                <a:solidFill>
                  <a:srgbClr val="FFFFFF"/>
                </a:solidFill>
                <a:latin typeface="Rubik"/>
                <a:ea typeface="Rubik"/>
                <a:cs typeface="Rubik"/>
              </a:rPr>
              <a:t>USD/t a 90 días</a:t>
            </a:r>
          </a:p>
        </p:txBody>
      </p:sp>
      <p:sp>
        <p:nvSpPr>
          <p:cNvPr id="22" name="rule-222">
            <a:extLst>
              <a:ext uri="{FF2B5EF4-FFF2-40B4-BE49-F238E27FC236}">
                <a16:creationId xmlns:a16="http://schemas.microsoft.com/office/drawing/2014/main" id="{396A5E47-5B0D-42AE-8E45-DA86F8095AF0}"/>
              </a:ext>
            </a:extLst>
          </p:cNvPr>
          <p:cNvSpPr>
            <a:spLocks noGrp="1"/>
          </p:cNvSpPr>
          <p:nvPr/>
        </p:nvSpPr>
        <p:spPr>
          <a:xfrm>
            <a:off x="8077200" y="3886200"/>
            <a:ext cx="3333750" cy="0"/>
          </a:xfrm>
          <a:prstGeom prst="line">
            <a:avLst/>
          </a:prstGeom>
          <a:noFill/>
          <a:ln w="11430">
            <a:solidFill>
              <a:srgbClr val="456D66"/>
            </a:solidFill>
            <a:prstDash val="solid"/>
          </a:ln>
        </p:spPr>
        <p:txBody>
          <a:bodyPr/>
          <a:lstStyle/>
          <a:p>
            <a:endParaRPr lang="es-AR"/>
          </a:p>
        </p:txBody>
      </p:sp>
      <p:sp>
        <p:nvSpPr>
          <p:cNvPr id="23" name="text-223">
            <a:extLst>
              <a:ext uri="{FF2B5EF4-FFF2-40B4-BE49-F238E27FC236}">
                <a16:creationId xmlns:a16="http://schemas.microsoft.com/office/drawing/2014/main" id="{B449B559-49E9-421B-A9A2-7C4CEF2D4F5F}"/>
              </a:ext>
            </a:extLst>
          </p:cNvPr>
          <p:cNvSpPr>
            <a:spLocks noGrp="1"/>
          </p:cNvSpPr>
          <p:nvPr/>
        </p:nvSpPr>
        <p:spPr>
          <a:xfrm>
            <a:off x="8077200" y="4133850"/>
            <a:ext cx="3333750" cy="323850"/>
          </a:xfrm>
          <a:prstGeom prst="rect">
            <a:avLst/>
          </a:prstGeom>
          <a:noFill/>
          <a:ln w="0">
            <a:noFill/>
            <a:prstDash val="solid"/>
          </a:ln>
        </p:spPr>
        <p:txBody>
          <a:bodyPr wrap="square" lIns="0" tIns="0" rIns="0" bIns="0" anchor="t">
            <a:noAutofit/>
          </a:bodyPr>
          <a:lstStyle>
            <a:defPPr algn="l">
              <a:defRPr sz="1725" b="0">
                <a:solidFill>
                  <a:srgbClr val="DCE8E3"/>
                </a:solidFill>
                <a:latin typeface="Rubik"/>
                <a:ea typeface="Rubik"/>
                <a:cs typeface="Rubik"/>
              </a:defRPr>
            </a:defPPr>
            <a:lvl1pPr algn="l">
              <a:defRPr sz="1725" b="0">
                <a:solidFill>
                  <a:srgbClr val="DCE8E3"/>
                </a:solidFill>
                <a:latin typeface="Rubik"/>
                <a:ea typeface="Rubik"/>
                <a:cs typeface="Rubik"/>
              </a:defRPr>
            </a:lvl1pPr>
            <a:lvl2pPr algn="l">
              <a:defRPr sz="1725" b="0">
                <a:solidFill>
                  <a:srgbClr val="DCE8E3"/>
                </a:solidFill>
                <a:latin typeface="Rubik"/>
                <a:ea typeface="Rubik"/>
                <a:cs typeface="Rubik"/>
              </a:defRPr>
            </a:lvl2pPr>
            <a:lvl3pPr algn="l">
              <a:defRPr sz="1725" b="0">
                <a:solidFill>
                  <a:srgbClr val="DCE8E3"/>
                </a:solidFill>
                <a:latin typeface="Rubik"/>
                <a:ea typeface="Rubik"/>
                <a:cs typeface="Rubik"/>
              </a:defRPr>
            </a:lvl3pPr>
            <a:lvl4pPr algn="l">
              <a:defRPr sz="1725" b="0">
                <a:solidFill>
                  <a:srgbClr val="DCE8E3"/>
                </a:solidFill>
                <a:latin typeface="Rubik"/>
                <a:ea typeface="Rubik"/>
                <a:cs typeface="Rubik"/>
              </a:defRPr>
            </a:lvl4pPr>
            <a:lvl5pPr algn="l">
              <a:defRPr sz="1725" b="0">
                <a:solidFill>
                  <a:srgbClr val="DCE8E3"/>
                </a:solidFill>
                <a:latin typeface="Rubik"/>
                <a:ea typeface="Rubik"/>
                <a:cs typeface="Rubik"/>
              </a:defRPr>
            </a:lvl5pPr>
            <a:lvl6pPr algn="l">
              <a:defRPr sz="1725" b="0">
                <a:solidFill>
                  <a:srgbClr val="DCE8E3"/>
                </a:solidFill>
                <a:latin typeface="Rubik"/>
                <a:ea typeface="Rubik"/>
                <a:cs typeface="Rubik"/>
              </a:defRPr>
            </a:lvl6pPr>
            <a:lvl7pPr algn="l">
              <a:defRPr sz="1725" b="0">
                <a:solidFill>
                  <a:srgbClr val="DCE8E3"/>
                </a:solidFill>
                <a:latin typeface="Rubik"/>
                <a:ea typeface="Rubik"/>
                <a:cs typeface="Rubik"/>
              </a:defRPr>
            </a:lvl7pPr>
            <a:lvl8pPr algn="l">
              <a:defRPr sz="1725" b="0">
                <a:solidFill>
                  <a:srgbClr val="DCE8E3"/>
                </a:solidFill>
                <a:latin typeface="Rubik"/>
                <a:ea typeface="Rubik"/>
                <a:cs typeface="Rubik"/>
              </a:defRPr>
            </a:lvl8pPr>
            <a:lvl9pPr algn="l">
              <a:defRPr sz="1725" b="0">
                <a:solidFill>
                  <a:srgbClr val="DCE8E3"/>
                </a:solidFill>
                <a:latin typeface="Rubik"/>
                <a:ea typeface="Rubik"/>
                <a:cs typeface="Rubik"/>
              </a:defRPr>
            </a:lvl9pPr>
          </a:lstStyle>
          <a:p>
            <a:pPr algn="l">
              <a:lnSpc>
                <a:spcPct val="108000"/>
              </a:lnSpc>
              <a:buNone/>
              <a:defRPr sz="1725" b="0">
                <a:solidFill>
                  <a:srgbClr val="DCE8E3"/>
                </a:solidFill>
                <a:latin typeface="Rubik"/>
                <a:ea typeface="Rubik"/>
                <a:cs typeface="Rubik"/>
              </a:defRPr>
            </a:pPr>
            <a:r>
              <a:rPr sz="1725" b="0" dirty="0" err="1">
                <a:solidFill>
                  <a:srgbClr val="DCE8E3"/>
                </a:solidFill>
                <a:latin typeface="Rubik"/>
                <a:ea typeface="Rubik"/>
                <a:cs typeface="Rubik"/>
              </a:rPr>
              <a:t>Precio</a:t>
            </a:r>
            <a:r>
              <a:rPr sz="1725" b="0" dirty="0">
                <a:solidFill>
                  <a:srgbClr val="DCE8E3"/>
                </a:solidFill>
                <a:latin typeface="Rubik"/>
                <a:ea typeface="Rubik"/>
                <a:cs typeface="Rubik"/>
              </a:rPr>
              <a:t> al 24/09: 232,5</a:t>
            </a:r>
          </a:p>
        </p:txBody>
      </p:sp>
      <p:sp>
        <p:nvSpPr>
          <p:cNvPr id="24" name="text-224">
            <a:extLst>
              <a:ext uri="{FF2B5EF4-FFF2-40B4-BE49-F238E27FC236}">
                <a16:creationId xmlns:a16="http://schemas.microsoft.com/office/drawing/2014/main" id="{AD54CD60-3A79-4B7F-ACC0-BD8378768C57}"/>
              </a:ext>
            </a:extLst>
          </p:cNvPr>
          <p:cNvSpPr>
            <a:spLocks noGrp="1"/>
          </p:cNvSpPr>
          <p:nvPr/>
        </p:nvSpPr>
        <p:spPr>
          <a:xfrm>
            <a:off x="8077200" y="4543425"/>
            <a:ext cx="3333750" cy="64770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30 días: 233,7</a:t>
            </a:r>
          </a:p>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60 días: 232,2</a:t>
            </a:r>
          </a:p>
        </p:txBody>
      </p:sp>
      <p:sp>
        <p:nvSpPr>
          <p:cNvPr id="25" name="text-225">
            <a:extLst>
              <a:ext uri="{FF2B5EF4-FFF2-40B4-BE49-F238E27FC236}">
                <a16:creationId xmlns:a16="http://schemas.microsoft.com/office/drawing/2014/main" id="{61EBD12D-E996-4C7B-97F5-692B6349C0D2}"/>
              </a:ext>
            </a:extLst>
          </p:cNvPr>
          <p:cNvSpPr>
            <a:spLocks noGrp="1"/>
          </p:cNvSpPr>
          <p:nvPr/>
        </p:nvSpPr>
        <p:spPr>
          <a:xfrm>
            <a:off x="8077200" y="5353050"/>
            <a:ext cx="3333750" cy="409575"/>
          </a:xfrm>
          <a:prstGeom prst="rect">
            <a:avLst/>
          </a:prstGeom>
          <a:noFill/>
          <a:ln w="0">
            <a:noFill/>
            <a:prstDash val="solid"/>
          </a:ln>
        </p:spPr>
        <p:txBody>
          <a:bodyPr wrap="square" lIns="0" tIns="0" rIns="0" bIns="0" anchor="t">
            <a:noAutofit/>
          </a:bodyPr>
          <a:lstStyle>
            <a:defPPr algn="l">
              <a:defRPr sz="2025" b="1">
                <a:solidFill>
                  <a:srgbClr val="D3AF63"/>
                </a:solidFill>
                <a:latin typeface="Rubik"/>
                <a:ea typeface="Rubik"/>
                <a:cs typeface="Rubik"/>
              </a:defRPr>
            </a:defPPr>
            <a:lvl1pPr algn="l">
              <a:defRPr sz="2025" b="1">
                <a:solidFill>
                  <a:srgbClr val="D3AF63"/>
                </a:solidFill>
                <a:latin typeface="Rubik"/>
                <a:ea typeface="Rubik"/>
                <a:cs typeface="Rubik"/>
              </a:defRPr>
            </a:lvl1pPr>
            <a:lvl2pPr algn="l">
              <a:defRPr sz="2025" b="1">
                <a:solidFill>
                  <a:srgbClr val="D3AF63"/>
                </a:solidFill>
                <a:latin typeface="Rubik"/>
                <a:ea typeface="Rubik"/>
                <a:cs typeface="Rubik"/>
              </a:defRPr>
            </a:lvl2pPr>
            <a:lvl3pPr algn="l">
              <a:defRPr sz="2025" b="1">
                <a:solidFill>
                  <a:srgbClr val="D3AF63"/>
                </a:solidFill>
                <a:latin typeface="Rubik"/>
                <a:ea typeface="Rubik"/>
                <a:cs typeface="Rubik"/>
              </a:defRPr>
            </a:lvl3pPr>
            <a:lvl4pPr algn="l">
              <a:defRPr sz="2025" b="1">
                <a:solidFill>
                  <a:srgbClr val="D3AF63"/>
                </a:solidFill>
                <a:latin typeface="Rubik"/>
                <a:ea typeface="Rubik"/>
                <a:cs typeface="Rubik"/>
              </a:defRPr>
            </a:lvl4pPr>
            <a:lvl5pPr algn="l">
              <a:defRPr sz="2025" b="1">
                <a:solidFill>
                  <a:srgbClr val="D3AF63"/>
                </a:solidFill>
                <a:latin typeface="Rubik"/>
                <a:ea typeface="Rubik"/>
                <a:cs typeface="Rubik"/>
              </a:defRPr>
            </a:lvl5pPr>
            <a:lvl6pPr algn="l">
              <a:defRPr sz="2025" b="1">
                <a:solidFill>
                  <a:srgbClr val="D3AF63"/>
                </a:solidFill>
                <a:latin typeface="Rubik"/>
                <a:ea typeface="Rubik"/>
                <a:cs typeface="Rubik"/>
              </a:defRPr>
            </a:lvl6pPr>
            <a:lvl7pPr algn="l">
              <a:defRPr sz="2025" b="1">
                <a:solidFill>
                  <a:srgbClr val="D3AF63"/>
                </a:solidFill>
                <a:latin typeface="Rubik"/>
                <a:ea typeface="Rubik"/>
                <a:cs typeface="Rubik"/>
              </a:defRPr>
            </a:lvl7pPr>
            <a:lvl8pPr algn="l">
              <a:defRPr sz="2025" b="1">
                <a:solidFill>
                  <a:srgbClr val="D3AF63"/>
                </a:solidFill>
                <a:latin typeface="Rubik"/>
                <a:ea typeface="Rubik"/>
                <a:cs typeface="Rubik"/>
              </a:defRPr>
            </a:lvl8pPr>
            <a:lvl9pPr algn="l">
              <a:defRPr sz="2025" b="1">
                <a:solidFill>
                  <a:srgbClr val="D3AF63"/>
                </a:solidFill>
                <a:latin typeface="Rubik"/>
                <a:ea typeface="Rubik"/>
                <a:cs typeface="Rubik"/>
              </a:defRPr>
            </a:lvl9pPr>
          </a:lstStyle>
          <a:p>
            <a:pPr algn="l">
              <a:lnSpc>
                <a:spcPct val="108000"/>
              </a:lnSpc>
              <a:buNone/>
              <a:defRPr sz="2025" b="1">
                <a:solidFill>
                  <a:srgbClr val="D3AF63"/>
                </a:solidFill>
                <a:latin typeface="Rubik"/>
                <a:ea typeface="Rubik"/>
                <a:cs typeface="Rubik"/>
              </a:defRPr>
            </a:pPr>
            <a:r>
              <a:rPr sz="2025" b="1">
                <a:solidFill>
                  <a:srgbClr val="D3AF63"/>
                </a:solidFill>
                <a:latin typeface="Rubik"/>
                <a:ea typeface="Rubik"/>
                <a:cs typeface="Rubik"/>
              </a:rPr>
              <a:t>Rango: 206 a 267</a:t>
            </a:r>
          </a:p>
        </p:txBody>
      </p:sp>
      <p:sp>
        <p:nvSpPr>
          <p:cNvPr id="26" name="text-226">
            <a:extLst>
              <a:ext uri="{FF2B5EF4-FFF2-40B4-BE49-F238E27FC236}">
                <a16:creationId xmlns:a16="http://schemas.microsoft.com/office/drawing/2014/main" id="{2CD3016E-B08B-4328-B03B-1085B849C910}"/>
              </a:ext>
            </a:extLst>
          </p:cNvPr>
          <p:cNvSpPr>
            <a:spLocks noGrp="1"/>
          </p:cNvSpPr>
          <p:nvPr/>
        </p:nvSpPr>
        <p:spPr>
          <a:xfrm>
            <a:off x="609600" y="5991225"/>
            <a:ext cx="10972800" cy="438150"/>
          </a:xfrm>
          <a:prstGeom prst="rect">
            <a:avLst/>
          </a:prstGeom>
          <a:noFill/>
          <a:ln w="0">
            <a:noFill/>
            <a:prstDash val="solid"/>
          </a:ln>
        </p:spPr>
        <p:txBody>
          <a:bodyPr wrap="square" lIns="0" tIns="0" rIns="0" bIns="0" anchor="t">
            <a:noAutofit/>
          </a:bodyPr>
          <a:lstStyle>
            <a:defPPr algn="l">
              <a:defRPr sz="1575" b="0">
                <a:solidFill>
                  <a:srgbClr val="DCE8E3"/>
                </a:solidFill>
                <a:latin typeface="Rubik"/>
                <a:ea typeface="Rubik"/>
                <a:cs typeface="Rubik"/>
              </a:defRPr>
            </a:defPPr>
            <a:lvl1pPr algn="l">
              <a:defRPr sz="1575" b="0">
                <a:solidFill>
                  <a:srgbClr val="DCE8E3"/>
                </a:solidFill>
                <a:latin typeface="Rubik"/>
                <a:ea typeface="Rubik"/>
                <a:cs typeface="Rubik"/>
              </a:defRPr>
            </a:lvl1pPr>
            <a:lvl2pPr algn="l">
              <a:defRPr sz="1575" b="0">
                <a:solidFill>
                  <a:srgbClr val="DCE8E3"/>
                </a:solidFill>
                <a:latin typeface="Rubik"/>
                <a:ea typeface="Rubik"/>
                <a:cs typeface="Rubik"/>
              </a:defRPr>
            </a:lvl2pPr>
            <a:lvl3pPr algn="l">
              <a:defRPr sz="1575" b="0">
                <a:solidFill>
                  <a:srgbClr val="DCE8E3"/>
                </a:solidFill>
                <a:latin typeface="Rubik"/>
                <a:ea typeface="Rubik"/>
                <a:cs typeface="Rubik"/>
              </a:defRPr>
            </a:lvl3pPr>
            <a:lvl4pPr algn="l">
              <a:defRPr sz="1575" b="0">
                <a:solidFill>
                  <a:srgbClr val="DCE8E3"/>
                </a:solidFill>
                <a:latin typeface="Rubik"/>
                <a:ea typeface="Rubik"/>
                <a:cs typeface="Rubik"/>
              </a:defRPr>
            </a:lvl4pPr>
            <a:lvl5pPr algn="l">
              <a:defRPr sz="1575" b="0">
                <a:solidFill>
                  <a:srgbClr val="DCE8E3"/>
                </a:solidFill>
                <a:latin typeface="Rubik"/>
                <a:ea typeface="Rubik"/>
                <a:cs typeface="Rubik"/>
              </a:defRPr>
            </a:lvl5pPr>
            <a:lvl6pPr algn="l">
              <a:defRPr sz="1575" b="0">
                <a:solidFill>
                  <a:srgbClr val="DCE8E3"/>
                </a:solidFill>
                <a:latin typeface="Rubik"/>
                <a:ea typeface="Rubik"/>
                <a:cs typeface="Rubik"/>
              </a:defRPr>
            </a:lvl6pPr>
            <a:lvl7pPr algn="l">
              <a:defRPr sz="1575" b="0">
                <a:solidFill>
                  <a:srgbClr val="DCE8E3"/>
                </a:solidFill>
                <a:latin typeface="Rubik"/>
                <a:ea typeface="Rubik"/>
                <a:cs typeface="Rubik"/>
              </a:defRPr>
            </a:lvl7pPr>
            <a:lvl8pPr algn="l">
              <a:defRPr sz="1575" b="0">
                <a:solidFill>
                  <a:srgbClr val="DCE8E3"/>
                </a:solidFill>
                <a:latin typeface="Rubik"/>
                <a:ea typeface="Rubik"/>
                <a:cs typeface="Rubik"/>
              </a:defRPr>
            </a:lvl8pPr>
            <a:lvl9pPr algn="l">
              <a:defRPr sz="1575" b="0">
                <a:solidFill>
                  <a:srgbClr val="DCE8E3"/>
                </a:solidFill>
                <a:latin typeface="Rubik"/>
                <a:ea typeface="Rubik"/>
                <a:cs typeface="Rubik"/>
              </a:defRPr>
            </a:lvl9pPr>
          </a:lstStyle>
          <a:p>
            <a:pPr algn="l">
              <a:lnSpc>
                <a:spcPct val="108000"/>
              </a:lnSpc>
              <a:buNone/>
              <a:defRPr sz="1575" b="0">
                <a:solidFill>
                  <a:srgbClr val="DCE8E3"/>
                </a:solidFill>
                <a:latin typeface="Rubik"/>
                <a:ea typeface="Rubik"/>
                <a:cs typeface="Rubik"/>
              </a:defRPr>
            </a:pPr>
            <a:r>
              <a:rPr sz="1575" b="0">
                <a:solidFill>
                  <a:srgbClr val="DCE8E3"/>
                </a:solidFill>
                <a:latin typeface="Rubik"/>
                <a:ea typeface="Rubik"/>
                <a:cs typeface="Rubik"/>
              </a:rPr>
              <a:t>Las bandas tuvieron 80% de cobertura en la prueba. Esa cobertura futura no está garantizada.</a:t>
            </a:r>
          </a:p>
        </p:txBody>
      </p:sp>
      <p:pic>
        <p:nvPicPr>
          <p:cNvPr id="35" name="Gráfico 34" descr="Soja contorno">
            <a:extLst>
              <a:ext uri="{FF2B5EF4-FFF2-40B4-BE49-F238E27FC236}">
                <a16:creationId xmlns:a16="http://schemas.microsoft.com/office/drawing/2014/main" id="{92494C19-84AE-99E7-6CEC-FCFF41C7EC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9624" y="1807028"/>
            <a:ext cx="677636" cy="677636"/>
          </a:xfrm>
          <a:prstGeom prst="rect">
            <a:avLst/>
          </a:prstGeom>
        </p:spPr>
      </p:pic>
      <p:pic>
        <p:nvPicPr>
          <p:cNvPr id="39" name="Gráfico 38" descr="Cultivos contorno">
            <a:extLst>
              <a:ext uri="{FF2B5EF4-FFF2-40B4-BE49-F238E27FC236}">
                <a16:creationId xmlns:a16="http://schemas.microsoft.com/office/drawing/2014/main" id="{42888F6C-75F3-FD89-559D-C388A881CD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33792" y="1749198"/>
            <a:ext cx="748394" cy="748394"/>
          </a:xfrm>
          <a:prstGeom prst="rect">
            <a:avLst/>
          </a:prstGeom>
        </p:spPr>
      </p:pic>
      <p:pic>
        <p:nvPicPr>
          <p:cNvPr id="45" name="Gráfico 44" descr="Maíz contorno">
            <a:extLst>
              <a:ext uri="{FF2B5EF4-FFF2-40B4-BE49-F238E27FC236}">
                <a16:creationId xmlns:a16="http://schemas.microsoft.com/office/drawing/2014/main" id="{4D4E624E-4552-0590-DAFE-6BF0556B78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61881" y="1742394"/>
            <a:ext cx="748394" cy="748394"/>
          </a:xfrm>
          <a:prstGeom prst="rect">
            <a:avLst/>
          </a:prstGeom>
        </p:spPr>
      </p:pic>
      <p:sp>
        <p:nvSpPr>
          <p:cNvPr id="29" name="Shape 0">
            <a:extLst>
              <a:ext uri="{FF2B5EF4-FFF2-40B4-BE49-F238E27FC236}">
                <a16:creationId xmlns:a16="http://schemas.microsoft.com/office/drawing/2014/main" id="{432225FD-2531-C286-8835-265A91532496}"/>
              </a:ext>
            </a:extLst>
          </p:cNvPr>
          <p:cNvSpPr/>
          <p:nvPr/>
        </p:nvSpPr>
        <p:spPr>
          <a:xfrm>
            <a:off x="0" y="0"/>
            <a:ext cx="12191695" cy="6858000"/>
          </a:xfrm>
          <a:prstGeom prst="rect">
            <a:avLst/>
          </a:prstGeom>
          <a:solidFill>
            <a:srgbClr val="142E3A"/>
          </a:solidFill>
          <a:ln/>
        </p:spPr>
        <p:txBody>
          <a:bodyPr/>
          <a:lstStyle/>
          <a:p>
            <a:endParaRPr lang="es-AR"/>
          </a:p>
        </p:txBody>
      </p:sp>
      <p:sp>
        <p:nvSpPr>
          <p:cNvPr id="31" name="slide-title-201">
            <a:extLst>
              <a:ext uri="{FF2B5EF4-FFF2-40B4-BE49-F238E27FC236}">
                <a16:creationId xmlns:a16="http://schemas.microsoft.com/office/drawing/2014/main" id="{7478CF44-D13C-4142-EB1A-6E532871F159}"/>
              </a:ext>
            </a:extLst>
          </p:cNvPr>
          <p:cNvSpPr>
            <a:spLocks noGrp="1"/>
          </p:cNvSpPr>
          <p:nvPr/>
        </p:nvSpPr>
        <p:spPr>
          <a:xfrm>
            <a:off x="762000" y="638175"/>
            <a:ext cx="10972800" cy="666750"/>
          </a:xfrm>
          <a:prstGeom prst="rect">
            <a:avLst/>
          </a:prstGeom>
          <a:noFill/>
          <a:ln w="0">
            <a:noFill/>
            <a:prstDash val="solid"/>
          </a:ln>
        </p:spPr>
        <p:txBody>
          <a:bodyPr wrap="square" lIns="0" tIns="0" rIns="0" bIns="0" anchor="t">
            <a:noAutofit/>
          </a:bodyPr>
          <a:lstStyle>
            <a:defPPr algn="l">
              <a:defRPr sz="3300" b="1">
                <a:solidFill>
                  <a:srgbClr val="FFFFFF"/>
                </a:solidFill>
                <a:latin typeface="Rubik"/>
                <a:ea typeface="Rubik"/>
                <a:cs typeface="Rubik"/>
              </a:defRPr>
            </a:defPPr>
            <a:lvl1pPr algn="l">
              <a:defRPr sz="3300" b="1">
                <a:solidFill>
                  <a:srgbClr val="FFFFFF"/>
                </a:solidFill>
                <a:latin typeface="Rubik"/>
                <a:ea typeface="Rubik"/>
                <a:cs typeface="Rubik"/>
              </a:defRPr>
            </a:lvl1pPr>
            <a:lvl2pPr algn="l">
              <a:defRPr sz="3300" b="1">
                <a:solidFill>
                  <a:srgbClr val="FFFFFF"/>
                </a:solidFill>
                <a:latin typeface="Rubik"/>
                <a:ea typeface="Rubik"/>
                <a:cs typeface="Rubik"/>
              </a:defRPr>
            </a:lvl2pPr>
            <a:lvl3pPr algn="l">
              <a:defRPr sz="3300" b="1">
                <a:solidFill>
                  <a:srgbClr val="FFFFFF"/>
                </a:solidFill>
                <a:latin typeface="Rubik"/>
                <a:ea typeface="Rubik"/>
                <a:cs typeface="Rubik"/>
              </a:defRPr>
            </a:lvl3pPr>
            <a:lvl4pPr algn="l">
              <a:defRPr sz="3300" b="1">
                <a:solidFill>
                  <a:srgbClr val="FFFFFF"/>
                </a:solidFill>
                <a:latin typeface="Rubik"/>
                <a:ea typeface="Rubik"/>
                <a:cs typeface="Rubik"/>
              </a:defRPr>
            </a:lvl4pPr>
            <a:lvl5pPr algn="l">
              <a:defRPr sz="3300" b="1">
                <a:solidFill>
                  <a:srgbClr val="FFFFFF"/>
                </a:solidFill>
                <a:latin typeface="Rubik"/>
                <a:ea typeface="Rubik"/>
                <a:cs typeface="Rubik"/>
              </a:defRPr>
            </a:lvl5pPr>
            <a:lvl6pPr algn="l">
              <a:defRPr sz="3300" b="1">
                <a:solidFill>
                  <a:srgbClr val="FFFFFF"/>
                </a:solidFill>
                <a:latin typeface="Rubik"/>
                <a:ea typeface="Rubik"/>
                <a:cs typeface="Rubik"/>
              </a:defRPr>
            </a:lvl6pPr>
            <a:lvl7pPr algn="l">
              <a:defRPr sz="3300" b="1">
                <a:solidFill>
                  <a:srgbClr val="FFFFFF"/>
                </a:solidFill>
                <a:latin typeface="Rubik"/>
                <a:ea typeface="Rubik"/>
                <a:cs typeface="Rubik"/>
              </a:defRPr>
            </a:lvl7pPr>
            <a:lvl8pPr algn="l">
              <a:defRPr sz="3300" b="1">
                <a:solidFill>
                  <a:srgbClr val="FFFFFF"/>
                </a:solidFill>
                <a:latin typeface="Rubik"/>
                <a:ea typeface="Rubik"/>
                <a:cs typeface="Rubik"/>
              </a:defRPr>
            </a:lvl8pPr>
            <a:lvl9pPr algn="l">
              <a:defRPr sz="3300" b="1">
                <a:solidFill>
                  <a:srgbClr val="FFFFFF"/>
                </a:solidFill>
                <a:latin typeface="Rubik"/>
                <a:ea typeface="Rubik"/>
                <a:cs typeface="Rubik"/>
              </a:defRPr>
            </a:lvl9pPr>
          </a:lstStyle>
          <a:p>
            <a:pPr algn="l">
              <a:lnSpc>
                <a:spcPct val="108000"/>
              </a:lnSpc>
              <a:buNone/>
              <a:defRPr sz="3300" b="1">
                <a:solidFill>
                  <a:srgbClr val="FFFFFF"/>
                </a:solidFill>
                <a:latin typeface="Rubik"/>
                <a:ea typeface="Rubik"/>
                <a:cs typeface="Rubik"/>
              </a:defRPr>
            </a:pPr>
            <a:r>
              <a:rPr sz="3300" b="1" dirty="0" err="1">
                <a:solidFill>
                  <a:srgbClr val="FFFFFF"/>
                </a:solidFill>
                <a:latin typeface="Rubik"/>
                <a:ea typeface="Rubik"/>
                <a:cs typeface="Rubik"/>
              </a:rPr>
              <a:t>Pronósticos</a:t>
            </a:r>
            <a:r>
              <a:rPr sz="3300" b="1" dirty="0">
                <a:solidFill>
                  <a:srgbClr val="FFFFFF"/>
                </a:solidFill>
                <a:latin typeface="Rubik"/>
                <a:ea typeface="Rubik"/>
                <a:cs typeface="Rubik"/>
              </a:rPr>
              <a:t> a 30, 60 y 90 días</a:t>
            </a:r>
          </a:p>
        </p:txBody>
      </p:sp>
      <p:sp>
        <p:nvSpPr>
          <p:cNvPr id="33" name="text-202">
            <a:extLst>
              <a:ext uri="{FF2B5EF4-FFF2-40B4-BE49-F238E27FC236}">
                <a16:creationId xmlns:a16="http://schemas.microsoft.com/office/drawing/2014/main" id="{5625A845-AFC7-12C4-3344-448A6F99733E}"/>
              </a:ext>
            </a:extLst>
          </p:cNvPr>
          <p:cNvSpPr>
            <a:spLocks noGrp="1"/>
          </p:cNvSpPr>
          <p:nvPr/>
        </p:nvSpPr>
        <p:spPr>
          <a:xfrm>
            <a:off x="762000" y="1419225"/>
            <a:ext cx="10972800" cy="55245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ARIMAX </a:t>
            </a:r>
            <a:r>
              <a:rPr sz="1800" b="0" dirty="0" err="1">
                <a:solidFill>
                  <a:srgbClr val="DCE8E3"/>
                </a:solidFill>
                <a:latin typeface="Rubik"/>
                <a:ea typeface="Rubik"/>
                <a:cs typeface="Rubik"/>
              </a:rPr>
              <a:t>desde</a:t>
            </a:r>
            <a:r>
              <a:rPr sz="1800" b="0" dirty="0">
                <a:solidFill>
                  <a:srgbClr val="DCE8E3"/>
                </a:solidFill>
                <a:latin typeface="Rubik"/>
                <a:ea typeface="Rubik"/>
                <a:cs typeface="Rubik"/>
              </a:rPr>
              <a:t> el 24/09/2026. El </a:t>
            </a:r>
            <a:r>
              <a:rPr sz="1800" b="0" dirty="0" err="1">
                <a:solidFill>
                  <a:srgbClr val="DCE8E3"/>
                </a:solidFill>
                <a:latin typeface="Rubik"/>
                <a:ea typeface="Rubik"/>
                <a:cs typeface="Rubik"/>
              </a:rPr>
              <a:t>escenario</a:t>
            </a:r>
            <a:r>
              <a:rPr sz="1800" b="0" dirty="0">
                <a:solidFill>
                  <a:srgbClr val="DCE8E3"/>
                </a:solidFill>
                <a:latin typeface="Rubik"/>
                <a:ea typeface="Rubik"/>
                <a:cs typeface="Rubik"/>
              </a:rPr>
              <a:t> central </a:t>
            </a:r>
            <a:r>
              <a:rPr sz="1800" b="0" dirty="0" err="1">
                <a:solidFill>
                  <a:srgbClr val="DCE8E3"/>
                </a:solidFill>
                <a:latin typeface="Rubik"/>
                <a:ea typeface="Rubik"/>
                <a:cs typeface="Rubik"/>
              </a:rPr>
              <a:t>muestra</a:t>
            </a:r>
            <a:r>
              <a:rPr sz="1800" b="0" dirty="0">
                <a:solidFill>
                  <a:srgbClr val="DCE8E3"/>
                </a:solidFill>
                <a:latin typeface="Rubik"/>
                <a:ea typeface="Rubik"/>
                <a:cs typeface="Rubik"/>
              </a:rPr>
              <a:t> </a:t>
            </a:r>
            <a:r>
              <a:rPr sz="1800" b="0" dirty="0" err="1">
                <a:solidFill>
                  <a:srgbClr val="DCE8E3"/>
                </a:solidFill>
                <a:latin typeface="Rubik"/>
                <a:ea typeface="Rubik"/>
                <a:cs typeface="Rubik"/>
              </a:rPr>
              <a:t>precios</a:t>
            </a:r>
            <a:r>
              <a:rPr sz="1800" b="0" dirty="0">
                <a:solidFill>
                  <a:srgbClr val="DCE8E3"/>
                </a:solidFill>
                <a:latin typeface="Rubik"/>
                <a:ea typeface="Rubik"/>
                <a:cs typeface="Rubik"/>
              </a:rPr>
              <a:t> </a:t>
            </a:r>
            <a:r>
              <a:rPr sz="1800" b="0" dirty="0" err="1">
                <a:solidFill>
                  <a:srgbClr val="DCE8E3"/>
                </a:solidFill>
                <a:latin typeface="Rubik"/>
                <a:ea typeface="Rubik"/>
                <a:cs typeface="Rubik"/>
              </a:rPr>
              <a:t>casi</a:t>
            </a:r>
            <a:r>
              <a:rPr sz="1800" b="0" dirty="0">
                <a:solidFill>
                  <a:srgbClr val="DCE8E3"/>
                </a:solidFill>
                <a:latin typeface="Rubik"/>
                <a:ea typeface="Rubik"/>
                <a:cs typeface="Rubik"/>
              </a:rPr>
              <a:t> </a:t>
            </a:r>
            <a:r>
              <a:rPr sz="1800" b="0" dirty="0" err="1">
                <a:solidFill>
                  <a:srgbClr val="DCE8E3"/>
                </a:solidFill>
                <a:latin typeface="Rubik"/>
                <a:ea typeface="Rubik"/>
                <a:cs typeface="Rubik"/>
              </a:rPr>
              <a:t>estables</a:t>
            </a:r>
            <a:r>
              <a:rPr sz="1800" b="0" dirty="0">
                <a:solidFill>
                  <a:srgbClr val="DCE8E3"/>
                </a:solidFill>
                <a:latin typeface="Rubik"/>
                <a:ea typeface="Rubik"/>
                <a:cs typeface="Rubik"/>
              </a:rPr>
              <a:t>.</a:t>
            </a:r>
          </a:p>
        </p:txBody>
      </p:sp>
      <p:sp>
        <p:nvSpPr>
          <p:cNvPr id="36" name="text-205">
            <a:extLst>
              <a:ext uri="{FF2B5EF4-FFF2-40B4-BE49-F238E27FC236}">
                <a16:creationId xmlns:a16="http://schemas.microsoft.com/office/drawing/2014/main" id="{3D0722FF-18D5-86E8-DEFB-D4E500D5DBFF}"/>
              </a:ext>
            </a:extLst>
          </p:cNvPr>
          <p:cNvSpPr>
            <a:spLocks noGrp="1"/>
          </p:cNvSpPr>
          <p:nvPr/>
        </p:nvSpPr>
        <p:spPr>
          <a:xfrm>
            <a:off x="818470" y="2114550"/>
            <a:ext cx="3333750" cy="342900"/>
          </a:xfrm>
          <a:prstGeom prst="rect">
            <a:avLst/>
          </a:prstGeom>
          <a:noFill/>
          <a:ln w="0">
            <a:noFill/>
            <a:prstDash val="solid"/>
          </a:ln>
        </p:spPr>
        <p:txBody>
          <a:bodyPr wrap="square" lIns="0" tIns="0" rIns="0" bIns="0" anchor="t">
            <a:noAutofit/>
          </a:bodyPr>
          <a:lstStyle>
            <a:defPPr algn="l">
              <a:defRPr sz="1950" b="1">
                <a:solidFill>
                  <a:srgbClr val="D3AF63"/>
                </a:solidFill>
                <a:latin typeface="Rubik"/>
                <a:ea typeface="Rubik"/>
                <a:cs typeface="Rubik"/>
              </a:defRPr>
            </a:defPPr>
            <a:lvl1pPr algn="l">
              <a:defRPr sz="1950" b="1">
                <a:solidFill>
                  <a:srgbClr val="D3AF63"/>
                </a:solidFill>
                <a:latin typeface="Rubik"/>
                <a:ea typeface="Rubik"/>
                <a:cs typeface="Rubik"/>
              </a:defRPr>
            </a:lvl1pPr>
            <a:lvl2pPr algn="l">
              <a:defRPr sz="1950" b="1">
                <a:solidFill>
                  <a:srgbClr val="D3AF63"/>
                </a:solidFill>
                <a:latin typeface="Rubik"/>
                <a:ea typeface="Rubik"/>
                <a:cs typeface="Rubik"/>
              </a:defRPr>
            </a:lvl2pPr>
            <a:lvl3pPr algn="l">
              <a:defRPr sz="1950" b="1">
                <a:solidFill>
                  <a:srgbClr val="D3AF63"/>
                </a:solidFill>
                <a:latin typeface="Rubik"/>
                <a:ea typeface="Rubik"/>
                <a:cs typeface="Rubik"/>
              </a:defRPr>
            </a:lvl3pPr>
            <a:lvl4pPr algn="l">
              <a:defRPr sz="1950" b="1">
                <a:solidFill>
                  <a:srgbClr val="D3AF63"/>
                </a:solidFill>
                <a:latin typeface="Rubik"/>
                <a:ea typeface="Rubik"/>
                <a:cs typeface="Rubik"/>
              </a:defRPr>
            </a:lvl4pPr>
            <a:lvl5pPr algn="l">
              <a:defRPr sz="1950" b="1">
                <a:solidFill>
                  <a:srgbClr val="D3AF63"/>
                </a:solidFill>
                <a:latin typeface="Rubik"/>
                <a:ea typeface="Rubik"/>
                <a:cs typeface="Rubik"/>
              </a:defRPr>
            </a:lvl5pPr>
            <a:lvl6pPr algn="l">
              <a:defRPr sz="1950" b="1">
                <a:solidFill>
                  <a:srgbClr val="D3AF63"/>
                </a:solidFill>
                <a:latin typeface="Rubik"/>
                <a:ea typeface="Rubik"/>
                <a:cs typeface="Rubik"/>
              </a:defRPr>
            </a:lvl6pPr>
            <a:lvl7pPr algn="l">
              <a:defRPr sz="1950" b="1">
                <a:solidFill>
                  <a:srgbClr val="D3AF63"/>
                </a:solidFill>
                <a:latin typeface="Rubik"/>
                <a:ea typeface="Rubik"/>
                <a:cs typeface="Rubik"/>
              </a:defRPr>
            </a:lvl7pPr>
            <a:lvl8pPr algn="l">
              <a:defRPr sz="1950" b="1">
                <a:solidFill>
                  <a:srgbClr val="D3AF63"/>
                </a:solidFill>
                <a:latin typeface="Rubik"/>
                <a:ea typeface="Rubik"/>
                <a:cs typeface="Rubik"/>
              </a:defRPr>
            </a:lvl8pPr>
            <a:lvl9pPr algn="l">
              <a:defRPr sz="1950" b="1">
                <a:solidFill>
                  <a:srgbClr val="D3AF63"/>
                </a:solidFill>
                <a:latin typeface="Rubik"/>
                <a:ea typeface="Rubik"/>
                <a:cs typeface="Rubik"/>
              </a:defRPr>
            </a:lvl9pPr>
          </a:lstStyle>
          <a:p>
            <a:pPr algn="l">
              <a:lnSpc>
                <a:spcPct val="108000"/>
              </a:lnSpc>
              <a:buNone/>
              <a:defRPr sz="1950" b="1">
                <a:solidFill>
                  <a:srgbClr val="D3AF63"/>
                </a:solidFill>
                <a:latin typeface="Rubik"/>
                <a:ea typeface="Rubik"/>
                <a:cs typeface="Rubik"/>
              </a:defRPr>
            </a:pPr>
            <a:r>
              <a:rPr sz="2400" b="1" dirty="0">
                <a:solidFill>
                  <a:srgbClr val="FFC000"/>
                </a:solidFill>
                <a:latin typeface="Rubik"/>
                <a:ea typeface="Rubik"/>
                <a:cs typeface="Rubik"/>
              </a:rPr>
              <a:t>SOJA</a:t>
            </a:r>
          </a:p>
        </p:txBody>
      </p:sp>
      <p:sp>
        <p:nvSpPr>
          <p:cNvPr id="38" name="text-206">
            <a:extLst>
              <a:ext uri="{FF2B5EF4-FFF2-40B4-BE49-F238E27FC236}">
                <a16:creationId xmlns:a16="http://schemas.microsoft.com/office/drawing/2014/main" id="{F5BC60FF-CB30-0EF3-BE80-D3E00A73528D}"/>
              </a:ext>
            </a:extLst>
          </p:cNvPr>
          <p:cNvSpPr>
            <a:spLocks noGrp="1"/>
          </p:cNvSpPr>
          <p:nvPr/>
        </p:nvSpPr>
        <p:spPr>
          <a:xfrm>
            <a:off x="762000" y="2686050"/>
            <a:ext cx="3333750" cy="828675"/>
          </a:xfrm>
          <a:prstGeom prst="rect">
            <a:avLst/>
          </a:prstGeom>
          <a:noFill/>
          <a:ln w="0">
            <a:noFill/>
            <a:prstDash val="solid"/>
          </a:ln>
        </p:spPr>
        <p:txBody>
          <a:bodyPr wrap="square" lIns="0" tIns="0" rIns="0" bIns="0" anchor="t">
            <a:noAutofit/>
          </a:bodyPr>
          <a:lstStyle>
            <a:defPPr algn="l">
              <a:defRPr sz="5025" b="1">
                <a:solidFill>
                  <a:srgbClr val="FFFFFF"/>
                </a:solidFill>
                <a:latin typeface="Rubik"/>
                <a:ea typeface="Rubik"/>
                <a:cs typeface="Rubik"/>
              </a:defRPr>
            </a:defPPr>
            <a:lvl1pPr algn="l">
              <a:defRPr sz="5025" b="1">
                <a:solidFill>
                  <a:srgbClr val="FFFFFF"/>
                </a:solidFill>
                <a:latin typeface="Rubik"/>
                <a:ea typeface="Rubik"/>
                <a:cs typeface="Rubik"/>
              </a:defRPr>
            </a:lvl1pPr>
            <a:lvl2pPr algn="l">
              <a:defRPr sz="5025" b="1">
                <a:solidFill>
                  <a:srgbClr val="FFFFFF"/>
                </a:solidFill>
                <a:latin typeface="Rubik"/>
                <a:ea typeface="Rubik"/>
                <a:cs typeface="Rubik"/>
              </a:defRPr>
            </a:lvl2pPr>
            <a:lvl3pPr algn="l">
              <a:defRPr sz="5025" b="1">
                <a:solidFill>
                  <a:srgbClr val="FFFFFF"/>
                </a:solidFill>
                <a:latin typeface="Rubik"/>
                <a:ea typeface="Rubik"/>
                <a:cs typeface="Rubik"/>
              </a:defRPr>
            </a:lvl3pPr>
            <a:lvl4pPr algn="l">
              <a:defRPr sz="5025" b="1">
                <a:solidFill>
                  <a:srgbClr val="FFFFFF"/>
                </a:solidFill>
                <a:latin typeface="Rubik"/>
                <a:ea typeface="Rubik"/>
                <a:cs typeface="Rubik"/>
              </a:defRPr>
            </a:lvl4pPr>
            <a:lvl5pPr algn="l">
              <a:defRPr sz="5025" b="1">
                <a:solidFill>
                  <a:srgbClr val="FFFFFF"/>
                </a:solidFill>
                <a:latin typeface="Rubik"/>
                <a:ea typeface="Rubik"/>
                <a:cs typeface="Rubik"/>
              </a:defRPr>
            </a:lvl5pPr>
            <a:lvl6pPr algn="l">
              <a:defRPr sz="5025" b="1">
                <a:solidFill>
                  <a:srgbClr val="FFFFFF"/>
                </a:solidFill>
                <a:latin typeface="Rubik"/>
                <a:ea typeface="Rubik"/>
                <a:cs typeface="Rubik"/>
              </a:defRPr>
            </a:lvl6pPr>
            <a:lvl7pPr algn="l">
              <a:defRPr sz="5025" b="1">
                <a:solidFill>
                  <a:srgbClr val="FFFFFF"/>
                </a:solidFill>
                <a:latin typeface="Rubik"/>
                <a:ea typeface="Rubik"/>
                <a:cs typeface="Rubik"/>
              </a:defRPr>
            </a:lvl7pPr>
            <a:lvl8pPr algn="l">
              <a:defRPr sz="5025" b="1">
                <a:solidFill>
                  <a:srgbClr val="FFFFFF"/>
                </a:solidFill>
                <a:latin typeface="Rubik"/>
                <a:ea typeface="Rubik"/>
                <a:cs typeface="Rubik"/>
              </a:defRPr>
            </a:lvl8pPr>
            <a:lvl9pPr algn="l">
              <a:defRPr sz="5025" b="1">
                <a:solidFill>
                  <a:srgbClr val="FFFFFF"/>
                </a:solidFill>
                <a:latin typeface="Rubik"/>
                <a:ea typeface="Rubik"/>
                <a:cs typeface="Rubik"/>
              </a:defRPr>
            </a:lvl9pPr>
          </a:lstStyle>
          <a:p>
            <a:pPr algn="l">
              <a:lnSpc>
                <a:spcPct val="108000"/>
              </a:lnSpc>
              <a:buNone/>
              <a:defRPr sz="5025" b="1">
                <a:solidFill>
                  <a:srgbClr val="FFFFFF"/>
                </a:solidFill>
                <a:latin typeface="Rubik"/>
                <a:ea typeface="Rubik"/>
                <a:cs typeface="Rubik"/>
              </a:defRPr>
            </a:pPr>
            <a:r>
              <a:rPr sz="5025" b="1" dirty="0">
                <a:solidFill>
                  <a:srgbClr val="FFFFFF"/>
                </a:solidFill>
                <a:latin typeface="Rubik"/>
                <a:ea typeface="Rubik"/>
                <a:cs typeface="Rubik"/>
              </a:rPr>
              <a:t>369,9</a:t>
            </a:r>
          </a:p>
        </p:txBody>
      </p:sp>
      <p:sp>
        <p:nvSpPr>
          <p:cNvPr id="41" name="text-207">
            <a:extLst>
              <a:ext uri="{FF2B5EF4-FFF2-40B4-BE49-F238E27FC236}">
                <a16:creationId xmlns:a16="http://schemas.microsoft.com/office/drawing/2014/main" id="{63806A39-9A76-4567-3E63-2C5D687A0738}"/>
              </a:ext>
            </a:extLst>
          </p:cNvPr>
          <p:cNvSpPr>
            <a:spLocks noGrp="1"/>
          </p:cNvSpPr>
          <p:nvPr/>
        </p:nvSpPr>
        <p:spPr>
          <a:xfrm>
            <a:off x="762000" y="3571875"/>
            <a:ext cx="3333750" cy="333375"/>
          </a:xfrm>
          <a:prstGeom prst="rect">
            <a:avLst/>
          </a:prstGeom>
          <a:noFill/>
          <a:ln w="0">
            <a:noFill/>
            <a:prstDash val="solid"/>
          </a:ln>
        </p:spPr>
        <p:txBody>
          <a:bodyPr wrap="square" lIns="0" tIns="0" rIns="0" bIns="0" anchor="t">
            <a:noAutofit/>
          </a:bodyPr>
          <a:lstStyle>
            <a:defPPr algn="l">
              <a:defRPr sz="1875" b="0">
                <a:solidFill>
                  <a:srgbClr val="FFFFFF"/>
                </a:solidFill>
                <a:latin typeface="Rubik"/>
                <a:ea typeface="Rubik"/>
                <a:cs typeface="Rubik"/>
              </a:defRPr>
            </a:defPPr>
            <a:lvl1pPr algn="l">
              <a:defRPr sz="1875" b="0">
                <a:solidFill>
                  <a:srgbClr val="FFFFFF"/>
                </a:solidFill>
                <a:latin typeface="Rubik"/>
                <a:ea typeface="Rubik"/>
                <a:cs typeface="Rubik"/>
              </a:defRPr>
            </a:lvl1pPr>
            <a:lvl2pPr algn="l">
              <a:defRPr sz="1875" b="0">
                <a:solidFill>
                  <a:srgbClr val="FFFFFF"/>
                </a:solidFill>
                <a:latin typeface="Rubik"/>
                <a:ea typeface="Rubik"/>
                <a:cs typeface="Rubik"/>
              </a:defRPr>
            </a:lvl2pPr>
            <a:lvl3pPr algn="l">
              <a:defRPr sz="1875" b="0">
                <a:solidFill>
                  <a:srgbClr val="FFFFFF"/>
                </a:solidFill>
                <a:latin typeface="Rubik"/>
                <a:ea typeface="Rubik"/>
                <a:cs typeface="Rubik"/>
              </a:defRPr>
            </a:lvl3pPr>
            <a:lvl4pPr algn="l">
              <a:defRPr sz="1875" b="0">
                <a:solidFill>
                  <a:srgbClr val="FFFFFF"/>
                </a:solidFill>
                <a:latin typeface="Rubik"/>
                <a:ea typeface="Rubik"/>
                <a:cs typeface="Rubik"/>
              </a:defRPr>
            </a:lvl4pPr>
            <a:lvl5pPr algn="l">
              <a:defRPr sz="1875" b="0">
                <a:solidFill>
                  <a:srgbClr val="FFFFFF"/>
                </a:solidFill>
                <a:latin typeface="Rubik"/>
                <a:ea typeface="Rubik"/>
                <a:cs typeface="Rubik"/>
              </a:defRPr>
            </a:lvl5pPr>
            <a:lvl6pPr algn="l">
              <a:defRPr sz="1875" b="0">
                <a:solidFill>
                  <a:srgbClr val="FFFFFF"/>
                </a:solidFill>
                <a:latin typeface="Rubik"/>
                <a:ea typeface="Rubik"/>
                <a:cs typeface="Rubik"/>
              </a:defRPr>
            </a:lvl6pPr>
            <a:lvl7pPr algn="l">
              <a:defRPr sz="1875" b="0">
                <a:solidFill>
                  <a:srgbClr val="FFFFFF"/>
                </a:solidFill>
                <a:latin typeface="Rubik"/>
                <a:ea typeface="Rubik"/>
                <a:cs typeface="Rubik"/>
              </a:defRPr>
            </a:lvl7pPr>
            <a:lvl8pPr algn="l">
              <a:defRPr sz="1875" b="0">
                <a:solidFill>
                  <a:srgbClr val="FFFFFF"/>
                </a:solidFill>
                <a:latin typeface="Rubik"/>
                <a:ea typeface="Rubik"/>
                <a:cs typeface="Rubik"/>
              </a:defRPr>
            </a:lvl8pPr>
            <a:lvl9pPr algn="l">
              <a:defRPr sz="1875" b="0">
                <a:solidFill>
                  <a:srgbClr val="FFFFFF"/>
                </a:solidFill>
                <a:latin typeface="Rubik"/>
                <a:ea typeface="Rubik"/>
                <a:cs typeface="Rubik"/>
              </a:defRPr>
            </a:lvl9pPr>
          </a:lstStyle>
          <a:p>
            <a:pPr algn="l">
              <a:lnSpc>
                <a:spcPct val="108000"/>
              </a:lnSpc>
              <a:buNone/>
              <a:defRPr sz="1875" b="0">
                <a:solidFill>
                  <a:srgbClr val="FFFFFF"/>
                </a:solidFill>
                <a:latin typeface="Rubik"/>
                <a:ea typeface="Rubik"/>
                <a:cs typeface="Rubik"/>
              </a:defRPr>
            </a:pPr>
            <a:r>
              <a:rPr sz="1875" b="0">
                <a:solidFill>
                  <a:srgbClr val="FFFFFF"/>
                </a:solidFill>
                <a:latin typeface="Rubik"/>
                <a:ea typeface="Rubik"/>
                <a:cs typeface="Rubik"/>
              </a:rPr>
              <a:t>USD/t a 90 días</a:t>
            </a:r>
          </a:p>
        </p:txBody>
      </p:sp>
      <p:sp>
        <p:nvSpPr>
          <p:cNvPr id="43" name="rule-208">
            <a:extLst>
              <a:ext uri="{FF2B5EF4-FFF2-40B4-BE49-F238E27FC236}">
                <a16:creationId xmlns:a16="http://schemas.microsoft.com/office/drawing/2014/main" id="{18A9FD51-94B5-750F-E0B9-6F1304F3E6DF}"/>
              </a:ext>
            </a:extLst>
          </p:cNvPr>
          <p:cNvSpPr>
            <a:spLocks noGrp="1"/>
          </p:cNvSpPr>
          <p:nvPr/>
        </p:nvSpPr>
        <p:spPr>
          <a:xfrm>
            <a:off x="762000" y="4038600"/>
            <a:ext cx="3333750" cy="0"/>
          </a:xfrm>
          <a:prstGeom prst="line">
            <a:avLst/>
          </a:prstGeom>
          <a:noFill/>
          <a:ln w="11430">
            <a:solidFill>
              <a:srgbClr val="456D66"/>
            </a:solidFill>
            <a:prstDash val="solid"/>
          </a:ln>
        </p:spPr>
        <p:txBody>
          <a:bodyPr/>
          <a:lstStyle/>
          <a:p>
            <a:endParaRPr lang="es-AR"/>
          </a:p>
        </p:txBody>
      </p:sp>
      <p:sp>
        <p:nvSpPr>
          <p:cNvPr id="46" name="text-209">
            <a:extLst>
              <a:ext uri="{FF2B5EF4-FFF2-40B4-BE49-F238E27FC236}">
                <a16:creationId xmlns:a16="http://schemas.microsoft.com/office/drawing/2014/main" id="{A26939D7-6EDE-F17D-21CC-BECF9C7BE8C8}"/>
              </a:ext>
            </a:extLst>
          </p:cNvPr>
          <p:cNvSpPr>
            <a:spLocks noGrp="1"/>
          </p:cNvSpPr>
          <p:nvPr/>
        </p:nvSpPr>
        <p:spPr>
          <a:xfrm>
            <a:off x="762000" y="4286250"/>
            <a:ext cx="3333750" cy="323850"/>
          </a:xfrm>
          <a:prstGeom prst="rect">
            <a:avLst/>
          </a:prstGeom>
          <a:noFill/>
          <a:ln w="0">
            <a:noFill/>
            <a:prstDash val="solid"/>
          </a:ln>
        </p:spPr>
        <p:txBody>
          <a:bodyPr wrap="square" lIns="0" tIns="0" rIns="0" bIns="0" anchor="t">
            <a:noAutofit/>
          </a:bodyPr>
          <a:lstStyle>
            <a:defPPr algn="l">
              <a:defRPr sz="1725" b="0">
                <a:solidFill>
                  <a:srgbClr val="DCE8E3"/>
                </a:solidFill>
                <a:latin typeface="Rubik"/>
                <a:ea typeface="Rubik"/>
                <a:cs typeface="Rubik"/>
              </a:defRPr>
            </a:defPPr>
            <a:lvl1pPr algn="l">
              <a:defRPr sz="1725" b="0">
                <a:solidFill>
                  <a:srgbClr val="DCE8E3"/>
                </a:solidFill>
                <a:latin typeface="Rubik"/>
                <a:ea typeface="Rubik"/>
                <a:cs typeface="Rubik"/>
              </a:defRPr>
            </a:lvl1pPr>
            <a:lvl2pPr algn="l">
              <a:defRPr sz="1725" b="0">
                <a:solidFill>
                  <a:srgbClr val="DCE8E3"/>
                </a:solidFill>
                <a:latin typeface="Rubik"/>
                <a:ea typeface="Rubik"/>
                <a:cs typeface="Rubik"/>
              </a:defRPr>
            </a:lvl2pPr>
            <a:lvl3pPr algn="l">
              <a:defRPr sz="1725" b="0">
                <a:solidFill>
                  <a:srgbClr val="DCE8E3"/>
                </a:solidFill>
                <a:latin typeface="Rubik"/>
                <a:ea typeface="Rubik"/>
                <a:cs typeface="Rubik"/>
              </a:defRPr>
            </a:lvl3pPr>
            <a:lvl4pPr algn="l">
              <a:defRPr sz="1725" b="0">
                <a:solidFill>
                  <a:srgbClr val="DCE8E3"/>
                </a:solidFill>
                <a:latin typeface="Rubik"/>
                <a:ea typeface="Rubik"/>
                <a:cs typeface="Rubik"/>
              </a:defRPr>
            </a:lvl4pPr>
            <a:lvl5pPr algn="l">
              <a:defRPr sz="1725" b="0">
                <a:solidFill>
                  <a:srgbClr val="DCE8E3"/>
                </a:solidFill>
                <a:latin typeface="Rubik"/>
                <a:ea typeface="Rubik"/>
                <a:cs typeface="Rubik"/>
              </a:defRPr>
            </a:lvl5pPr>
            <a:lvl6pPr algn="l">
              <a:defRPr sz="1725" b="0">
                <a:solidFill>
                  <a:srgbClr val="DCE8E3"/>
                </a:solidFill>
                <a:latin typeface="Rubik"/>
                <a:ea typeface="Rubik"/>
                <a:cs typeface="Rubik"/>
              </a:defRPr>
            </a:lvl6pPr>
            <a:lvl7pPr algn="l">
              <a:defRPr sz="1725" b="0">
                <a:solidFill>
                  <a:srgbClr val="DCE8E3"/>
                </a:solidFill>
                <a:latin typeface="Rubik"/>
                <a:ea typeface="Rubik"/>
                <a:cs typeface="Rubik"/>
              </a:defRPr>
            </a:lvl7pPr>
            <a:lvl8pPr algn="l">
              <a:defRPr sz="1725" b="0">
                <a:solidFill>
                  <a:srgbClr val="DCE8E3"/>
                </a:solidFill>
                <a:latin typeface="Rubik"/>
                <a:ea typeface="Rubik"/>
                <a:cs typeface="Rubik"/>
              </a:defRPr>
            </a:lvl8pPr>
            <a:lvl9pPr algn="l">
              <a:defRPr sz="1725" b="0">
                <a:solidFill>
                  <a:srgbClr val="DCE8E3"/>
                </a:solidFill>
                <a:latin typeface="Rubik"/>
                <a:ea typeface="Rubik"/>
                <a:cs typeface="Rubik"/>
              </a:defRPr>
            </a:lvl9pPr>
          </a:lstStyle>
          <a:p>
            <a:pPr algn="l">
              <a:lnSpc>
                <a:spcPct val="108000"/>
              </a:lnSpc>
              <a:buNone/>
              <a:defRPr sz="1725" b="0">
                <a:solidFill>
                  <a:srgbClr val="DCE8E3"/>
                </a:solidFill>
                <a:latin typeface="Rubik"/>
                <a:ea typeface="Rubik"/>
                <a:cs typeface="Rubik"/>
              </a:defRPr>
            </a:pPr>
            <a:r>
              <a:rPr sz="1725" b="0" dirty="0" err="1">
                <a:solidFill>
                  <a:srgbClr val="DCE8E3"/>
                </a:solidFill>
                <a:latin typeface="Rubik"/>
                <a:ea typeface="Rubik"/>
                <a:cs typeface="Rubik"/>
              </a:rPr>
              <a:t>Precio</a:t>
            </a:r>
            <a:r>
              <a:rPr sz="1725" b="0" dirty="0">
                <a:solidFill>
                  <a:srgbClr val="DCE8E3"/>
                </a:solidFill>
                <a:latin typeface="Rubik"/>
                <a:ea typeface="Rubik"/>
                <a:cs typeface="Rubik"/>
              </a:rPr>
              <a:t> al 24/09: 375,0</a:t>
            </a:r>
          </a:p>
        </p:txBody>
      </p:sp>
      <p:sp>
        <p:nvSpPr>
          <p:cNvPr id="48" name="text-210">
            <a:extLst>
              <a:ext uri="{FF2B5EF4-FFF2-40B4-BE49-F238E27FC236}">
                <a16:creationId xmlns:a16="http://schemas.microsoft.com/office/drawing/2014/main" id="{1F9D53E3-9914-5A51-2498-5F28F3FA2394}"/>
              </a:ext>
            </a:extLst>
          </p:cNvPr>
          <p:cNvSpPr>
            <a:spLocks noGrp="1"/>
          </p:cNvSpPr>
          <p:nvPr/>
        </p:nvSpPr>
        <p:spPr>
          <a:xfrm>
            <a:off x="762000" y="4695825"/>
            <a:ext cx="3333750" cy="64770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30 días: 376,0</a:t>
            </a:r>
          </a:p>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60 días: 376,3</a:t>
            </a:r>
          </a:p>
        </p:txBody>
      </p:sp>
      <p:sp>
        <p:nvSpPr>
          <p:cNvPr id="50" name="text-211">
            <a:extLst>
              <a:ext uri="{FF2B5EF4-FFF2-40B4-BE49-F238E27FC236}">
                <a16:creationId xmlns:a16="http://schemas.microsoft.com/office/drawing/2014/main" id="{3CD2B277-96EE-ECFF-2CB8-BAF72A149C12}"/>
              </a:ext>
            </a:extLst>
          </p:cNvPr>
          <p:cNvSpPr>
            <a:spLocks noGrp="1"/>
          </p:cNvSpPr>
          <p:nvPr/>
        </p:nvSpPr>
        <p:spPr>
          <a:xfrm>
            <a:off x="762000" y="5505450"/>
            <a:ext cx="3333750" cy="409575"/>
          </a:xfrm>
          <a:prstGeom prst="rect">
            <a:avLst/>
          </a:prstGeom>
          <a:noFill/>
          <a:ln w="0">
            <a:noFill/>
            <a:prstDash val="solid"/>
          </a:ln>
        </p:spPr>
        <p:txBody>
          <a:bodyPr wrap="square" lIns="0" tIns="0" rIns="0" bIns="0" anchor="t">
            <a:noAutofit/>
          </a:bodyPr>
          <a:lstStyle>
            <a:defPPr algn="l">
              <a:defRPr sz="2025" b="1">
                <a:solidFill>
                  <a:srgbClr val="D3AF63"/>
                </a:solidFill>
                <a:latin typeface="Rubik"/>
                <a:ea typeface="Rubik"/>
                <a:cs typeface="Rubik"/>
              </a:defRPr>
            </a:defPPr>
            <a:lvl1pPr algn="l">
              <a:defRPr sz="2025" b="1">
                <a:solidFill>
                  <a:srgbClr val="D3AF63"/>
                </a:solidFill>
                <a:latin typeface="Rubik"/>
                <a:ea typeface="Rubik"/>
                <a:cs typeface="Rubik"/>
              </a:defRPr>
            </a:lvl1pPr>
            <a:lvl2pPr algn="l">
              <a:defRPr sz="2025" b="1">
                <a:solidFill>
                  <a:srgbClr val="D3AF63"/>
                </a:solidFill>
                <a:latin typeface="Rubik"/>
                <a:ea typeface="Rubik"/>
                <a:cs typeface="Rubik"/>
              </a:defRPr>
            </a:lvl2pPr>
            <a:lvl3pPr algn="l">
              <a:defRPr sz="2025" b="1">
                <a:solidFill>
                  <a:srgbClr val="D3AF63"/>
                </a:solidFill>
                <a:latin typeface="Rubik"/>
                <a:ea typeface="Rubik"/>
                <a:cs typeface="Rubik"/>
              </a:defRPr>
            </a:lvl3pPr>
            <a:lvl4pPr algn="l">
              <a:defRPr sz="2025" b="1">
                <a:solidFill>
                  <a:srgbClr val="D3AF63"/>
                </a:solidFill>
                <a:latin typeface="Rubik"/>
                <a:ea typeface="Rubik"/>
                <a:cs typeface="Rubik"/>
              </a:defRPr>
            </a:lvl4pPr>
            <a:lvl5pPr algn="l">
              <a:defRPr sz="2025" b="1">
                <a:solidFill>
                  <a:srgbClr val="D3AF63"/>
                </a:solidFill>
                <a:latin typeface="Rubik"/>
                <a:ea typeface="Rubik"/>
                <a:cs typeface="Rubik"/>
              </a:defRPr>
            </a:lvl5pPr>
            <a:lvl6pPr algn="l">
              <a:defRPr sz="2025" b="1">
                <a:solidFill>
                  <a:srgbClr val="D3AF63"/>
                </a:solidFill>
                <a:latin typeface="Rubik"/>
                <a:ea typeface="Rubik"/>
                <a:cs typeface="Rubik"/>
              </a:defRPr>
            </a:lvl6pPr>
            <a:lvl7pPr algn="l">
              <a:defRPr sz="2025" b="1">
                <a:solidFill>
                  <a:srgbClr val="D3AF63"/>
                </a:solidFill>
                <a:latin typeface="Rubik"/>
                <a:ea typeface="Rubik"/>
                <a:cs typeface="Rubik"/>
              </a:defRPr>
            </a:lvl7pPr>
            <a:lvl8pPr algn="l">
              <a:defRPr sz="2025" b="1">
                <a:solidFill>
                  <a:srgbClr val="D3AF63"/>
                </a:solidFill>
                <a:latin typeface="Rubik"/>
                <a:ea typeface="Rubik"/>
                <a:cs typeface="Rubik"/>
              </a:defRPr>
            </a:lvl8pPr>
            <a:lvl9pPr algn="l">
              <a:defRPr sz="2025" b="1">
                <a:solidFill>
                  <a:srgbClr val="D3AF63"/>
                </a:solidFill>
                <a:latin typeface="Rubik"/>
                <a:ea typeface="Rubik"/>
                <a:cs typeface="Rubik"/>
              </a:defRPr>
            </a:lvl9pPr>
          </a:lstStyle>
          <a:p>
            <a:pPr algn="l">
              <a:lnSpc>
                <a:spcPct val="108000"/>
              </a:lnSpc>
              <a:buNone/>
              <a:defRPr sz="2025" b="1">
                <a:solidFill>
                  <a:srgbClr val="D3AF63"/>
                </a:solidFill>
                <a:latin typeface="Rubik"/>
                <a:ea typeface="Rubik"/>
                <a:cs typeface="Rubik"/>
              </a:defRPr>
            </a:pPr>
            <a:r>
              <a:rPr sz="2025" b="1">
                <a:solidFill>
                  <a:srgbClr val="D3AF63"/>
                </a:solidFill>
                <a:latin typeface="Rubik"/>
                <a:ea typeface="Rubik"/>
                <a:cs typeface="Rubik"/>
              </a:rPr>
              <a:t>Rango: 336 a 432</a:t>
            </a:r>
          </a:p>
        </p:txBody>
      </p:sp>
      <p:sp>
        <p:nvSpPr>
          <p:cNvPr id="52" name="text-212">
            <a:extLst>
              <a:ext uri="{FF2B5EF4-FFF2-40B4-BE49-F238E27FC236}">
                <a16:creationId xmlns:a16="http://schemas.microsoft.com/office/drawing/2014/main" id="{BDB8CCFE-C05E-674E-B9F1-B77B2D52FE9C}"/>
              </a:ext>
            </a:extLst>
          </p:cNvPr>
          <p:cNvSpPr>
            <a:spLocks noGrp="1"/>
          </p:cNvSpPr>
          <p:nvPr/>
        </p:nvSpPr>
        <p:spPr>
          <a:xfrm>
            <a:off x="4495800" y="2079172"/>
            <a:ext cx="3333750" cy="342900"/>
          </a:xfrm>
          <a:prstGeom prst="rect">
            <a:avLst/>
          </a:prstGeom>
          <a:noFill/>
          <a:ln w="0">
            <a:noFill/>
            <a:prstDash val="solid"/>
          </a:ln>
        </p:spPr>
        <p:txBody>
          <a:bodyPr wrap="square" lIns="0" tIns="0" rIns="0" bIns="0" anchor="t">
            <a:noAutofit/>
          </a:bodyPr>
          <a:lstStyle>
            <a:defPPr algn="l">
              <a:defRPr sz="1950" b="1">
                <a:solidFill>
                  <a:srgbClr val="D3AF63"/>
                </a:solidFill>
                <a:latin typeface="Rubik"/>
                <a:ea typeface="Rubik"/>
                <a:cs typeface="Rubik"/>
              </a:defRPr>
            </a:defPPr>
            <a:lvl1pPr algn="l">
              <a:defRPr sz="1950" b="1">
                <a:solidFill>
                  <a:srgbClr val="D3AF63"/>
                </a:solidFill>
                <a:latin typeface="Rubik"/>
                <a:ea typeface="Rubik"/>
                <a:cs typeface="Rubik"/>
              </a:defRPr>
            </a:lvl1pPr>
            <a:lvl2pPr algn="l">
              <a:defRPr sz="1950" b="1">
                <a:solidFill>
                  <a:srgbClr val="D3AF63"/>
                </a:solidFill>
                <a:latin typeface="Rubik"/>
                <a:ea typeface="Rubik"/>
                <a:cs typeface="Rubik"/>
              </a:defRPr>
            </a:lvl2pPr>
            <a:lvl3pPr algn="l">
              <a:defRPr sz="1950" b="1">
                <a:solidFill>
                  <a:srgbClr val="D3AF63"/>
                </a:solidFill>
                <a:latin typeface="Rubik"/>
                <a:ea typeface="Rubik"/>
                <a:cs typeface="Rubik"/>
              </a:defRPr>
            </a:lvl3pPr>
            <a:lvl4pPr algn="l">
              <a:defRPr sz="1950" b="1">
                <a:solidFill>
                  <a:srgbClr val="D3AF63"/>
                </a:solidFill>
                <a:latin typeface="Rubik"/>
                <a:ea typeface="Rubik"/>
                <a:cs typeface="Rubik"/>
              </a:defRPr>
            </a:lvl4pPr>
            <a:lvl5pPr algn="l">
              <a:defRPr sz="1950" b="1">
                <a:solidFill>
                  <a:srgbClr val="D3AF63"/>
                </a:solidFill>
                <a:latin typeface="Rubik"/>
                <a:ea typeface="Rubik"/>
                <a:cs typeface="Rubik"/>
              </a:defRPr>
            </a:lvl5pPr>
            <a:lvl6pPr algn="l">
              <a:defRPr sz="1950" b="1">
                <a:solidFill>
                  <a:srgbClr val="D3AF63"/>
                </a:solidFill>
                <a:latin typeface="Rubik"/>
                <a:ea typeface="Rubik"/>
                <a:cs typeface="Rubik"/>
              </a:defRPr>
            </a:lvl6pPr>
            <a:lvl7pPr algn="l">
              <a:defRPr sz="1950" b="1">
                <a:solidFill>
                  <a:srgbClr val="D3AF63"/>
                </a:solidFill>
                <a:latin typeface="Rubik"/>
                <a:ea typeface="Rubik"/>
                <a:cs typeface="Rubik"/>
              </a:defRPr>
            </a:lvl7pPr>
            <a:lvl8pPr algn="l">
              <a:defRPr sz="1950" b="1">
                <a:solidFill>
                  <a:srgbClr val="D3AF63"/>
                </a:solidFill>
                <a:latin typeface="Rubik"/>
                <a:ea typeface="Rubik"/>
                <a:cs typeface="Rubik"/>
              </a:defRPr>
            </a:lvl8pPr>
            <a:lvl9pPr algn="l">
              <a:defRPr sz="1950" b="1">
                <a:solidFill>
                  <a:srgbClr val="D3AF63"/>
                </a:solidFill>
                <a:latin typeface="Rubik"/>
                <a:ea typeface="Rubik"/>
                <a:cs typeface="Rubik"/>
              </a:defRPr>
            </a:lvl9pPr>
          </a:lstStyle>
          <a:p>
            <a:pPr algn="l">
              <a:lnSpc>
                <a:spcPct val="108000"/>
              </a:lnSpc>
              <a:buNone/>
              <a:defRPr sz="1950" b="1">
                <a:solidFill>
                  <a:srgbClr val="D3AF63"/>
                </a:solidFill>
                <a:latin typeface="Rubik"/>
                <a:ea typeface="Rubik"/>
                <a:cs typeface="Rubik"/>
              </a:defRPr>
            </a:pPr>
            <a:r>
              <a:rPr sz="2400" b="1" dirty="0">
                <a:solidFill>
                  <a:srgbClr val="FFC000"/>
                </a:solidFill>
                <a:latin typeface="Rubik"/>
                <a:ea typeface="Rubik"/>
                <a:cs typeface="Rubik"/>
              </a:rPr>
              <a:t>MAÍZ</a:t>
            </a:r>
          </a:p>
        </p:txBody>
      </p:sp>
      <p:sp>
        <p:nvSpPr>
          <p:cNvPr id="54" name="text-213">
            <a:extLst>
              <a:ext uri="{FF2B5EF4-FFF2-40B4-BE49-F238E27FC236}">
                <a16:creationId xmlns:a16="http://schemas.microsoft.com/office/drawing/2014/main" id="{1C27F8C4-E386-CDA3-1BE9-475F44526840}"/>
              </a:ext>
            </a:extLst>
          </p:cNvPr>
          <p:cNvSpPr>
            <a:spLocks noGrp="1"/>
          </p:cNvSpPr>
          <p:nvPr/>
        </p:nvSpPr>
        <p:spPr>
          <a:xfrm>
            <a:off x="4495800" y="2686050"/>
            <a:ext cx="3333750" cy="828675"/>
          </a:xfrm>
          <a:prstGeom prst="rect">
            <a:avLst/>
          </a:prstGeom>
          <a:noFill/>
          <a:ln w="0">
            <a:noFill/>
            <a:prstDash val="solid"/>
          </a:ln>
        </p:spPr>
        <p:txBody>
          <a:bodyPr wrap="square" lIns="0" tIns="0" rIns="0" bIns="0" anchor="t">
            <a:noAutofit/>
          </a:bodyPr>
          <a:lstStyle>
            <a:defPPr algn="l">
              <a:defRPr sz="5025" b="1">
                <a:solidFill>
                  <a:srgbClr val="FFFFFF"/>
                </a:solidFill>
                <a:latin typeface="Rubik"/>
                <a:ea typeface="Rubik"/>
                <a:cs typeface="Rubik"/>
              </a:defRPr>
            </a:defPPr>
            <a:lvl1pPr algn="l">
              <a:defRPr sz="5025" b="1">
                <a:solidFill>
                  <a:srgbClr val="FFFFFF"/>
                </a:solidFill>
                <a:latin typeface="Rubik"/>
                <a:ea typeface="Rubik"/>
                <a:cs typeface="Rubik"/>
              </a:defRPr>
            </a:lvl1pPr>
            <a:lvl2pPr algn="l">
              <a:defRPr sz="5025" b="1">
                <a:solidFill>
                  <a:srgbClr val="FFFFFF"/>
                </a:solidFill>
                <a:latin typeface="Rubik"/>
                <a:ea typeface="Rubik"/>
                <a:cs typeface="Rubik"/>
              </a:defRPr>
            </a:lvl2pPr>
            <a:lvl3pPr algn="l">
              <a:defRPr sz="5025" b="1">
                <a:solidFill>
                  <a:srgbClr val="FFFFFF"/>
                </a:solidFill>
                <a:latin typeface="Rubik"/>
                <a:ea typeface="Rubik"/>
                <a:cs typeface="Rubik"/>
              </a:defRPr>
            </a:lvl3pPr>
            <a:lvl4pPr algn="l">
              <a:defRPr sz="5025" b="1">
                <a:solidFill>
                  <a:srgbClr val="FFFFFF"/>
                </a:solidFill>
                <a:latin typeface="Rubik"/>
                <a:ea typeface="Rubik"/>
                <a:cs typeface="Rubik"/>
              </a:defRPr>
            </a:lvl4pPr>
            <a:lvl5pPr algn="l">
              <a:defRPr sz="5025" b="1">
                <a:solidFill>
                  <a:srgbClr val="FFFFFF"/>
                </a:solidFill>
                <a:latin typeface="Rubik"/>
                <a:ea typeface="Rubik"/>
                <a:cs typeface="Rubik"/>
              </a:defRPr>
            </a:lvl5pPr>
            <a:lvl6pPr algn="l">
              <a:defRPr sz="5025" b="1">
                <a:solidFill>
                  <a:srgbClr val="FFFFFF"/>
                </a:solidFill>
                <a:latin typeface="Rubik"/>
                <a:ea typeface="Rubik"/>
                <a:cs typeface="Rubik"/>
              </a:defRPr>
            </a:lvl6pPr>
            <a:lvl7pPr algn="l">
              <a:defRPr sz="5025" b="1">
                <a:solidFill>
                  <a:srgbClr val="FFFFFF"/>
                </a:solidFill>
                <a:latin typeface="Rubik"/>
                <a:ea typeface="Rubik"/>
                <a:cs typeface="Rubik"/>
              </a:defRPr>
            </a:lvl7pPr>
            <a:lvl8pPr algn="l">
              <a:defRPr sz="5025" b="1">
                <a:solidFill>
                  <a:srgbClr val="FFFFFF"/>
                </a:solidFill>
                <a:latin typeface="Rubik"/>
                <a:ea typeface="Rubik"/>
                <a:cs typeface="Rubik"/>
              </a:defRPr>
            </a:lvl8pPr>
            <a:lvl9pPr algn="l">
              <a:defRPr sz="5025" b="1">
                <a:solidFill>
                  <a:srgbClr val="FFFFFF"/>
                </a:solidFill>
                <a:latin typeface="Rubik"/>
                <a:ea typeface="Rubik"/>
                <a:cs typeface="Rubik"/>
              </a:defRPr>
            </a:lvl9pPr>
          </a:lstStyle>
          <a:p>
            <a:pPr algn="l">
              <a:lnSpc>
                <a:spcPct val="108000"/>
              </a:lnSpc>
              <a:buNone/>
              <a:defRPr sz="5025" b="1">
                <a:solidFill>
                  <a:srgbClr val="FFFFFF"/>
                </a:solidFill>
                <a:latin typeface="Rubik"/>
                <a:ea typeface="Rubik"/>
                <a:cs typeface="Rubik"/>
              </a:defRPr>
            </a:pPr>
            <a:r>
              <a:rPr sz="5025" b="1" dirty="0">
                <a:solidFill>
                  <a:srgbClr val="FFFFFF"/>
                </a:solidFill>
                <a:latin typeface="Rubik"/>
                <a:ea typeface="Rubik"/>
                <a:cs typeface="Rubik"/>
              </a:rPr>
              <a:t>197,4</a:t>
            </a:r>
          </a:p>
        </p:txBody>
      </p:sp>
      <p:sp>
        <p:nvSpPr>
          <p:cNvPr id="56" name="text-214">
            <a:extLst>
              <a:ext uri="{FF2B5EF4-FFF2-40B4-BE49-F238E27FC236}">
                <a16:creationId xmlns:a16="http://schemas.microsoft.com/office/drawing/2014/main" id="{9CEA3AEB-2FFD-2560-F94F-25581D0948C3}"/>
              </a:ext>
            </a:extLst>
          </p:cNvPr>
          <p:cNvSpPr>
            <a:spLocks noGrp="1"/>
          </p:cNvSpPr>
          <p:nvPr/>
        </p:nvSpPr>
        <p:spPr>
          <a:xfrm>
            <a:off x="4495800" y="3571875"/>
            <a:ext cx="3333750" cy="333375"/>
          </a:xfrm>
          <a:prstGeom prst="rect">
            <a:avLst/>
          </a:prstGeom>
          <a:noFill/>
          <a:ln w="0">
            <a:noFill/>
            <a:prstDash val="solid"/>
          </a:ln>
        </p:spPr>
        <p:txBody>
          <a:bodyPr wrap="square" lIns="0" tIns="0" rIns="0" bIns="0" anchor="t">
            <a:noAutofit/>
          </a:bodyPr>
          <a:lstStyle>
            <a:defPPr algn="l">
              <a:defRPr sz="1875" b="0">
                <a:solidFill>
                  <a:srgbClr val="FFFFFF"/>
                </a:solidFill>
                <a:latin typeface="Rubik"/>
                <a:ea typeface="Rubik"/>
                <a:cs typeface="Rubik"/>
              </a:defRPr>
            </a:defPPr>
            <a:lvl1pPr algn="l">
              <a:defRPr sz="1875" b="0">
                <a:solidFill>
                  <a:srgbClr val="FFFFFF"/>
                </a:solidFill>
                <a:latin typeface="Rubik"/>
                <a:ea typeface="Rubik"/>
                <a:cs typeface="Rubik"/>
              </a:defRPr>
            </a:lvl1pPr>
            <a:lvl2pPr algn="l">
              <a:defRPr sz="1875" b="0">
                <a:solidFill>
                  <a:srgbClr val="FFFFFF"/>
                </a:solidFill>
                <a:latin typeface="Rubik"/>
                <a:ea typeface="Rubik"/>
                <a:cs typeface="Rubik"/>
              </a:defRPr>
            </a:lvl2pPr>
            <a:lvl3pPr algn="l">
              <a:defRPr sz="1875" b="0">
                <a:solidFill>
                  <a:srgbClr val="FFFFFF"/>
                </a:solidFill>
                <a:latin typeface="Rubik"/>
                <a:ea typeface="Rubik"/>
                <a:cs typeface="Rubik"/>
              </a:defRPr>
            </a:lvl3pPr>
            <a:lvl4pPr algn="l">
              <a:defRPr sz="1875" b="0">
                <a:solidFill>
                  <a:srgbClr val="FFFFFF"/>
                </a:solidFill>
                <a:latin typeface="Rubik"/>
                <a:ea typeface="Rubik"/>
                <a:cs typeface="Rubik"/>
              </a:defRPr>
            </a:lvl4pPr>
            <a:lvl5pPr algn="l">
              <a:defRPr sz="1875" b="0">
                <a:solidFill>
                  <a:srgbClr val="FFFFFF"/>
                </a:solidFill>
                <a:latin typeface="Rubik"/>
                <a:ea typeface="Rubik"/>
                <a:cs typeface="Rubik"/>
              </a:defRPr>
            </a:lvl5pPr>
            <a:lvl6pPr algn="l">
              <a:defRPr sz="1875" b="0">
                <a:solidFill>
                  <a:srgbClr val="FFFFFF"/>
                </a:solidFill>
                <a:latin typeface="Rubik"/>
                <a:ea typeface="Rubik"/>
                <a:cs typeface="Rubik"/>
              </a:defRPr>
            </a:lvl6pPr>
            <a:lvl7pPr algn="l">
              <a:defRPr sz="1875" b="0">
                <a:solidFill>
                  <a:srgbClr val="FFFFFF"/>
                </a:solidFill>
                <a:latin typeface="Rubik"/>
                <a:ea typeface="Rubik"/>
                <a:cs typeface="Rubik"/>
              </a:defRPr>
            </a:lvl7pPr>
            <a:lvl8pPr algn="l">
              <a:defRPr sz="1875" b="0">
                <a:solidFill>
                  <a:srgbClr val="FFFFFF"/>
                </a:solidFill>
                <a:latin typeface="Rubik"/>
                <a:ea typeface="Rubik"/>
                <a:cs typeface="Rubik"/>
              </a:defRPr>
            </a:lvl8pPr>
            <a:lvl9pPr algn="l">
              <a:defRPr sz="1875" b="0">
                <a:solidFill>
                  <a:srgbClr val="FFFFFF"/>
                </a:solidFill>
                <a:latin typeface="Rubik"/>
                <a:ea typeface="Rubik"/>
                <a:cs typeface="Rubik"/>
              </a:defRPr>
            </a:lvl9pPr>
          </a:lstStyle>
          <a:p>
            <a:pPr algn="l">
              <a:lnSpc>
                <a:spcPct val="108000"/>
              </a:lnSpc>
              <a:buNone/>
              <a:defRPr sz="1875" b="0">
                <a:solidFill>
                  <a:srgbClr val="FFFFFF"/>
                </a:solidFill>
                <a:latin typeface="Rubik"/>
                <a:ea typeface="Rubik"/>
                <a:cs typeface="Rubik"/>
              </a:defRPr>
            </a:pPr>
            <a:r>
              <a:rPr sz="1875" b="0">
                <a:solidFill>
                  <a:srgbClr val="FFFFFF"/>
                </a:solidFill>
                <a:latin typeface="Rubik"/>
                <a:ea typeface="Rubik"/>
                <a:cs typeface="Rubik"/>
              </a:rPr>
              <a:t>USD/t a 90 días</a:t>
            </a:r>
          </a:p>
        </p:txBody>
      </p:sp>
      <p:sp>
        <p:nvSpPr>
          <p:cNvPr id="58" name="rule-215">
            <a:extLst>
              <a:ext uri="{FF2B5EF4-FFF2-40B4-BE49-F238E27FC236}">
                <a16:creationId xmlns:a16="http://schemas.microsoft.com/office/drawing/2014/main" id="{3F6B8EF8-6D45-B754-7322-DC77BBE4BD57}"/>
              </a:ext>
            </a:extLst>
          </p:cNvPr>
          <p:cNvSpPr>
            <a:spLocks noGrp="1"/>
          </p:cNvSpPr>
          <p:nvPr/>
        </p:nvSpPr>
        <p:spPr>
          <a:xfrm>
            <a:off x="4495800" y="4038600"/>
            <a:ext cx="3333750" cy="0"/>
          </a:xfrm>
          <a:prstGeom prst="line">
            <a:avLst/>
          </a:prstGeom>
          <a:noFill/>
          <a:ln w="11430">
            <a:solidFill>
              <a:srgbClr val="456D66"/>
            </a:solidFill>
            <a:prstDash val="solid"/>
          </a:ln>
        </p:spPr>
        <p:txBody>
          <a:bodyPr/>
          <a:lstStyle/>
          <a:p>
            <a:endParaRPr lang="es-AR"/>
          </a:p>
        </p:txBody>
      </p:sp>
      <p:sp>
        <p:nvSpPr>
          <p:cNvPr id="60" name="text-216">
            <a:extLst>
              <a:ext uri="{FF2B5EF4-FFF2-40B4-BE49-F238E27FC236}">
                <a16:creationId xmlns:a16="http://schemas.microsoft.com/office/drawing/2014/main" id="{3E8C36AB-403A-827C-131D-BDEE36498D94}"/>
              </a:ext>
            </a:extLst>
          </p:cNvPr>
          <p:cNvSpPr>
            <a:spLocks noGrp="1"/>
          </p:cNvSpPr>
          <p:nvPr/>
        </p:nvSpPr>
        <p:spPr>
          <a:xfrm>
            <a:off x="4495800" y="4286250"/>
            <a:ext cx="3333750" cy="323850"/>
          </a:xfrm>
          <a:prstGeom prst="rect">
            <a:avLst/>
          </a:prstGeom>
          <a:noFill/>
          <a:ln w="0">
            <a:noFill/>
            <a:prstDash val="solid"/>
          </a:ln>
        </p:spPr>
        <p:txBody>
          <a:bodyPr wrap="square" lIns="0" tIns="0" rIns="0" bIns="0" anchor="t">
            <a:noAutofit/>
          </a:bodyPr>
          <a:lstStyle>
            <a:defPPr algn="l">
              <a:defRPr sz="1725" b="0">
                <a:solidFill>
                  <a:srgbClr val="DCE8E3"/>
                </a:solidFill>
                <a:latin typeface="Rubik"/>
                <a:ea typeface="Rubik"/>
                <a:cs typeface="Rubik"/>
              </a:defRPr>
            </a:defPPr>
            <a:lvl1pPr algn="l">
              <a:defRPr sz="1725" b="0">
                <a:solidFill>
                  <a:srgbClr val="DCE8E3"/>
                </a:solidFill>
                <a:latin typeface="Rubik"/>
                <a:ea typeface="Rubik"/>
                <a:cs typeface="Rubik"/>
              </a:defRPr>
            </a:lvl1pPr>
            <a:lvl2pPr algn="l">
              <a:defRPr sz="1725" b="0">
                <a:solidFill>
                  <a:srgbClr val="DCE8E3"/>
                </a:solidFill>
                <a:latin typeface="Rubik"/>
                <a:ea typeface="Rubik"/>
                <a:cs typeface="Rubik"/>
              </a:defRPr>
            </a:lvl2pPr>
            <a:lvl3pPr algn="l">
              <a:defRPr sz="1725" b="0">
                <a:solidFill>
                  <a:srgbClr val="DCE8E3"/>
                </a:solidFill>
                <a:latin typeface="Rubik"/>
                <a:ea typeface="Rubik"/>
                <a:cs typeface="Rubik"/>
              </a:defRPr>
            </a:lvl3pPr>
            <a:lvl4pPr algn="l">
              <a:defRPr sz="1725" b="0">
                <a:solidFill>
                  <a:srgbClr val="DCE8E3"/>
                </a:solidFill>
                <a:latin typeface="Rubik"/>
                <a:ea typeface="Rubik"/>
                <a:cs typeface="Rubik"/>
              </a:defRPr>
            </a:lvl4pPr>
            <a:lvl5pPr algn="l">
              <a:defRPr sz="1725" b="0">
                <a:solidFill>
                  <a:srgbClr val="DCE8E3"/>
                </a:solidFill>
                <a:latin typeface="Rubik"/>
                <a:ea typeface="Rubik"/>
                <a:cs typeface="Rubik"/>
              </a:defRPr>
            </a:lvl5pPr>
            <a:lvl6pPr algn="l">
              <a:defRPr sz="1725" b="0">
                <a:solidFill>
                  <a:srgbClr val="DCE8E3"/>
                </a:solidFill>
                <a:latin typeface="Rubik"/>
                <a:ea typeface="Rubik"/>
                <a:cs typeface="Rubik"/>
              </a:defRPr>
            </a:lvl6pPr>
            <a:lvl7pPr algn="l">
              <a:defRPr sz="1725" b="0">
                <a:solidFill>
                  <a:srgbClr val="DCE8E3"/>
                </a:solidFill>
                <a:latin typeface="Rubik"/>
                <a:ea typeface="Rubik"/>
                <a:cs typeface="Rubik"/>
              </a:defRPr>
            </a:lvl7pPr>
            <a:lvl8pPr algn="l">
              <a:defRPr sz="1725" b="0">
                <a:solidFill>
                  <a:srgbClr val="DCE8E3"/>
                </a:solidFill>
                <a:latin typeface="Rubik"/>
                <a:ea typeface="Rubik"/>
                <a:cs typeface="Rubik"/>
              </a:defRPr>
            </a:lvl8pPr>
            <a:lvl9pPr algn="l">
              <a:defRPr sz="1725" b="0">
                <a:solidFill>
                  <a:srgbClr val="DCE8E3"/>
                </a:solidFill>
                <a:latin typeface="Rubik"/>
                <a:ea typeface="Rubik"/>
                <a:cs typeface="Rubik"/>
              </a:defRPr>
            </a:lvl9pPr>
          </a:lstStyle>
          <a:p>
            <a:pPr algn="l">
              <a:lnSpc>
                <a:spcPct val="108000"/>
              </a:lnSpc>
              <a:buNone/>
              <a:defRPr sz="1725" b="0">
                <a:solidFill>
                  <a:srgbClr val="DCE8E3"/>
                </a:solidFill>
                <a:latin typeface="Rubik"/>
                <a:ea typeface="Rubik"/>
                <a:cs typeface="Rubik"/>
              </a:defRPr>
            </a:pPr>
            <a:r>
              <a:rPr sz="1725" b="0" dirty="0" err="1">
                <a:solidFill>
                  <a:srgbClr val="DCE8E3"/>
                </a:solidFill>
                <a:latin typeface="Rubik"/>
                <a:ea typeface="Rubik"/>
                <a:cs typeface="Rubik"/>
              </a:rPr>
              <a:t>Precio</a:t>
            </a:r>
            <a:r>
              <a:rPr sz="1725" b="0" dirty="0">
                <a:solidFill>
                  <a:srgbClr val="DCE8E3"/>
                </a:solidFill>
                <a:latin typeface="Rubik"/>
                <a:ea typeface="Rubik"/>
                <a:cs typeface="Rubik"/>
              </a:rPr>
              <a:t> al 24/09: 197,5</a:t>
            </a:r>
          </a:p>
        </p:txBody>
      </p:sp>
      <p:sp>
        <p:nvSpPr>
          <p:cNvPr id="62" name="text-217">
            <a:extLst>
              <a:ext uri="{FF2B5EF4-FFF2-40B4-BE49-F238E27FC236}">
                <a16:creationId xmlns:a16="http://schemas.microsoft.com/office/drawing/2014/main" id="{91F47723-E9DF-58D2-9354-91B2DC9C061F}"/>
              </a:ext>
            </a:extLst>
          </p:cNvPr>
          <p:cNvSpPr>
            <a:spLocks noGrp="1"/>
          </p:cNvSpPr>
          <p:nvPr/>
        </p:nvSpPr>
        <p:spPr>
          <a:xfrm>
            <a:off x="4495800" y="4695825"/>
            <a:ext cx="3333750" cy="64770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30 días: 197,4</a:t>
            </a:r>
          </a:p>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60 días: 197,7</a:t>
            </a:r>
          </a:p>
        </p:txBody>
      </p:sp>
      <p:sp>
        <p:nvSpPr>
          <p:cNvPr id="64" name="text-218">
            <a:extLst>
              <a:ext uri="{FF2B5EF4-FFF2-40B4-BE49-F238E27FC236}">
                <a16:creationId xmlns:a16="http://schemas.microsoft.com/office/drawing/2014/main" id="{67396D83-1BB4-6FD0-8DD1-DDCA1CD671FE}"/>
              </a:ext>
            </a:extLst>
          </p:cNvPr>
          <p:cNvSpPr>
            <a:spLocks noGrp="1"/>
          </p:cNvSpPr>
          <p:nvPr/>
        </p:nvSpPr>
        <p:spPr>
          <a:xfrm>
            <a:off x="4495800" y="5505450"/>
            <a:ext cx="3333750" cy="409575"/>
          </a:xfrm>
          <a:prstGeom prst="rect">
            <a:avLst/>
          </a:prstGeom>
          <a:noFill/>
          <a:ln w="0">
            <a:noFill/>
            <a:prstDash val="solid"/>
          </a:ln>
        </p:spPr>
        <p:txBody>
          <a:bodyPr wrap="square" lIns="0" tIns="0" rIns="0" bIns="0" anchor="t">
            <a:noAutofit/>
          </a:bodyPr>
          <a:lstStyle>
            <a:defPPr algn="l">
              <a:defRPr sz="2025" b="1">
                <a:solidFill>
                  <a:srgbClr val="D3AF63"/>
                </a:solidFill>
                <a:latin typeface="Rubik"/>
                <a:ea typeface="Rubik"/>
                <a:cs typeface="Rubik"/>
              </a:defRPr>
            </a:defPPr>
            <a:lvl1pPr algn="l">
              <a:defRPr sz="2025" b="1">
                <a:solidFill>
                  <a:srgbClr val="D3AF63"/>
                </a:solidFill>
                <a:latin typeface="Rubik"/>
                <a:ea typeface="Rubik"/>
                <a:cs typeface="Rubik"/>
              </a:defRPr>
            </a:lvl1pPr>
            <a:lvl2pPr algn="l">
              <a:defRPr sz="2025" b="1">
                <a:solidFill>
                  <a:srgbClr val="D3AF63"/>
                </a:solidFill>
                <a:latin typeface="Rubik"/>
                <a:ea typeface="Rubik"/>
                <a:cs typeface="Rubik"/>
              </a:defRPr>
            </a:lvl2pPr>
            <a:lvl3pPr algn="l">
              <a:defRPr sz="2025" b="1">
                <a:solidFill>
                  <a:srgbClr val="D3AF63"/>
                </a:solidFill>
                <a:latin typeface="Rubik"/>
                <a:ea typeface="Rubik"/>
                <a:cs typeface="Rubik"/>
              </a:defRPr>
            </a:lvl3pPr>
            <a:lvl4pPr algn="l">
              <a:defRPr sz="2025" b="1">
                <a:solidFill>
                  <a:srgbClr val="D3AF63"/>
                </a:solidFill>
                <a:latin typeface="Rubik"/>
                <a:ea typeface="Rubik"/>
                <a:cs typeface="Rubik"/>
              </a:defRPr>
            </a:lvl4pPr>
            <a:lvl5pPr algn="l">
              <a:defRPr sz="2025" b="1">
                <a:solidFill>
                  <a:srgbClr val="D3AF63"/>
                </a:solidFill>
                <a:latin typeface="Rubik"/>
                <a:ea typeface="Rubik"/>
                <a:cs typeface="Rubik"/>
              </a:defRPr>
            </a:lvl5pPr>
            <a:lvl6pPr algn="l">
              <a:defRPr sz="2025" b="1">
                <a:solidFill>
                  <a:srgbClr val="D3AF63"/>
                </a:solidFill>
                <a:latin typeface="Rubik"/>
                <a:ea typeface="Rubik"/>
                <a:cs typeface="Rubik"/>
              </a:defRPr>
            </a:lvl6pPr>
            <a:lvl7pPr algn="l">
              <a:defRPr sz="2025" b="1">
                <a:solidFill>
                  <a:srgbClr val="D3AF63"/>
                </a:solidFill>
                <a:latin typeface="Rubik"/>
                <a:ea typeface="Rubik"/>
                <a:cs typeface="Rubik"/>
              </a:defRPr>
            </a:lvl7pPr>
            <a:lvl8pPr algn="l">
              <a:defRPr sz="2025" b="1">
                <a:solidFill>
                  <a:srgbClr val="D3AF63"/>
                </a:solidFill>
                <a:latin typeface="Rubik"/>
                <a:ea typeface="Rubik"/>
                <a:cs typeface="Rubik"/>
              </a:defRPr>
            </a:lvl8pPr>
            <a:lvl9pPr algn="l">
              <a:defRPr sz="2025" b="1">
                <a:solidFill>
                  <a:srgbClr val="D3AF63"/>
                </a:solidFill>
                <a:latin typeface="Rubik"/>
                <a:ea typeface="Rubik"/>
                <a:cs typeface="Rubik"/>
              </a:defRPr>
            </a:lvl9pPr>
          </a:lstStyle>
          <a:p>
            <a:pPr algn="l">
              <a:lnSpc>
                <a:spcPct val="108000"/>
              </a:lnSpc>
              <a:buNone/>
              <a:defRPr sz="2025" b="1">
                <a:solidFill>
                  <a:srgbClr val="D3AF63"/>
                </a:solidFill>
                <a:latin typeface="Rubik"/>
                <a:ea typeface="Rubik"/>
                <a:cs typeface="Rubik"/>
              </a:defRPr>
            </a:pPr>
            <a:r>
              <a:rPr sz="2025" b="1">
                <a:solidFill>
                  <a:srgbClr val="D3AF63"/>
                </a:solidFill>
                <a:latin typeface="Rubik"/>
                <a:ea typeface="Rubik"/>
                <a:cs typeface="Rubik"/>
              </a:rPr>
              <a:t>Rango: 178 a 213</a:t>
            </a:r>
          </a:p>
        </p:txBody>
      </p:sp>
      <p:sp>
        <p:nvSpPr>
          <p:cNvPr id="66" name="text-219">
            <a:extLst>
              <a:ext uri="{FF2B5EF4-FFF2-40B4-BE49-F238E27FC236}">
                <a16:creationId xmlns:a16="http://schemas.microsoft.com/office/drawing/2014/main" id="{E865D261-39E6-003B-063D-2DBD807724BF}"/>
              </a:ext>
            </a:extLst>
          </p:cNvPr>
          <p:cNvSpPr>
            <a:spLocks noGrp="1"/>
          </p:cNvSpPr>
          <p:nvPr/>
        </p:nvSpPr>
        <p:spPr>
          <a:xfrm>
            <a:off x="8229600" y="2090737"/>
            <a:ext cx="3333750" cy="342900"/>
          </a:xfrm>
          <a:prstGeom prst="rect">
            <a:avLst/>
          </a:prstGeom>
          <a:noFill/>
          <a:ln w="0">
            <a:noFill/>
            <a:prstDash val="solid"/>
          </a:ln>
        </p:spPr>
        <p:txBody>
          <a:bodyPr wrap="square" lIns="0" tIns="0" rIns="0" bIns="0" anchor="t">
            <a:noAutofit/>
          </a:bodyPr>
          <a:lstStyle>
            <a:defPPr algn="l">
              <a:defRPr sz="1950" b="1">
                <a:solidFill>
                  <a:srgbClr val="D3AF63"/>
                </a:solidFill>
                <a:latin typeface="Rubik"/>
                <a:ea typeface="Rubik"/>
                <a:cs typeface="Rubik"/>
              </a:defRPr>
            </a:defPPr>
            <a:lvl1pPr algn="l">
              <a:defRPr sz="1950" b="1">
                <a:solidFill>
                  <a:srgbClr val="D3AF63"/>
                </a:solidFill>
                <a:latin typeface="Rubik"/>
                <a:ea typeface="Rubik"/>
                <a:cs typeface="Rubik"/>
              </a:defRPr>
            </a:lvl1pPr>
            <a:lvl2pPr algn="l">
              <a:defRPr sz="1950" b="1">
                <a:solidFill>
                  <a:srgbClr val="D3AF63"/>
                </a:solidFill>
                <a:latin typeface="Rubik"/>
                <a:ea typeface="Rubik"/>
                <a:cs typeface="Rubik"/>
              </a:defRPr>
            </a:lvl2pPr>
            <a:lvl3pPr algn="l">
              <a:defRPr sz="1950" b="1">
                <a:solidFill>
                  <a:srgbClr val="D3AF63"/>
                </a:solidFill>
                <a:latin typeface="Rubik"/>
                <a:ea typeface="Rubik"/>
                <a:cs typeface="Rubik"/>
              </a:defRPr>
            </a:lvl3pPr>
            <a:lvl4pPr algn="l">
              <a:defRPr sz="1950" b="1">
                <a:solidFill>
                  <a:srgbClr val="D3AF63"/>
                </a:solidFill>
                <a:latin typeface="Rubik"/>
                <a:ea typeface="Rubik"/>
                <a:cs typeface="Rubik"/>
              </a:defRPr>
            </a:lvl4pPr>
            <a:lvl5pPr algn="l">
              <a:defRPr sz="1950" b="1">
                <a:solidFill>
                  <a:srgbClr val="D3AF63"/>
                </a:solidFill>
                <a:latin typeface="Rubik"/>
                <a:ea typeface="Rubik"/>
                <a:cs typeface="Rubik"/>
              </a:defRPr>
            </a:lvl5pPr>
            <a:lvl6pPr algn="l">
              <a:defRPr sz="1950" b="1">
                <a:solidFill>
                  <a:srgbClr val="D3AF63"/>
                </a:solidFill>
                <a:latin typeface="Rubik"/>
                <a:ea typeface="Rubik"/>
                <a:cs typeface="Rubik"/>
              </a:defRPr>
            </a:lvl6pPr>
            <a:lvl7pPr algn="l">
              <a:defRPr sz="1950" b="1">
                <a:solidFill>
                  <a:srgbClr val="D3AF63"/>
                </a:solidFill>
                <a:latin typeface="Rubik"/>
                <a:ea typeface="Rubik"/>
                <a:cs typeface="Rubik"/>
              </a:defRPr>
            </a:lvl7pPr>
            <a:lvl8pPr algn="l">
              <a:defRPr sz="1950" b="1">
                <a:solidFill>
                  <a:srgbClr val="D3AF63"/>
                </a:solidFill>
                <a:latin typeface="Rubik"/>
                <a:ea typeface="Rubik"/>
                <a:cs typeface="Rubik"/>
              </a:defRPr>
            </a:lvl8pPr>
            <a:lvl9pPr algn="l">
              <a:defRPr sz="1950" b="1">
                <a:solidFill>
                  <a:srgbClr val="D3AF63"/>
                </a:solidFill>
                <a:latin typeface="Rubik"/>
                <a:ea typeface="Rubik"/>
                <a:cs typeface="Rubik"/>
              </a:defRPr>
            </a:lvl9pPr>
          </a:lstStyle>
          <a:p>
            <a:pPr algn="l">
              <a:lnSpc>
                <a:spcPct val="108000"/>
              </a:lnSpc>
              <a:buNone/>
              <a:defRPr sz="1950" b="1">
                <a:solidFill>
                  <a:srgbClr val="D3AF63"/>
                </a:solidFill>
                <a:latin typeface="Rubik"/>
                <a:ea typeface="Rubik"/>
                <a:cs typeface="Rubik"/>
              </a:defRPr>
            </a:pPr>
            <a:r>
              <a:rPr sz="2400" b="1" dirty="0">
                <a:solidFill>
                  <a:srgbClr val="FFC000"/>
                </a:solidFill>
                <a:latin typeface="Rubik"/>
                <a:ea typeface="Rubik"/>
                <a:cs typeface="Rubik"/>
              </a:rPr>
              <a:t>TRIGO</a:t>
            </a:r>
          </a:p>
        </p:txBody>
      </p:sp>
      <p:sp>
        <p:nvSpPr>
          <p:cNvPr id="68" name="text-220">
            <a:extLst>
              <a:ext uri="{FF2B5EF4-FFF2-40B4-BE49-F238E27FC236}">
                <a16:creationId xmlns:a16="http://schemas.microsoft.com/office/drawing/2014/main" id="{AF6E4BFA-E2C4-9973-F3E7-05B98002DD2D}"/>
              </a:ext>
            </a:extLst>
          </p:cNvPr>
          <p:cNvSpPr>
            <a:spLocks noGrp="1"/>
          </p:cNvSpPr>
          <p:nvPr/>
        </p:nvSpPr>
        <p:spPr>
          <a:xfrm>
            <a:off x="8229600" y="2686050"/>
            <a:ext cx="3333750" cy="828675"/>
          </a:xfrm>
          <a:prstGeom prst="rect">
            <a:avLst/>
          </a:prstGeom>
          <a:noFill/>
          <a:ln w="0">
            <a:noFill/>
            <a:prstDash val="solid"/>
          </a:ln>
        </p:spPr>
        <p:txBody>
          <a:bodyPr wrap="square" lIns="0" tIns="0" rIns="0" bIns="0" anchor="t">
            <a:noAutofit/>
          </a:bodyPr>
          <a:lstStyle>
            <a:defPPr algn="l">
              <a:defRPr sz="5025" b="1">
                <a:solidFill>
                  <a:srgbClr val="FFFFFF"/>
                </a:solidFill>
                <a:latin typeface="Rubik"/>
                <a:ea typeface="Rubik"/>
                <a:cs typeface="Rubik"/>
              </a:defRPr>
            </a:defPPr>
            <a:lvl1pPr algn="l">
              <a:defRPr sz="5025" b="1">
                <a:solidFill>
                  <a:srgbClr val="FFFFFF"/>
                </a:solidFill>
                <a:latin typeface="Rubik"/>
                <a:ea typeface="Rubik"/>
                <a:cs typeface="Rubik"/>
              </a:defRPr>
            </a:lvl1pPr>
            <a:lvl2pPr algn="l">
              <a:defRPr sz="5025" b="1">
                <a:solidFill>
                  <a:srgbClr val="FFFFFF"/>
                </a:solidFill>
                <a:latin typeface="Rubik"/>
                <a:ea typeface="Rubik"/>
                <a:cs typeface="Rubik"/>
              </a:defRPr>
            </a:lvl2pPr>
            <a:lvl3pPr algn="l">
              <a:defRPr sz="5025" b="1">
                <a:solidFill>
                  <a:srgbClr val="FFFFFF"/>
                </a:solidFill>
                <a:latin typeface="Rubik"/>
                <a:ea typeface="Rubik"/>
                <a:cs typeface="Rubik"/>
              </a:defRPr>
            </a:lvl3pPr>
            <a:lvl4pPr algn="l">
              <a:defRPr sz="5025" b="1">
                <a:solidFill>
                  <a:srgbClr val="FFFFFF"/>
                </a:solidFill>
                <a:latin typeface="Rubik"/>
                <a:ea typeface="Rubik"/>
                <a:cs typeface="Rubik"/>
              </a:defRPr>
            </a:lvl4pPr>
            <a:lvl5pPr algn="l">
              <a:defRPr sz="5025" b="1">
                <a:solidFill>
                  <a:srgbClr val="FFFFFF"/>
                </a:solidFill>
                <a:latin typeface="Rubik"/>
                <a:ea typeface="Rubik"/>
                <a:cs typeface="Rubik"/>
              </a:defRPr>
            </a:lvl5pPr>
            <a:lvl6pPr algn="l">
              <a:defRPr sz="5025" b="1">
                <a:solidFill>
                  <a:srgbClr val="FFFFFF"/>
                </a:solidFill>
                <a:latin typeface="Rubik"/>
                <a:ea typeface="Rubik"/>
                <a:cs typeface="Rubik"/>
              </a:defRPr>
            </a:lvl6pPr>
            <a:lvl7pPr algn="l">
              <a:defRPr sz="5025" b="1">
                <a:solidFill>
                  <a:srgbClr val="FFFFFF"/>
                </a:solidFill>
                <a:latin typeface="Rubik"/>
                <a:ea typeface="Rubik"/>
                <a:cs typeface="Rubik"/>
              </a:defRPr>
            </a:lvl7pPr>
            <a:lvl8pPr algn="l">
              <a:defRPr sz="5025" b="1">
                <a:solidFill>
                  <a:srgbClr val="FFFFFF"/>
                </a:solidFill>
                <a:latin typeface="Rubik"/>
                <a:ea typeface="Rubik"/>
                <a:cs typeface="Rubik"/>
              </a:defRPr>
            </a:lvl8pPr>
            <a:lvl9pPr algn="l">
              <a:defRPr sz="5025" b="1">
                <a:solidFill>
                  <a:srgbClr val="FFFFFF"/>
                </a:solidFill>
                <a:latin typeface="Rubik"/>
                <a:ea typeface="Rubik"/>
                <a:cs typeface="Rubik"/>
              </a:defRPr>
            </a:lvl9pPr>
          </a:lstStyle>
          <a:p>
            <a:pPr algn="l">
              <a:lnSpc>
                <a:spcPct val="108000"/>
              </a:lnSpc>
              <a:buNone/>
              <a:defRPr sz="5025" b="1">
                <a:solidFill>
                  <a:srgbClr val="FFFFFF"/>
                </a:solidFill>
                <a:latin typeface="Rubik"/>
                <a:ea typeface="Rubik"/>
                <a:cs typeface="Rubik"/>
              </a:defRPr>
            </a:pPr>
            <a:r>
              <a:rPr sz="5025" b="1" dirty="0">
                <a:solidFill>
                  <a:srgbClr val="FFFFFF"/>
                </a:solidFill>
                <a:latin typeface="Rubik"/>
                <a:ea typeface="Rubik"/>
                <a:cs typeface="Rubik"/>
              </a:rPr>
              <a:t>231,9</a:t>
            </a:r>
          </a:p>
        </p:txBody>
      </p:sp>
      <p:sp>
        <p:nvSpPr>
          <p:cNvPr id="70" name="text-221">
            <a:extLst>
              <a:ext uri="{FF2B5EF4-FFF2-40B4-BE49-F238E27FC236}">
                <a16:creationId xmlns:a16="http://schemas.microsoft.com/office/drawing/2014/main" id="{41706BE7-166C-4B1C-6B64-B9624CBAE0DD}"/>
              </a:ext>
            </a:extLst>
          </p:cNvPr>
          <p:cNvSpPr>
            <a:spLocks noGrp="1"/>
          </p:cNvSpPr>
          <p:nvPr/>
        </p:nvSpPr>
        <p:spPr>
          <a:xfrm>
            <a:off x="8229600" y="3571875"/>
            <a:ext cx="3333750" cy="333375"/>
          </a:xfrm>
          <a:prstGeom prst="rect">
            <a:avLst/>
          </a:prstGeom>
          <a:noFill/>
          <a:ln w="0">
            <a:noFill/>
            <a:prstDash val="solid"/>
          </a:ln>
        </p:spPr>
        <p:txBody>
          <a:bodyPr wrap="square" lIns="0" tIns="0" rIns="0" bIns="0" anchor="t">
            <a:noAutofit/>
          </a:bodyPr>
          <a:lstStyle>
            <a:defPPr algn="l">
              <a:defRPr sz="1875" b="0">
                <a:solidFill>
                  <a:srgbClr val="FFFFFF"/>
                </a:solidFill>
                <a:latin typeface="Rubik"/>
                <a:ea typeface="Rubik"/>
                <a:cs typeface="Rubik"/>
              </a:defRPr>
            </a:defPPr>
            <a:lvl1pPr algn="l">
              <a:defRPr sz="1875" b="0">
                <a:solidFill>
                  <a:srgbClr val="FFFFFF"/>
                </a:solidFill>
                <a:latin typeface="Rubik"/>
                <a:ea typeface="Rubik"/>
                <a:cs typeface="Rubik"/>
              </a:defRPr>
            </a:lvl1pPr>
            <a:lvl2pPr algn="l">
              <a:defRPr sz="1875" b="0">
                <a:solidFill>
                  <a:srgbClr val="FFFFFF"/>
                </a:solidFill>
                <a:latin typeface="Rubik"/>
                <a:ea typeface="Rubik"/>
                <a:cs typeface="Rubik"/>
              </a:defRPr>
            </a:lvl2pPr>
            <a:lvl3pPr algn="l">
              <a:defRPr sz="1875" b="0">
                <a:solidFill>
                  <a:srgbClr val="FFFFFF"/>
                </a:solidFill>
                <a:latin typeface="Rubik"/>
                <a:ea typeface="Rubik"/>
                <a:cs typeface="Rubik"/>
              </a:defRPr>
            </a:lvl3pPr>
            <a:lvl4pPr algn="l">
              <a:defRPr sz="1875" b="0">
                <a:solidFill>
                  <a:srgbClr val="FFFFFF"/>
                </a:solidFill>
                <a:latin typeface="Rubik"/>
                <a:ea typeface="Rubik"/>
                <a:cs typeface="Rubik"/>
              </a:defRPr>
            </a:lvl4pPr>
            <a:lvl5pPr algn="l">
              <a:defRPr sz="1875" b="0">
                <a:solidFill>
                  <a:srgbClr val="FFFFFF"/>
                </a:solidFill>
                <a:latin typeface="Rubik"/>
                <a:ea typeface="Rubik"/>
                <a:cs typeface="Rubik"/>
              </a:defRPr>
            </a:lvl5pPr>
            <a:lvl6pPr algn="l">
              <a:defRPr sz="1875" b="0">
                <a:solidFill>
                  <a:srgbClr val="FFFFFF"/>
                </a:solidFill>
                <a:latin typeface="Rubik"/>
                <a:ea typeface="Rubik"/>
                <a:cs typeface="Rubik"/>
              </a:defRPr>
            </a:lvl6pPr>
            <a:lvl7pPr algn="l">
              <a:defRPr sz="1875" b="0">
                <a:solidFill>
                  <a:srgbClr val="FFFFFF"/>
                </a:solidFill>
                <a:latin typeface="Rubik"/>
                <a:ea typeface="Rubik"/>
                <a:cs typeface="Rubik"/>
              </a:defRPr>
            </a:lvl7pPr>
            <a:lvl8pPr algn="l">
              <a:defRPr sz="1875" b="0">
                <a:solidFill>
                  <a:srgbClr val="FFFFFF"/>
                </a:solidFill>
                <a:latin typeface="Rubik"/>
                <a:ea typeface="Rubik"/>
                <a:cs typeface="Rubik"/>
              </a:defRPr>
            </a:lvl8pPr>
            <a:lvl9pPr algn="l">
              <a:defRPr sz="1875" b="0">
                <a:solidFill>
                  <a:srgbClr val="FFFFFF"/>
                </a:solidFill>
                <a:latin typeface="Rubik"/>
                <a:ea typeface="Rubik"/>
                <a:cs typeface="Rubik"/>
              </a:defRPr>
            </a:lvl9pPr>
          </a:lstStyle>
          <a:p>
            <a:pPr algn="l">
              <a:lnSpc>
                <a:spcPct val="108000"/>
              </a:lnSpc>
              <a:buNone/>
              <a:defRPr sz="1875" b="0">
                <a:solidFill>
                  <a:srgbClr val="FFFFFF"/>
                </a:solidFill>
                <a:latin typeface="Rubik"/>
                <a:ea typeface="Rubik"/>
                <a:cs typeface="Rubik"/>
              </a:defRPr>
            </a:pPr>
            <a:r>
              <a:rPr sz="1875" b="0">
                <a:solidFill>
                  <a:srgbClr val="FFFFFF"/>
                </a:solidFill>
                <a:latin typeface="Rubik"/>
                <a:ea typeface="Rubik"/>
                <a:cs typeface="Rubik"/>
              </a:rPr>
              <a:t>USD/t a 90 días</a:t>
            </a:r>
          </a:p>
        </p:txBody>
      </p:sp>
      <p:sp>
        <p:nvSpPr>
          <p:cNvPr id="72" name="rule-222">
            <a:extLst>
              <a:ext uri="{FF2B5EF4-FFF2-40B4-BE49-F238E27FC236}">
                <a16:creationId xmlns:a16="http://schemas.microsoft.com/office/drawing/2014/main" id="{E05D2BAB-DEB6-CC18-8A93-B591F308E279}"/>
              </a:ext>
            </a:extLst>
          </p:cNvPr>
          <p:cNvSpPr>
            <a:spLocks noGrp="1"/>
          </p:cNvSpPr>
          <p:nvPr/>
        </p:nvSpPr>
        <p:spPr>
          <a:xfrm>
            <a:off x="8229600" y="4038600"/>
            <a:ext cx="3333750" cy="0"/>
          </a:xfrm>
          <a:prstGeom prst="line">
            <a:avLst/>
          </a:prstGeom>
          <a:noFill/>
          <a:ln w="11430">
            <a:solidFill>
              <a:srgbClr val="456D66"/>
            </a:solidFill>
            <a:prstDash val="solid"/>
          </a:ln>
        </p:spPr>
        <p:txBody>
          <a:bodyPr/>
          <a:lstStyle/>
          <a:p>
            <a:endParaRPr lang="es-AR"/>
          </a:p>
        </p:txBody>
      </p:sp>
      <p:sp>
        <p:nvSpPr>
          <p:cNvPr id="74" name="text-223">
            <a:extLst>
              <a:ext uri="{FF2B5EF4-FFF2-40B4-BE49-F238E27FC236}">
                <a16:creationId xmlns:a16="http://schemas.microsoft.com/office/drawing/2014/main" id="{9B8DB298-6EBA-4F9B-6825-D946AFA51568}"/>
              </a:ext>
            </a:extLst>
          </p:cNvPr>
          <p:cNvSpPr>
            <a:spLocks noGrp="1"/>
          </p:cNvSpPr>
          <p:nvPr/>
        </p:nvSpPr>
        <p:spPr>
          <a:xfrm>
            <a:off x="8229600" y="4286250"/>
            <a:ext cx="3333750" cy="323850"/>
          </a:xfrm>
          <a:prstGeom prst="rect">
            <a:avLst/>
          </a:prstGeom>
          <a:noFill/>
          <a:ln w="0">
            <a:noFill/>
            <a:prstDash val="solid"/>
          </a:ln>
        </p:spPr>
        <p:txBody>
          <a:bodyPr wrap="square" lIns="0" tIns="0" rIns="0" bIns="0" anchor="t">
            <a:noAutofit/>
          </a:bodyPr>
          <a:lstStyle>
            <a:defPPr algn="l">
              <a:defRPr sz="1725" b="0">
                <a:solidFill>
                  <a:srgbClr val="DCE8E3"/>
                </a:solidFill>
                <a:latin typeface="Rubik"/>
                <a:ea typeface="Rubik"/>
                <a:cs typeface="Rubik"/>
              </a:defRPr>
            </a:defPPr>
            <a:lvl1pPr algn="l">
              <a:defRPr sz="1725" b="0">
                <a:solidFill>
                  <a:srgbClr val="DCE8E3"/>
                </a:solidFill>
                <a:latin typeface="Rubik"/>
                <a:ea typeface="Rubik"/>
                <a:cs typeface="Rubik"/>
              </a:defRPr>
            </a:lvl1pPr>
            <a:lvl2pPr algn="l">
              <a:defRPr sz="1725" b="0">
                <a:solidFill>
                  <a:srgbClr val="DCE8E3"/>
                </a:solidFill>
                <a:latin typeface="Rubik"/>
                <a:ea typeface="Rubik"/>
                <a:cs typeface="Rubik"/>
              </a:defRPr>
            </a:lvl2pPr>
            <a:lvl3pPr algn="l">
              <a:defRPr sz="1725" b="0">
                <a:solidFill>
                  <a:srgbClr val="DCE8E3"/>
                </a:solidFill>
                <a:latin typeface="Rubik"/>
                <a:ea typeface="Rubik"/>
                <a:cs typeface="Rubik"/>
              </a:defRPr>
            </a:lvl3pPr>
            <a:lvl4pPr algn="l">
              <a:defRPr sz="1725" b="0">
                <a:solidFill>
                  <a:srgbClr val="DCE8E3"/>
                </a:solidFill>
                <a:latin typeface="Rubik"/>
                <a:ea typeface="Rubik"/>
                <a:cs typeface="Rubik"/>
              </a:defRPr>
            </a:lvl4pPr>
            <a:lvl5pPr algn="l">
              <a:defRPr sz="1725" b="0">
                <a:solidFill>
                  <a:srgbClr val="DCE8E3"/>
                </a:solidFill>
                <a:latin typeface="Rubik"/>
                <a:ea typeface="Rubik"/>
                <a:cs typeface="Rubik"/>
              </a:defRPr>
            </a:lvl5pPr>
            <a:lvl6pPr algn="l">
              <a:defRPr sz="1725" b="0">
                <a:solidFill>
                  <a:srgbClr val="DCE8E3"/>
                </a:solidFill>
                <a:latin typeface="Rubik"/>
                <a:ea typeface="Rubik"/>
                <a:cs typeface="Rubik"/>
              </a:defRPr>
            </a:lvl6pPr>
            <a:lvl7pPr algn="l">
              <a:defRPr sz="1725" b="0">
                <a:solidFill>
                  <a:srgbClr val="DCE8E3"/>
                </a:solidFill>
                <a:latin typeface="Rubik"/>
                <a:ea typeface="Rubik"/>
                <a:cs typeface="Rubik"/>
              </a:defRPr>
            </a:lvl7pPr>
            <a:lvl8pPr algn="l">
              <a:defRPr sz="1725" b="0">
                <a:solidFill>
                  <a:srgbClr val="DCE8E3"/>
                </a:solidFill>
                <a:latin typeface="Rubik"/>
                <a:ea typeface="Rubik"/>
                <a:cs typeface="Rubik"/>
              </a:defRPr>
            </a:lvl8pPr>
            <a:lvl9pPr algn="l">
              <a:defRPr sz="1725" b="0">
                <a:solidFill>
                  <a:srgbClr val="DCE8E3"/>
                </a:solidFill>
                <a:latin typeface="Rubik"/>
                <a:ea typeface="Rubik"/>
                <a:cs typeface="Rubik"/>
              </a:defRPr>
            </a:lvl9pPr>
          </a:lstStyle>
          <a:p>
            <a:pPr algn="l">
              <a:lnSpc>
                <a:spcPct val="108000"/>
              </a:lnSpc>
              <a:buNone/>
              <a:defRPr sz="1725" b="0">
                <a:solidFill>
                  <a:srgbClr val="DCE8E3"/>
                </a:solidFill>
                <a:latin typeface="Rubik"/>
                <a:ea typeface="Rubik"/>
                <a:cs typeface="Rubik"/>
              </a:defRPr>
            </a:pPr>
            <a:r>
              <a:rPr sz="1725" b="0" dirty="0" err="1">
                <a:solidFill>
                  <a:srgbClr val="DCE8E3"/>
                </a:solidFill>
                <a:latin typeface="Rubik"/>
                <a:ea typeface="Rubik"/>
                <a:cs typeface="Rubik"/>
              </a:rPr>
              <a:t>Precio</a:t>
            </a:r>
            <a:r>
              <a:rPr sz="1725" b="0" dirty="0">
                <a:solidFill>
                  <a:srgbClr val="DCE8E3"/>
                </a:solidFill>
                <a:latin typeface="Rubik"/>
                <a:ea typeface="Rubik"/>
                <a:cs typeface="Rubik"/>
              </a:rPr>
              <a:t> al 24/09: 232,5</a:t>
            </a:r>
          </a:p>
        </p:txBody>
      </p:sp>
      <p:sp>
        <p:nvSpPr>
          <p:cNvPr id="76" name="text-224">
            <a:extLst>
              <a:ext uri="{FF2B5EF4-FFF2-40B4-BE49-F238E27FC236}">
                <a16:creationId xmlns:a16="http://schemas.microsoft.com/office/drawing/2014/main" id="{6FAA35D0-E6B4-AA2B-7185-B2387C2D3241}"/>
              </a:ext>
            </a:extLst>
          </p:cNvPr>
          <p:cNvSpPr>
            <a:spLocks noGrp="1"/>
          </p:cNvSpPr>
          <p:nvPr/>
        </p:nvSpPr>
        <p:spPr>
          <a:xfrm>
            <a:off x="8229600" y="4695825"/>
            <a:ext cx="3333750" cy="647700"/>
          </a:xfrm>
          <a:prstGeom prst="rect">
            <a:avLst/>
          </a:prstGeom>
          <a:noFill/>
          <a:ln w="0">
            <a:noFill/>
            <a:prstDash val="solid"/>
          </a:ln>
        </p:spPr>
        <p:txBody>
          <a:bodyPr wrap="square" lIns="0" tIns="0" rIns="0" bIns="0" anchor="t">
            <a:noAutofit/>
          </a:bodyPr>
          <a:lstStyle>
            <a:defPPr algn="l">
              <a:defRPr sz="1800" b="0">
                <a:solidFill>
                  <a:srgbClr val="DCE8E3"/>
                </a:solidFill>
                <a:latin typeface="Rubik"/>
                <a:ea typeface="Rubik"/>
                <a:cs typeface="Rubik"/>
              </a:defRPr>
            </a:defPPr>
            <a:lvl1pPr algn="l">
              <a:defRPr sz="1800" b="0">
                <a:solidFill>
                  <a:srgbClr val="DCE8E3"/>
                </a:solidFill>
                <a:latin typeface="Rubik"/>
                <a:ea typeface="Rubik"/>
                <a:cs typeface="Rubik"/>
              </a:defRPr>
            </a:lvl1pPr>
            <a:lvl2pPr algn="l">
              <a:defRPr sz="1800" b="0">
                <a:solidFill>
                  <a:srgbClr val="DCE8E3"/>
                </a:solidFill>
                <a:latin typeface="Rubik"/>
                <a:ea typeface="Rubik"/>
                <a:cs typeface="Rubik"/>
              </a:defRPr>
            </a:lvl2pPr>
            <a:lvl3pPr algn="l">
              <a:defRPr sz="1800" b="0">
                <a:solidFill>
                  <a:srgbClr val="DCE8E3"/>
                </a:solidFill>
                <a:latin typeface="Rubik"/>
                <a:ea typeface="Rubik"/>
                <a:cs typeface="Rubik"/>
              </a:defRPr>
            </a:lvl3pPr>
            <a:lvl4pPr algn="l">
              <a:defRPr sz="1800" b="0">
                <a:solidFill>
                  <a:srgbClr val="DCE8E3"/>
                </a:solidFill>
                <a:latin typeface="Rubik"/>
                <a:ea typeface="Rubik"/>
                <a:cs typeface="Rubik"/>
              </a:defRPr>
            </a:lvl4pPr>
            <a:lvl5pPr algn="l">
              <a:defRPr sz="1800" b="0">
                <a:solidFill>
                  <a:srgbClr val="DCE8E3"/>
                </a:solidFill>
                <a:latin typeface="Rubik"/>
                <a:ea typeface="Rubik"/>
                <a:cs typeface="Rubik"/>
              </a:defRPr>
            </a:lvl5pPr>
            <a:lvl6pPr algn="l">
              <a:defRPr sz="1800" b="0">
                <a:solidFill>
                  <a:srgbClr val="DCE8E3"/>
                </a:solidFill>
                <a:latin typeface="Rubik"/>
                <a:ea typeface="Rubik"/>
                <a:cs typeface="Rubik"/>
              </a:defRPr>
            </a:lvl6pPr>
            <a:lvl7pPr algn="l">
              <a:defRPr sz="1800" b="0">
                <a:solidFill>
                  <a:srgbClr val="DCE8E3"/>
                </a:solidFill>
                <a:latin typeface="Rubik"/>
                <a:ea typeface="Rubik"/>
                <a:cs typeface="Rubik"/>
              </a:defRPr>
            </a:lvl7pPr>
            <a:lvl8pPr algn="l">
              <a:defRPr sz="1800" b="0">
                <a:solidFill>
                  <a:srgbClr val="DCE8E3"/>
                </a:solidFill>
                <a:latin typeface="Rubik"/>
                <a:ea typeface="Rubik"/>
                <a:cs typeface="Rubik"/>
              </a:defRPr>
            </a:lvl8pPr>
            <a:lvl9pPr algn="l">
              <a:defRPr sz="1800" b="0">
                <a:solidFill>
                  <a:srgbClr val="DCE8E3"/>
                </a:solidFill>
                <a:latin typeface="Rubik"/>
                <a:ea typeface="Rubik"/>
                <a:cs typeface="Rubik"/>
              </a:defRPr>
            </a:lvl9pPr>
          </a:lstStyle>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30 días: 233,7</a:t>
            </a:r>
          </a:p>
          <a:p>
            <a:pPr algn="l">
              <a:lnSpc>
                <a:spcPct val="108000"/>
              </a:lnSpc>
              <a:buNone/>
              <a:defRPr sz="1800" b="0">
                <a:solidFill>
                  <a:srgbClr val="DCE8E3"/>
                </a:solidFill>
                <a:latin typeface="Rubik"/>
                <a:ea typeface="Rubik"/>
                <a:cs typeface="Rubik"/>
              </a:defRPr>
            </a:pPr>
            <a:r>
              <a:rPr sz="1800" b="0" dirty="0">
                <a:solidFill>
                  <a:srgbClr val="DCE8E3"/>
                </a:solidFill>
                <a:latin typeface="Rubik"/>
                <a:ea typeface="Rubik"/>
                <a:cs typeface="Rubik"/>
              </a:rPr>
              <a:t>A 60 días: 232,2</a:t>
            </a:r>
          </a:p>
        </p:txBody>
      </p:sp>
      <p:sp>
        <p:nvSpPr>
          <p:cNvPr id="78" name="text-226">
            <a:extLst>
              <a:ext uri="{FF2B5EF4-FFF2-40B4-BE49-F238E27FC236}">
                <a16:creationId xmlns:a16="http://schemas.microsoft.com/office/drawing/2014/main" id="{B7F1AC2C-A876-3C73-E7B4-C22B8E491E84}"/>
              </a:ext>
            </a:extLst>
          </p:cNvPr>
          <p:cNvSpPr>
            <a:spLocks noGrp="1"/>
          </p:cNvSpPr>
          <p:nvPr/>
        </p:nvSpPr>
        <p:spPr>
          <a:xfrm>
            <a:off x="762000" y="6143625"/>
            <a:ext cx="10972800" cy="438150"/>
          </a:xfrm>
          <a:prstGeom prst="rect">
            <a:avLst/>
          </a:prstGeom>
          <a:noFill/>
          <a:ln w="0">
            <a:noFill/>
            <a:prstDash val="solid"/>
          </a:ln>
        </p:spPr>
        <p:txBody>
          <a:bodyPr wrap="square" lIns="0" tIns="0" rIns="0" bIns="0" anchor="t">
            <a:noAutofit/>
          </a:bodyPr>
          <a:lstStyle>
            <a:defPPr algn="l">
              <a:defRPr sz="1575" b="0">
                <a:solidFill>
                  <a:srgbClr val="DCE8E3"/>
                </a:solidFill>
                <a:latin typeface="Rubik"/>
                <a:ea typeface="Rubik"/>
                <a:cs typeface="Rubik"/>
              </a:defRPr>
            </a:defPPr>
            <a:lvl1pPr algn="l">
              <a:defRPr sz="1575" b="0">
                <a:solidFill>
                  <a:srgbClr val="DCE8E3"/>
                </a:solidFill>
                <a:latin typeface="Rubik"/>
                <a:ea typeface="Rubik"/>
                <a:cs typeface="Rubik"/>
              </a:defRPr>
            </a:lvl1pPr>
            <a:lvl2pPr algn="l">
              <a:defRPr sz="1575" b="0">
                <a:solidFill>
                  <a:srgbClr val="DCE8E3"/>
                </a:solidFill>
                <a:latin typeface="Rubik"/>
                <a:ea typeface="Rubik"/>
                <a:cs typeface="Rubik"/>
              </a:defRPr>
            </a:lvl2pPr>
            <a:lvl3pPr algn="l">
              <a:defRPr sz="1575" b="0">
                <a:solidFill>
                  <a:srgbClr val="DCE8E3"/>
                </a:solidFill>
                <a:latin typeface="Rubik"/>
                <a:ea typeface="Rubik"/>
                <a:cs typeface="Rubik"/>
              </a:defRPr>
            </a:lvl3pPr>
            <a:lvl4pPr algn="l">
              <a:defRPr sz="1575" b="0">
                <a:solidFill>
                  <a:srgbClr val="DCE8E3"/>
                </a:solidFill>
                <a:latin typeface="Rubik"/>
                <a:ea typeface="Rubik"/>
                <a:cs typeface="Rubik"/>
              </a:defRPr>
            </a:lvl4pPr>
            <a:lvl5pPr algn="l">
              <a:defRPr sz="1575" b="0">
                <a:solidFill>
                  <a:srgbClr val="DCE8E3"/>
                </a:solidFill>
                <a:latin typeface="Rubik"/>
                <a:ea typeface="Rubik"/>
                <a:cs typeface="Rubik"/>
              </a:defRPr>
            </a:lvl5pPr>
            <a:lvl6pPr algn="l">
              <a:defRPr sz="1575" b="0">
                <a:solidFill>
                  <a:srgbClr val="DCE8E3"/>
                </a:solidFill>
                <a:latin typeface="Rubik"/>
                <a:ea typeface="Rubik"/>
                <a:cs typeface="Rubik"/>
              </a:defRPr>
            </a:lvl6pPr>
            <a:lvl7pPr algn="l">
              <a:defRPr sz="1575" b="0">
                <a:solidFill>
                  <a:srgbClr val="DCE8E3"/>
                </a:solidFill>
                <a:latin typeface="Rubik"/>
                <a:ea typeface="Rubik"/>
                <a:cs typeface="Rubik"/>
              </a:defRPr>
            </a:lvl7pPr>
            <a:lvl8pPr algn="l">
              <a:defRPr sz="1575" b="0">
                <a:solidFill>
                  <a:srgbClr val="DCE8E3"/>
                </a:solidFill>
                <a:latin typeface="Rubik"/>
                <a:ea typeface="Rubik"/>
                <a:cs typeface="Rubik"/>
              </a:defRPr>
            </a:lvl8pPr>
            <a:lvl9pPr algn="l">
              <a:defRPr sz="1575" b="0">
                <a:solidFill>
                  <a:srgbClr val="DCE8E3"/>
                </a:solidFill>
                <a:latin typeface="Rubik"/>
                <a:ea typeface="Rubik"/>
                <a:cs typeface="Rubik"/>
              </a:defRPr>
            </a:lvl9pPr>
          </a:lstStyle>
          <a:p>
            <a:pPr algn="l">
              <a:lnSpc>
                <a:spcPct val="108000"/>
              </a:lnSpc>
              <a:buNone/>
              <a:defRPr sz="1575" b="0">
                <a:solidFill>
                  <a:srgbClr val="DCE8E3"/>
                </a:solidFill>
                <a:latin typeface="Rubik"/>
                <a:ea typeface="Rubik"/>
                <a:cs typeface="Rubik"/>
              </a:defRPr>
            </a:pPr>
            <a:r>
              <a:rPr sz="1575" b="0">
                <a:solidFill>
                  <a:srgbClr val="DCE8E3"/>
                </a:solidFill>
                <a:latin typeface="Rubik"/>
                <a:ea typeface="Rubik"/>
                <a:cs typeface="Rubik"/>
              </a:rPr>
              <a:t>Las bandas tuvieron 80% de cobertura en la prueba. Esa cobertura futura no está garantizada.</a:t>
            </a:r>
          </a:p>
        </p:txBody>
      </p:sp>
      <p:pic>
        <p:nvPicPr>
          <p:cNvPr id="80" name="Gráfico 79" descr="Soja contorno">
            <a:extLst>
              <a:ext uri="{FF2B5EF4-FFF2-40B4-BE49-F238E27FC236}">
                <a16:creationId xmlns:a16="http://schemas.microsoft.com/office/drawing/2014/main" id="{90D6FDCC-B539-C637-651F-420B9E5F6C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2024" y="1959428"/>
            <a:ext cx="677636" cy="677636"/>
          </a:xfrm>
          <a:prstGeom prst="rect">
            <a:avLst/>
          </a:prstGeom>
        </p:spPr>
      </p:pic>
      <p:pic>
        <p:nvPicPr>
          <p:cNvPr id="82" name="Gráfico 81" descr="Cultivos contorno">
            <a:extLst>
              <a:ext uri="{FF2B5EF4-FFF2-40B4-BE49-F238E27FC236}">
                <a16:creationId xmlns:a16="http://schemas.microsoft.com/office/drawing/2014/main" id="{5B7FDC8B-2F3E-1995-E277-F5A80C664B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86192" y="1901598"/>
            <a:ext cx="748394" cy="748394"/>
          </a:xfrm>
          <a:prstGeom prst="rect">
            <a:avLst/>
          </a:prstGeom>
        </p:spPr>
      </p:pic>
      <p:pic>
        <p:nvPicPr>
          <p:cNvPr id="84" name="Gráfico 83" descr="Maíz contorno">
            <a:extLst>
              <a:ext uri="{FF2B5EF4-FFF2-40B4-BE49-F238E27FC236}">
                <a16:creationId xmlns:a16="http://schemas.microsoft.com/office/drawing/2014/main" id="{6B2806B3-5DA0-2459-31F1-8C9D876BAC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14281" y="1894794"/>
            <a:ext cx="748394" cy="748394"/>
          </a:xfrm>
          <a:prstGeom prst="rect">
            <a:avLst/>
          </a:prstGeom>
        </p:spPr>
      </p:pic>
    </p:spTree>
    <p:extLst>
      <p:ext uri="{BB962C8B-B14F-4D97-AF65-F5344CB8AC3E}">
        <p14:creationId xmlns:p14="http://schemas.microsoft.com/office/powerpoint/2010/main" val="439899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E3A"/>
          </a:solidFill>
          <a:ln/>
        </p:spPr>
        <p:txBody>
          <a:bodyPr/>
          <a:lstStyle/>
          <a:p>
            <a:endParaRPr lang="es-AR"/>
          </a:p>
        </p:txBody>
      </p:sp>
      <p:sp>
        <p:nvSpPr>
          <p:cNvPr id="3" name="Text 1"/>
          <p:cNvSpPr/>
          <p:nvPr/>
        </p:nvSpPr>
        <p:spPr>
          <a:xfrm>
            <a:off x="609585" y="4662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FFFFFF"/>
                </a:solidFill>
                <a:latin typeface="JetBrains Mono Medium" pitchFamily="34" charset="0"/>
                <a:ea typeface="JetBrains Mono Medium" pitchFamily="34" charset="-122"/>
                <a:cs typeface="JetBrains Mono Medium" pitchFamily="34" charset="0"/>
              </a:rPr>
              <a:t>SÍNTESIS</a:t>
            </a:r>
            <a:endParaRPr lang="en-US" sz="1450" dirty="0"/>
          </a:p>
        </p:txBody>
      </p:sp>
      <p:sp>
        <p:nvSpPr>
          <p:cNvPr id="4" name="Text 2"/>
          <p:cNvSpPr/>
          <p:nvPr/>
        </p:nvSpPr>
        <p:spPr>
          <a:xfrm>
            <a:off x="609585" y="7602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FFFFFF"/>
                </a:solidFill>
                <a:latin typeface="Public Sans Bold" pitchFamily="34" charset="0"/>
                <a:ea typeface="Public Sans Bold" pitchFamily="34" charset="-122"/>
                <a:cs typeface="Public Sans Bold" pitchFamily="34" charset="0"/>
              </a:rPr>
              <a:t>Conclusiones</a:t>
            </a:r>
            <a:endParaRPr lang="en-US" sz="2800" dirty="0"/>
          </a:p>
        </p:txBody>
      </p:sp>
      <p:sp>
        <p:nvSpPr>
          <p:cNvPr id="5" name="Shape 3"/>
          <p:cNvSpPr/>
          <p:nvPr/>
        </p:nvSpPr>
        <p:spPr>
          <a:xfrm>
            <a:off x="609585" y="1331516"/>
            <a:ext cx="3454314" cy="3639939"/>
          </a:xfrm>
          <a:prstGeom prst="rect">
            <a:avLst/>
          </a:prstGeom>
          <a:solidFill>
            <a:srgbClr val="071216"/>
          </a:solidFill>
          <a:ln/>
        </p:spPr>
        <p:txBody>
          <a:bodyPr/>
          <a:lstStyle/>
          <a:p>
            <a:endParaRPr lang="es-AR"/>
          </a:p>
        </p:txBody>
      </p:sp>
      <p:sp>
        <p:nvSpPr>
          <p:cNvPr id="6" name="Text 4"/>
          <p:cNvSpPr/>
          <p:nvPr/>
        </p:nvSpPr>
        <p:spPr>
          <a:xfrm>
            <a:off x="838179" y="1560116"/>
            <a:ext cx="721203" cy="266700"/>
          </a:xfrm>
          <a:prstGeom prst="rect">
            <a:avLst/>
          </a:prstGeom>
          <a:noFill/>
          <a:ln/>
        </p:spPr>
        <p:txBody>
          <a:bodyPr wrap="none" lIns="0" tIns="0" rIns="0" bIns="0" rtlCol="0" anchor="t"/>
          <a:lstStyle/>
          <a:p>
            <a:pPr marL="0" indent="0" algn="l">
              <a:lnSpc>
                <a:spcPct val="83000"/>
              </a:lnSpc>
              <a:buNone/>
            </a:pPr>
            <a:r>
              <a:rPr lang="en-US" sz="2100" dirty="0">
                <a:solidFill>
                  <a:srgbClr val="FFFFFF"/>
                </a:solidFill>
                <a:latin typeface="Public Sans SemiBold" pitchFamily="34" charset="0"/>
                <a:ea typeface="Public Sans SemiBold" pitchFamily="34" charset="-122"/>
                <a:cs typeface="Public Sans SemiBold" pitchFamily="34" charset="0"/>
              </a:rPr>
              <a:t>1</a:t>
            </a:r>
            <a:endParaRPr lang="en-US" sz="2100" dirty="0"/>
          </a:p>
        </p:txBody>
      </p:sp>
      <p:sp>
        <p:nvSpPr>
          <p:cNvPr id="7" name="Text 5"/>
          <p:cNvSpPr/>
          <p:nvPr/>
        </p:nvSpPr>
        <p:spPr>
          <a:xfrm>
            <a:off x="838179" y="1900180"/>
            <a:ext cx="2997125" cy="677664"/>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100" spc="-5" dirty="0">
                <a:solidFill>
                  <a:srgbClr val="FFFFFF"/>
                </a:solidFill>
                <a:latin typeface="Public Sans Bold" pitchFamily="34" charset="0"/>
                <a:ea typeface="Public Sans Bold" pitchFamily="34" charset="-122"/>
                <a:cs typeface="Public Sans Bold" pitchFamily="34" charset="0"/>
              </a:rPr>
              <a:t>La web alcanzó para armar el dataset</a:t>
            </a:r>
            <a:endParaRPr lang="en-US" sz="2300" dirty="0"/>
          </a:p>
        </p:txBody>
      </p:sp>
      <p:sp>
        <p:nvSpPr>
          <p:cNvPr id="8" name="Text 6"/>
          <p:cNvSpPr/>
          <p:nvPr/>
        </p:nvSpPr>
        <p:spPr>
          <a:xfrm>
            <a:off x="838179" y="2709648"/>
            <a:ext cx="2997125" cy="1706563"/>
          </a:xfrm>
          <a:prstGeom prst="rect">
            <a:avLst/>
          </a:prstGeom>
          <a:noFill/>
          <a:ln/>
        </p:spPr>
        <p:txBody>
          <a:bodyPr wrap="square" lIns="0" tIns="0" rIns="0" bIns="0" rtlCol="0" anchor="t">
            <a:normAutofit/>
          </a:bodyPr>
          <a:lstStyle/>
          <a:p>
            <a:pPr marL="0" indent="0" algn="l">
              <a:lnSpc>
                <a:spcPct val="107000"/>
              </a:lnSpc>
              <a:buNone/>
            </a:pPr>
            <a:r>
              <a:rPr lang="en-US" sz="2100" dirty="0">
                <a:solidFill>
                  <a:srgbClr val="FFFFFF"/>
                </a:solidFill>
                <a:latin typeface="Public Sans" pitchFamily="34" charset="0"/>
                <a:ea typeface="Public Sans" pitchFamily="34" charset="-122"/>
                <a:cs typeface="Public Sans" pitchFamily="34" charset="0"/>
              </a:rPr>
              <a:t>Un scraping de 837 páginas y dos APIs públicas, CEM2 y NOAA, sin pagar ningún dato</a:t>
            </a:r>
            <a:endParaRPr lang="en-US" sz="2100" dirty="0"/>
          </a:p>
        </p:txBody>
      </p:sp>
      <p:sp>
        <p:nvSpPr>
          <p:cNvPr id="9" name="Shape 7"/>
          <p:cNvSpPr/>
          <p:nvPr/>
        </p:nvSpPr>
        <p:spPr>
          <a:xfrm>
            <a:off x="4368691" y="1331516"/>
            <a:ext cx="3454314" cy="3639939"/>
          </a:xfrm>
          <a:prstGeom prst="rect">
            <a:avLst/>
          </a:prstGeom>
          <a:solidFill>
            <a:srgbClr val="071216"/>
          </a:solidFill>
          <a:ln/>
        </p:spPr>
        <p:txBody>
          <a:bodyPr/>
          <a:lstStyle/>
          <a:p>
            <a:endParaRPr lang="es-AR"/>
          </a:p>
        </p:txBody>
      </p:sp>
      <p:sp>
        <p:nvSpPr>
          <p:cNvPr id="10" name="Text 8"/>
          <p:cNvSpPr/>
          <p:nvPr/>
        </p:nvSpPr>
        <p:spPr>
          <a:xfrm>
            <a:off x="4597285" y="1560116"/>
            <a:ext cx="774284" cy="266700"/>
          </a:xfrm>
          <a:prstGeom prst="rect">
            <a:avLst/>
          </a:prstGeom>
          <a:noFill/>
          <a:ln/>
        </p:spPr>
        <p:txBody>
          <a:bodyPr wrap="none" lIns="0" tIns="0" rIns="0" bIns="0" rtlCol="0" anchor="t"/>
          <a:lstStyle/>
          <a:p>
            <a:pPr marL="0" indent="0" algn="l">
              <a:lnSpc>
                <a:spcPct val="83000"/>
              </a:lnSpc>
              <a:buNone/>
            </a:pPr>
            <a:r>
              <a:rPr lang="en-US" sz="2100" dirty="0">
                <a:solidFill>
                  <a:srgbClr val="FFFFFF"/>
                </a:solidFill>
                <a:latin typeface="Public Sans SemiBold" pitchFamily="34" charset="0"/>
                <a:ea typeface="Public Sans SemiBold" pitchFamily="34" charset="-122"/>
                <a:cs typeface="Public Sans SemiBold" pitchFamily="34" charset="0"/>
              </a:rPr>
              <a:t>2</a:t>
            </a:r>
            <a:endParaRPr lang="en-US" sz="2100" dirty="0"/>
          </a:p>
        </p:txBody>
      </p:sp>
      <p:sp>
        <p:nvSpPr>
          <p:cNvPr id="11" name="Text 9"/>
          <p:cNvSpPr/>
          <p:nvPr/>
        </p:nvSpPr>
        <p:spPr>
          <a:xfrm>
            <a:off x="4597285" y="1900180"/>
            <a:ext cx="2997125" cy="677664"/>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100" spc="-5" dirty="0">
                <a:solidFill>
                  <a:srgbClr val="FFFFFF"/>
                </a:solidFill>
                <a:latin typeface="Public Sans Bold" pitchFamily="34" charset="0"/>
                <a:ea typeface="Public Sans Bold" pitchFamily="34" charset="-122"/>
                <a:cs typeface="Public Sans Bold" pitchFamily="34" charset="0"/>
              </a:rPr>
              <a:t>El trabajo pesado fue limpiar e integrar</a:t>
            </a:r>
            <a:endParaRPr lang="en-US" sz="2300" dirty="0"/>
          </a:p>
        </p:txBody>
      </p:sp>
      <p:sp>
        <p:nvSpPr>
          <p:cNvPr id="12" name="Text 10"/>
          <p:cNvSpPr/>
          <p:nvPr/>
        </p:nvSpPr>
        <p:spPr>
          <a:xfrm>
            <a:off x="4597285" y="2709648"/>
            <a:ext cx="2997125" cy="2047875"/>
          </a:xfrm>
          <a:prstGeom prst="rect">
            <a:avLst/>
          </a:prstGeom>
          <a:noFill/>
          <a:ln/>
        </p:spPr>
        <p:txBody>
          <a:bodyPr wrap="square" lIns="0" tIns="0" rIns="0" bIns="0" rtlCol="0" anchor="t">
            <a:normAutofit/>
          </a:bodyPr>
          <a:lstStyle/>
          <a:p>
            <a:pPr marL="0" indent="0" algn="l">
              <a:lnSpc>
                <a:spcPct val="107000"/>
              </a:lnSpc>
              <a:buNone/>
            </a:pPr>
            <a:r>
              <a:rPr lang="en-US" sz="2100" dirty="0">
                <a:solidFill>
                  <a:srgbClr val="FFFFFF"/>
                </a:solidFill>
                <a:latin typeface="Public Sans" pitchFamily="34" charset="0"/>
                <a:ea typeface="Public Sans" pitchFamily="34" charset="-122"/>
                <a:cs typeface="Public Sans" pitchFamily="34" charset="0"/>
              </a:rPr>
              <a:t>Formatos distintos, contratos que se pisan, precios en 0, cambios de posición y calendarios de dos países</a:t>
            </a:r>
            <a:endParaRPr lang="en-US" sz="2100" dirty="0"/>
          </a:p>
        </p:txBody>
      </p:sp>
      <p:sp>
        <p:nvSpPr>
          <p:cNvPr id="13" name="Shape 11"/>
          <p:cNvSpPr/>
          <p:nvPr/>
        </p:nvSpPr>
        <p:spPr>
          <a:xfrm>
            <a:off x="8127797" y="1331516"/>
            <a:ext cx="3454314" cy="3639939"/>
          </a:xfrm>
          <a:prstGeom prst="rect">
            <a:avLst/>
          </a:prstGeom>
          <a:solidFill>
            <a:srgbClr val="071216"/>
          </a:solidFill>
          <a:ln/>
        </p:spPr>
        <p:txBody>
          <a:bodyPr/>
          <a:lstStyle/>
          <a:p>
            <a:endParaRPr lang="es-AR"/>
          </a:p>
        </p:txBody>
      </p:sp>
      <p:sp>
        <p:nvSpPr>
          <p:cNvPr id="14" name="Text 12"/>
          <p:cNvSpPr/>
          <p:nvPr/>
        </p:nvSpPr>
        <p:spPr>
          <a:xfrm>
            <a:off x="8356391" y="1560116"/>
            <a:ext cx="782717" cy="266700"/>
          </a:xfrm>
          <a:prstGeom prst="rect">
            <a:avLst/>
          </a:prstGeom>
          <a:noFill/>
          <a:ln/>
        </p:spPr>
        <p:txBody>
          <a:bodyPr wrap="none" lIns="0" tIns="0" rIns="0" bIns="0" rtlCol="0" anchor="t"/>
          <a:lstStyle/>
          <a:p>
            <a:pPr marL="0" indent="0" algn="l">
              <a:lnSpc>
                <a:spcPct val="83000"/>
              </a:lnSpc>
              <a:buNone/>
            </a:pPr>
            <a:r>
              <a:rPr lang="en-US" sz="2100" dirty="0">
                <a:solidFill>
                  <a:srgbClr val="FFFFFF"/>
                </a:solidFill>
                <a:latin typeface="Public Sans SemiBold" pitchFamily="34" charset="0"/>
                <a:ea typeface="Public Sans SemiBold" pitchFamily="34" charset="-122"/>
                <a:cs typeface="Public Sans SemiBold" pitchFamily="34" charset="0"/>
              </a:rPr>
              <a:t>3</a:t>
            </a:r>
            <a:endParaRPr lang="en-US" sz="2100" dirty="0"/>
          </a:p>
        </p:txBody>
      </p:sp>
      <p:sp>
        <p:nvSpPr>
          <p:cNvPr id="15" name="Text 13"/>
          <p:cNvSpPr/>
          <p:nvPr/>
        </p:nvSpPr>
        <p:spPr>
          <a:xfrm>
            <a:off x="8356391" y="1900180"/>
            <a:ext cx="2997125" cy="1016496"/>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100" spc="-5" dirty="0">
                <a:solidFill>
                  <a:srgbClr val="FFFFFF"/>
                </a:solidFill>
                <a:latin typeface="Public Sans Bold" pitchFamily="34" charset="0"/>
                <a:ea typeface="Public Sans Bold" pitchFamily="34" charset="-122"/>
                <a:cs typeface="Public Sans Bold" pitchFamily="34" charset="0"/>
              </a:rPr>
              <a:t>Con estos datos, el precio de hoy no se mejora</a:t>
            </a:r>
            <a:endParaRPr lang="en-US" sz="2300" dirty="0"/>
          </a:p>
        </p:txBody>
      </p:sp>
      <p:sp>
        <p:nvSpPr>
          <p:cNvPr id="16" name="Text 14"/>
          <p:cNvSpPr/>
          <p:nvPr/>
        </p:nvSpPr>
        <p:spPr>
          <a:xfrm>
            <a:off x="8356391" y="3048480"/>
            <a:ext cx="2997125" cy="1706563"/>
          </a:xfrm>
          <a:prstGeom prst="rect">
            <a:avLst/>
          </a:prstGeom>
          <a:noFill/>
          <a:ln/>
        </p:spPr>
        <p:txBody>
          <a:bodyPr wrap="square" lIns="0" tIns="0" rIns="0" bIns="0" rtlCol="0" anchor="t">
            <a:normAutofit/>
          </a:bodyPr>
          <a:lstStyle/>
          <a:p>
            <a:pPr marL="0" indent="0" algn="l">
              <a:lnSpc>
                <a:spcPct val="107000"/>
              </a:lnSpc>
              <a:buNone/>
            </a:pPr>
            <a:r>
              <a:rPr lang="en-US" sz="2100" dirty="0">
                <a:solidFill>
                  <a:srgbClr val="FFFFFF"/>
                </a:solidFill>
                <a:latin typeface="Public Sans" pitchFamily="34" charset="0"/>
                <a:ea typeface="Public Sans" pitchFamily="34" charset="-122"/>
                <a:cs typeface="Public Sans" pitchFamily="34" charset="0"/>
              </a:rPr>
              <a:t>Chicago es la fuente que más aporta y el clima casi nada; ninguna mejora es significativa</a:t>
            </a:r>
            <a:endParaRPr lang="en-US" sz="2100" dirty="0"/>
          </a:p>
        </p:txBody>
      </p:sp>
      <p:sp>
        <p:nvSpPr>
          <p:cNvPr id="17" name="Text 15"/>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18" name="Text 16"/>
          <p:cNvSpPr/>
          <p:nvPr/>
        </p:nvSpPr>
        <p:spPr>
          <a:xfrm>
            <a:off x="11462356" y="6581676"/>
            <a:ext cx="729339"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8F9F5"/>
        </a:solidFill>
        <a:effectLst/>
      </p:bgPr>
    </p:bg>
    <p:spTree>
      <p:nvGrpSpPr>
        <p:cNvPr id="1" name=""/>
        <p:cNvGrpSpPr/>
        <p:nvPr/>
      </p:nvGrpSpPr>
      <p:grpSpPr>
        <a:xfrm>
          <a:off x="0" y="0"/>
          <a:ext cx="0" cy="0"/>
          <a:chOff x="0" y="0"/>
          <a:chExt cx="0" cy="0"/>
        </a:xfrm>
      </p:grpSpPr>
      <p:sp>
        <p:nvSpPr>
          <p:cNvPr id="2" name="Text 0"/>
          <p:cNvSpPr/>
          <p:nvPr/>
        </p:nvSpPr>
        <p:spPr>
          <a:xfrm>
            <a:off x="609585" y="618622"/>
            <a:ext cx="11582110"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142E3A"/>
                </a:solidFill>
                <a:latin typeface="JetBrains Mono Medium" pitchFamily="34" charset="0"/>
                <a:ea typeface="JetBrains Mono Medium" pitchFamily="34" charset="-122"/>
                <a:cs typeface="JetBrains Mono Medium" pitchFamily="34" charset="0"/>
              </a:rPr>
              <a:t>PRÓXIMOS PASOS</a:t>
            </a:r>
            <a:endParaRPr lang="en-US" sz="1450" dirty="0"/>
          </a:p>
        </p:txBody>
      </p:sp>
      <p:sp>
        <p:nvSpPr>
          <p:cNvPr id="3" name="Text 1"/>
          <p:cNvSpPr/>
          <p:nvPr/>
        </p:nvSpPr>
        <p:spPr>
          <a:xfrm>
            <a:off x="609585" y="912692"/>
            <a:ext cx="10972526" cy="383977"/>
          </a:xfrm>
          <a:prstGeom prst="rect">
            <a:avLst/>
          </a:prstGeom>
          <a:noFill/>
          <a:ln/>
        </p:spPr>
        <p:txBody>
          <a:bodyPr wrap="none" lIns="0" tIns="0" rIns="0" bIns="0" rtlCol="0" anchor="t"/>
          <a:lstStyle/>
          <a:p>
            <a:pPr marL="0" indent="0" algn="l">
              <a:lnSpc>
                <a:spcPct val="90000"/>
              </a:lnSpc>
              <a:buNone/>
            </a:pPr>
            <a:r>
              <a:rPr lang="en-US" sz="2800" b="1" kern="100" spc="-22" dirty="0">
                <a:solidFill>
                  <a:srgbClr val="142E3A"/>
                </a:solidFill>
                <a:latin typeface="Public Sans Bold" pitchFamily="34" charset="0"/>
                <a:ea typeface="Public Sans Bold" pitchFamily="34" charset="-122"/>
                <a:cs typeface="Public Sans Bold" pitchFamily="34" charset="0"/>
              </a:rPr>
              <a:t>Próximos pasos</a:t>
            </a:r>
            <a:endParaRPr lang="en-US" sz="2800" dirty="0"/>
          </a:p>
        </p:txBody>
      </p:sp>
      <p:sp>
        <p:nvSpPr>
          <p:cNvPr id="4" name="Text 2"/>
          <p:cNvSpPr/>
          <p:nvPr/>
        </p:nvSpPr>
        <p:spPr>
          <a:xfrm>
            <a:off x="609585" y="1457436"/>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5E6B70"/>
                </a:solidFill>
                <a:latin typeface="Public Sans" pitchFamily="34" charset="0"/>
                <a:ea typeface="Public Sans" pitchFamily="34" charset="-122"/>
                <a:cs typeface="Public Sans" pitchFamily="34" charset="0"/>
              </a:rPr>
              <a:t>Lo que haríamos después, con foco en sumar datos de la web</a:t>
            </a:r>
            <a:endParaRPr lang="en-US" sz="1600" dirty="0"/>
          </a:p>
        </p:txBody>
      </p:sp>
      <p:sp>
        <p:nvSpPr>
          <p:cNvPr id="5" name="Shape 3"/>
          <p:cNvSpPr/>
          <p:nvPr/>
        </p:nvSpPr>
        <p:spPr>
          <a:xfrm>
            <a:off x="609585" y="1878707"/>
            <a:ext cx="3505112" cy="1540768"/>
          </a:xfrm>
          <a:prstGeom prst="roundRect">
            <a:avLst>
              <a:gd name="adj" fmla="val 742"/>
            </a:avLst>
          </a:prstGeom>
          <a:noFill/>
          <a:ln w="38099">
            <a:solidFill>
              <a:srgbClr val="D1D3C9"/>
            </a:solidFill>
            <a:prstDash val="solid"/>
          </a:ln>
        </p:spPr>
        <p:txBody>
          <a:bodyPr/>
          <a:lstStyle/>
          <a:p>
            <a:endParaRPr lang="es-AR"/>
          </a:p>
        </p:txBody>
      </p:sp>
      <p:sp>
        <p:nvSpPr>
          <p:cNvPr id="6" name="Text 4"/>
          <p:cNvSpPr/>
          <p:nvPr/>
        </p:nvSpPr>
        <p:spPr>
          <a:xfrm>
            <a:off x="825479" y="2098290"/>
            <a:ext cx="3073323"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Más historia</a:t>
            </a:r>
            <a:endParaRPr lang="en-US" sz="1900" dirty="0"/>
          </a:p>
        </p:txBody>
      </p:sp>
      <p:sp>
        <p:nvSpPr>
          <p:cNvPr id="7" name="Text 5"/>
          <p:cNvSpPr/>
          <p:nvPr/>
        </p:nvSpPr>
        <p:spPr>
          <a:xfrm>
            <a:off x="825479" y="2502773"/>
            <a:ext cx="3073323"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Scrapear la BCR y CEM2 antes de 2023 para cubrir varias campañas y no solo 2023–2026</a:t>
            </a:r>
            <a:endParaRPr lang="en-US" sz="1500" dirty="0"/>
          </a:p>
        </p:txBody>
      </p:sp>
      <p:sp>
        <p:nvSpPr>
          <p:cNvPr id="8" name="Shape 6"/>
          <p:cNvSpPr/>
          <p:nvPr/>
        </p:nvSpPr>
        <p:spPr>
          <a:xfrm>
            <a:off x="4419489" y="1878707"/>
            <a:ext cx="3352716" cy="1540768"/>
          </a:xfrm>
          <a:prstGeom prst="roundRect">
            <a:avLst>
              <a:gd name="adj" fmla="val 742"/>
            </a:avLst>
          </a:prstGeom>
          <a:noFill/>
          <a:ln w="38099">
            <a:solidFill>
              <a:srgbClr val="D1D3C9"/>
            </a:solidFill>
            <a:prstDash val="solid"/>
          </a:ln>
        </p:spPr>
        <p:txBody>
          <a:bodyPr/>
          <a:lstStyle/>
          <a:p>
            <a:endParaRPr lang="es-AR"/>
          </a:p>
        </p:txBody>
      </p:sp>
      <p:sp>
        <p:nvSpPr>
          <p:cNvPr id="9" name="Text 7"/>
          <p:cNvSpPr/>
          <p:nvPr/>
        </p:nvSpPr>
        <p:spPr>
          <a:xfrm>
            <a:off x="4635384" y="2098290"/>
            <a:ext cx="2920927"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Scraping automático</a:t>
            </a:r>
            <a:endParaRPr lang="en-US" sz="1900" dirty="0"/>
          </a:p>
        </p:txBody>
      </p:sp>
      <p:sp>
        <p:nvSpPr>
          <p:cNvPr id="10" name="Text 8"/>
          <p:cNvSpPr/>
          <p:nvPr/>
        </p:nvSpPr>
        <p:spPr>
          <a:xfrm>
            <a:off x="4635384" y="2502773"/>
            <a:ext cx="2920927"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Correr el pipeline todos los días, con reintentos y alertas, y guardar en una base de datos</a:t>
            </a:r>
            <a:endParaRPr lang="en-US" sz="1500" dirty="0"/>
          </a:p>
        </p:txBody>
      </p:sp>
      <p:sp>
        <p:nvSpPr>
          <p:cNvPr id="11" name="Shape 9"/>
          <p:cNvSpPr/>
          <p:nvPr/>
        </p:nvSpPr>
        <p:spPr>
          <a:xfrm>
            <a:off x="8076998" y="1878707"/>
            <a:ext cx="3505112" cy="1540768"/>
          </a:xfrm>
          <a:prstGeom prst="roundRect">
            <a:avLst>
              <a:gd name="adj" fmla="val 742"/>
            </a:avLst>
          </a:prstGeom>
          <a:noFill/>
          <a:ln w="38099">
            <a:solidFill>
              <a:srgbClr val="D1D3C9"/>
            </a:solidFill>
            <a:prstDash val="solid"/>
          </a:ln>
        </p:spPr>
        <p:txBody>
          <a:bodyPr/>
          <a:lstStyle/>
          <a:p>
            <a:endParaRPr lang="es-AR"/>
          </a:p>
        </p:txBody>
      </p:sp>
      <p:sp>
        <p:nvSpPr>
          <p:cNvPr id="12" name="Text 10"/>
          <p:cNvSpPr/>
          <p:nvPr/>
        </p:nvSpPr>
        <p:spPr>
          <a:xfrm>
            <a:off x="8292893" y="2098290"/>
            <a:ext cx="3073323"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Minería de texto</a:t>
            </a:r>
            <a:endParaRPr lang="en-US" sz="1900" dirty="0"/>
          </a:p>
        </p:txBody>
      </p:sp>
      <p:sp>
        <p:nvSpPr>
          <p:cNvPr id="13" name="Text 11"/>
          <p:cNvSpPr/>
          <p:nvPr/>
        </p:nvSpPr>
        <p:spPr>
          <a:xfrm>
            <a:off x="8292893" y="2502773"/>
            <a:ext cx="3073323"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Noticias agro e informes de USDA y BCR con análisis de sentimiento como nuevas variables</a:t>
            </a:r>
            <a:endParaRPr lang="en-US" sz="1500" dirty="0"/>
          </a:p>
        </p:txBody>
      </p:sp>
      <p:sp>
        <p:nvSpPr>
          <p:cNvPr id="14" name="Shape 12"/>
          <p:cNvSpPr/>
          <p:nvPr/>
        </p:nvSpPr>
        <p:spPr>
          <a:xfrm>
            <a:off x="609585" y="3724275"/>
            <a:ext cx="3505112" cy="1776909"/>
          </a:xfrm>
          <a:prstGeom prst="roundRect">
            <a:avLst>
              <a:gd name="adj" fmla="val 643"/>
            </a:avLst>
          </a:prstGeom>
          <a:noFill/>
          <a:ln w="38099">
            <a:solidFill>
              <a:srgbClr val="D1D3C9"/>
            </a:solidFill>
            <a:prstDash val="solid"/>
          </a:ln>
        </p:spPr>
        <p:txBody>
          <a:bodyPr/>
          <a:lstStyle/>
          <a:p>
            <a:endParaRPr lang="es-AR"/>
          </a:p>
        </p:txBody>
      </p:sp>
      <p:sp>
        <p:nvSpPr>
          <p:cNvPr id="15" name="Text 13"/>
          <p:cNvSpPr/>
          <p:nvPr/>
        </p:nvSpPr>
        <p:spPr>
          <a:xfrm>
            <a:off x="825479" y="3943858"/>
            <a:ext cx="3073323"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Política y dólar</a:t>
            </a:r>
            <a:endParaRPr lang="en-US" sz="1900" dirty="0"/>
          </a:p>
        </p:txBody>
      </p:sp>
      <p:sp>
        <p:nvSpPr>
          <p:cNvPr id="16" name="Text 14"/>
          <p:cNvSpPr/>
          <p:nvPr/>
        </p:nvSpPr>
        <p:spPr>
          <a:xfrm>
            <a:off x="825479" y="4348341"/>
            <a:ext cx="3073323"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Tipo de cambio y retenciones desde fuentes oficiales: explican los saltos más grandes</a:t>
            </a:r>
            <a:endParaRPr lang="en-US" sz="1500" dirty="0"/>
          </a:p>
        </p:txBody>
      </p:sp>
      <p:sp>
        <p:nvSpPr>
          <p:cNvPr id="17" name="Shape 15"/>
          <p:cNvSpPr/>
          <p:nvPr/>
        </p:nvSpPr>
        <p:spPr>
          <a:xfrm>
            <a:off x="4419489" y="3724275"/>
            <a:ext cx="3352716" cy="1776909"/>
          </a:xfrm>
          <a:prstGeom prst="roundRect">
            <a:avLst>
              <a:gd name="adj" fmla="val 643"/>
            </a:avLst>
          </a:prstGeom>
          <a:noFill/>
          <a:ln w="38099">
            <a:solidFill>
              <a:srgbClr val="D1D3C9"/>
            </a:solidFill>
            <a:prstDash val="solid"/>
          </a:ln>
        </p:spPr>
        <p:txBody>
          <a:bodyPr/>
          <a:lstStyle/>
          <a:p>
            <a:endParaRPr lang="es-AR"/>
          </a:p>
        </p:txBody>
      </p:sp>
      <p:sp>
        <p:nvSpPr>
          <p:cNvPr id="18" name="Text 16"/>
          <p:cNvSpPr/>
          <p:nvPr/>
        </p:nvSpPr>
        <p:spPr>
          <a:xfrm>
            <a:off x="4635384" y="3943858"/>
            <a:ext cx="2920927"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Clima de Sudamérica</a:t>
            </a:r>
            <a:endParaRPr lang="en-US" sz="1900" dirty="0"/>
          </a:p>
        </p:txBody>
      </p:sp>
      <p:sp>
        <p:nvSpPr>
          <p:cNvPr id="19" name="Text 17"/>
          <p:cNvSpPr/>
          <p:nvPr/>
        </p:nvSpPr>
        <p:spPr>
          <a:xfrm>
            <a:off x="4635384" y="4348341"/>
            <a:ext cx="2920927" cy="708422"/>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Lluvia de la zona núcleo argentina y de Brasil, y ponderar cada estado por su producción</a:t>
            </a:r>
            <a:endParaRPr lang="en-US" sz="1500" dirty="0"/>
          </a:p>
        </p:txBody>
      </p:sp>
      <p:sp>
        <p:nvSpPr>
          <p:cNvPr id="20" name="Shape 18"/>
          <p:cNvSpPr/>
          <p:nvPr/>
        </p:nvSpPr>
        <p:spPr>
          <a:xfrm>
            <a:off x="8076998" y="3724275"/>
            <a:ext cx="3505112" cy="1776909"/>
          </a:xfrm>
          <a:prstGeom prst="roundRect">
            <a:avLst>
              <a:gd name="adj" fmla="val 643"/>
            </a:avLst>
          </a:prstGeom>
          <a:noFill/>
          <a:ln w="38099">
            <a:solidFill>
              <a:srgbClr val="D1D3C9"/>
            </a:solidFill>
            <a:prstDash val="solid"/>
          </a:ln>
        </p:spPr>
        <p:txBody>
          <a:bodyPr/>
          <a:lstStyle/>
          <a:p>
            <a:endParaRPr lang="es-AR"/>
          </a:p>
        </p:txBody>
      </p:sp>
      <p:sp>
        <p:nvSpPr>
          <p:cNvPr id="21" name="Text 19"/>
          <p:cNvSpPr/>
          <p:nvPr/>
        </p:nvSpPr>
        <p:spPr>
          <a:xfrm>
            <a:off x="8292893" y="3943858"/>
            <a:ext cx="3073323"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142E3A"/>
                </a:solidFill>
                <a:latin typeface="Public Sans Bold" pitchFamily="34" charset="0"/>
                <a:ea typeface="Public Sans Bold" pitchFamily="34" charset="-122"/>
                <a:cs typeface="Public Sans Bold" pitchFamily="34" charset="0"/>
              </a:rPr>
              <a:t>Mejores modelos</a:t>
            </a:r>
            <a:endParaRPr lang="en-US" sz="1900" dirty="0"/>
          </a:p>
        </p:txBody>
      </p:sp>
      <p:sp>
        <p:nvSpPr>
          <p:cNvPr id="22" name="Text 20"/>
          <p:cNvSpPr/>
          <p:nvPr/>
        </p:nvSpPr>
        <p:spPr>
          <a:xfrm>
            <a:off x="8292893" y="4348341"/>
            <a:ext cx="3073323" cy="944563"/>
          </a:xfrm>
          <a:prstGeom prst="rect">
            <a:avLst/>
          </a:prstGeom>
          <a:noFill/>
          <a:ln/>
        </p:spPr>
        <p:txBody>
          <a:bodyPr wrap="square" lIns="0" tIns="0" rIns="0" bIns="0" rtlCol="0" anchor="t">
            <a:normAutofit/>
          </a:bodyPr>
          <a:lstStyle/>
          <a:p>
            <a:pPr marL="0" indent="0" algn="l">
              <a:lnSpc>
                <a:spcPct val="103000"/>
              </a:lnSpc>
              <a:buNone/>
            </a:pPr>
            <a:r>
              <a:rPr lang="en-US" sz="1500" dirty="0">
                <a:solidFill>
                  <a:srgbClr val="5E6B70"/>
                </a:solidFill>
                <a:latin typeface="Public Sans" pitchFamily="34" charset="0"/>
                <a:ea typeface="Public Sans" pitchFamily="34" charset="-122"/>
                <a:cs typeface="Public Sans" pitchFamily="34" charset="0"/>
              </a:rPr>
              <a:t>Combinar modelos y medir el acierto de los rangos de pronóstico, no solo del valor central</a:t>
            </a:r>
            <a:endParaRPr lang="en-US" sz="1500" dirty="0"/>
          </a:p>
        </p:txBody>
      </p:sp>
      <p:sp>
        <p:nvSpPr>
          <p:cNvPr id="23" name="Text 21"/>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24" name="Text 22"/>
          <p:cNvSpPr/>
          <p:nvPr/>
        </p:nvSpPr>
        <p:spPr>
          <a:xfrm>
            <a:off x="11464440" y="6581676"/>
            <a:ext cx="727255"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E3A"/>
          </a:solidFill>
          <a:ln/>
        </p:spPr>
        <p:txBody>
          <a:bodyPr/>
          <a:lstStyle/>
          <a:p>
            <a:endParaRPr lang="es-AR"/>
          </a:p>
        </p:txBody>
      </p:sp>
      <p:pic>
        <p:nvPicPr>
          <p:cNvPr id="3" name="Image 0" descr="preencoded.png"/>
          <p:cNvPicPr>
            <a:picLocks noChangeAspect="1"/>
          </p:cNvPicPr>
          <p:nvPr/>
        </p:nvPicPr>
        <p:blipFill>
          <a:blip r:embed="rId3"/>
          <a:stretch>
            <a:fillRect/>
          </a:stretch>
        </p:blipFill>
        <p:spPr>
          <a:xfrm>
            <a:off x="1219170" y="1066800"/>
            <a:ext cx="1378015" cy="1676301"/>
          </a:xfrm>
          <a:prstGeom prst="rect">
            <a:avLst/>
          </a:prstGeom>
        </p:spPr>
      </p:pic>
      <p:sp>
        <p:nvSpPr>
          <p:cNvPr id="4" name="Text 1"/>
          <p:cNvSpPr/>
          <p:nvPr/>
        </p:nvSpPr>
        <p:spPr>
          <a:xfrm>
            <a:off x="1219170" y="2900652"/>
            <a:ext cx="5181470" cy="673596"/>
          </a:xfrm>
          <a:prstGeom prst="rect">
            <a:avLst/>
          </a:prstGeom>
          <a:noFill/>
          <a:ln/>
        </p:spPr>
        <p:txBody>
          <a:bodyPr wrap="none" lIns="0" tIns="0" rIns="0" bIns="0" rtlCol="0" anchor="t"/>
          <a:lstStyle/>
          <a:p>
            <a:pPr marL="0" indent="0" algn="l">
              <a:lnSpc>
                <a:spcPct val="85000"/>
              </a:lnSpc>
              <a:buNone/>
            </a:pPr>
            <a:r>
              <a:rPr lang="en-US" sz="5200" b="1" kern="100" spc="-73" dirty="0">
                <a:solidFill>
                  <a:srgbClr val="FFFFFF"/>
                </a:solidFill>
                <a:latin typeface="Public Sans Bold" pitchFamily="34" charset="0"/>
                <a:ea typeface="Public Sans Bold" pitchFamily="34" charset="-122"/>
                <a:cs typeface="Public Sans Bold" pitchFamily="34" charset="0"/>
              </a:rPr>
              <a:t>Muchas gracias</a:t>
            </a:r>
            <a:endParaRPr lang="en-US" sz="5200" dirty="0"/>
          </a:p>
        </p:txBody>
      </p:sp>
      <p:sp>
        <p:nvSpPr>
          <p:cNvPr id="5" name="Text 2"/>
          <p:cNvSpPr/>
          <p:nvPr/>
        </p:nvSpPr>
        <p:spPr>
          <a:xfrm>
            <a:off x="1219170" y="3695594"/>
            <a:ext cx="5791055" cy="217289"/>
          </a:xfrm>
          <a:prstGeom prst="rect">
            <a:avLst/>
          </a:prstGeom>
          <a:noFill/>
          <a:ln/>
        </p:spPr>
        <p:txBody>
          <a:bodyPr wrap="none" lIns="0" tIns="0" rIns="0" bIns="0" rtlCol="0" anchor="t"/>
          <a:lstStyle/>
          <a:p>
            <a:pPr marL="0" indent="0" algn="l">
              <a:lnSpc>
                <a:spcPct val="98000"/>
              </a:lnSpc>
              <a:buNone/>
            </a:pPr>
            <a:r>
              <a:rPr lang="en-US" sz="1450" kern="100" spc="87" dirty="0">
                <a:solidFill>
                  <a:srgbClr val="FFFFFF"/>
                </a:solidFill>
                <a:latin typeface="JetBrains Mono Medium" pitchFamily="34" charset="0"/>
                <a:ea typeface="JetBrains Mono Medium" pitchFamily="34" charset="-122"/>
                <a:cs typeface="JetBrains Mono Medium" pitchFamily="34" charset="0"/>
              </a:rPr>
              <a:t>NOTEBOOKS EN GOOGLE COLAB</a:t>
            </a:r>
            <a:endParaRPr lang="en-US" sz="1450" dirty="0"/>
          </a:p>
        </p:txBody>
      </p:sp>
      <p:sp>
        <p:nvSpPr>
          <p:cNvPr id="6" name="Text 3"/>
          <p:cNvSpPr/>
          <p:nvPr/>
        </p:nvSpPr>
        <p:spPr>
          <a:xfrm>
            <a:off x="1219170" y="3977394"/>
            <a:ext cx="5181470" cy="279896"/>
          </a:xfrm>
          <a:prstGeom prst="rect">
            <a:avLst/>
          </a:prstGeom>
          <a:noFill/>
          <a:ln/>
        </p:spPr>
        <p:txBody>
          <a:bodyPr wrap="none" lIns="0" tIns="0" rIns="0" bIns="0" rtlCol="0" anchor="t"/>
          <a:lstStyle/>
          <a:p>
            <a:pPr marL="0" indent="0" algn="l">
              <a:lnSpc>
                <a:spcPct val="97000"/>
              </a:lnSpc>
              <a:buNone/>
            </a:pPr>
            <a:r>
              <a:rPr lang="en-US" sz="1900" b="1" kern="100" spc="-4" dirty="0">
                <a:solidFill>
                  <a:srgbClr val="FFFFFF"/>
                </a:solidFill>
                <a:latin typeface="Public Sans Bold" pitchFamily="34" charset="0"/>
                <a:ea typeface="Public Sans Bold" pitchFamily="34" charset="-122"/>
                <a:cs typeface="Public Sans Bold" pitchFamily="34" charset="0"/>
              </a:rPr>
              <a:t>01b: dataset     02b: modelos</a:t>
            </a:r>
            <a:endParaRPr lang="en-US" sz="1900" dirty="0"/>
          </a:p>
        </p:txBody>
      </p:sp>
      <p:sp>
        <p:nvSpPr>
          <p:cNvPr id="7" name="Text 4"/>
          <p:cNvSpPr/>
          <p:nvPr/>
        </p:nvSpPr>
        <p:spPr>
          <a:xfrm>
            <a:off x="1219170" y="4471476"/>
            <a:ext cx="5181470" cy="682625"/>
          </a:xfrm>
          <a:prstGeom prst="rect">
            <a:avLst/>
          </a:prstGeom>
          <a:noFill/>
          <a:ln/>
        </p:spPr>
        <p:txBody>
          <a:bodyPr wrap="square" lIns="0" tIns="0" rIns="0" bIns="0" rtlCol="0" anchor="t">
            <a:normAutofit/>
          </a:bodyPr>
          <a:lstStyle/>
          <a:p>
            <a:pPr marL="0" indent="0" algn="l">
              <a:lnSpc>
                <a:spcPct val="107000"/>
              </a:lnSpc>
              <a:buNone/>
            </a:pPr>
            <a:r>
              <a:rPr lang="en-US" sz="2100" dirty="0">
                <a:solidFill>
                  <a:srgbClr val="FFFFFF"/>
                </a:solidFill>
                <a:latin typeface="Public Sans" pitchFamily="34" charset="0"/>
                <a:ea typeface="Public Sans" pitchFamily="34" charset="-122"/>
                <a:cs typeface="Public Sans" pitchFamily="34" charset="0"/>
              </a:rPr>
              <a:t>Jorge Barbona     Sofía Cremydas</a:t>
            </a:r>
            <a:endParaRPr lang="en-US" sz="2100" dirty="0"/>
          </a:p>
          <a:p>
            <a:pPr marL="0" indent="0" algn="l">
              <a:lnSpc>
                <a:spcPct val="107000"/>
              </a:lnSpc>
              <a:buNone/>
            </a:pPr>
            <a:r>
              <a:rPr lang="en-US" sz="2100" dirty="0">
                <a:solidFill>
                  <a:srgbClr val="FFFFFF"/>
                </a:solidFill>
                <a:latin typeface="Public Sans" pitchFamily="34" charset="0"/>
                <a:ea typeface="Public Sans" pitchFamily="34" charset="-122"/>
                <a:cs typeface="Public Sans" pitchFamily="34" charset="0"/>
              </a:rPr>
              <a:t>Diego Carabajal     Nicolás Caggiano</a:t>
            </a:r>
            <a:endParaRPr lang="en-US" sz="2100" dirty="0"/>
          </a:p>
        </p:txBody>
      </p:sp>
      <p:sp>
        <p:nvSpPr>
          <p:cNvPr id="8" name="Text 5"/>
          <p:cNvSpPr/>
          <p:nvPr/>
        </p:nvSpPr>
        <p:spPr>
          <a:xfrm>
            <a:off x="1219170" y="5299452"/>
            <a:ext cx="5791055" cy="236141"/>
          </a:xfrm>
          <a:prstGeom prst="rect">
            <a:avLst/>
          </a:prstGeom>
          <a:noFill/>
          <a:ln/>
        </p:spPr>
        <p:txBody>
          <a:bodyPr wrap="none" lIns="0" tIns="0" rIns="0" bIns="0" rtlCol="0" anchor="t"/>
          <a:lstStyle/>
          <a:p>
            <a:pPr marL="0" indent="0" algn="l">
              <a:lnSpc>
                <a:spcPct val="103000"/>
              </a:lnSpc>
              <a:buNone/>
            </a:pPr>
            <a:r>
              <a:rPr lang="en-US" sz="1500" dirty="0">
                <a:solidFill>
                  <a:srgbClr val="FFFFFF"/>
                </a:solidFill>
                <a:latin typeface="Public Sans" pitchFamily="34" charset="0"/>
                <a:ea typeface="Public Sans" pitchFamily="34" charset="-122"/>
                <a:cs typeface="Public Sans" pitchFamily="34" charset="0"/>
              </a:rPr>
              <a:t>Grupo 6 · Octubre de 2026</a:t>
            </a:r>
            <a:endParaRPr lang="en-US" sz="1500" dirty="0"/>
          </a:p>
        </p:txBody>
      </p:sp>
      <p:pic>
        <p:nvPicPr>
          <p:cNvPr id="9" name="Image 1" descr="preencoded.png"/>
          <p:cNvPicPr>
            <a:picLocks noChangeAspect="1"/>
          </p:cNvPicPr>
          <p:nvPr/>
        </p:nvPicPr>
        <p:blipFill>
          <a:blip r:embed="rId4"/>
          <a:stretch>
            <a:fillRect/>
          </a:stretch>
        </p:blipFill>
        <p:spPr>
          <a:xfrm>
            <a:off x="7314918" y="457200"/>
            <a:ext cx="4267192" cy="5943600"/>
          </a:xfrm>
          <a:prstGeom prst="rect">
            <a:avLst/>
          </a:prstGeom>
        </p:spPr>
      </p:pic>
      <p:sp>
        <p:nvSpPr>
          <p:cNvPr id="10" name="Text 6"/>
          <p:cNvSpPr/>
          <p:nvPr/>
        </p:nvSpPr>
        <p:spPr>
          <a:xfrm>
            <a:off x="609585" y="6581676"/>
            <a:ext cx="2788672"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WEB MINING · PREDICCIÓN DE PRECIOS</a:t>
            </a:r>
            <a:endParaRPr lang="en-US" sz="900" dirty="0"/>
          </a:p>
        </p:txBody>
      </p:sp>
      <p:sp>
        <p:nvSpPr>
          <p:cNvPr id="11" name="Text 7"/>
          <p:cNvSpPr/>
          <p:nvPr/>
        </p:nvSpPr>
        <p:spPr>
          <a:xfrm>
            <a:off x="11466920" y="6581676"/>
            <a:ext cx="724775" cy="146248"/>
          </a:xfrm>
          <a:prstGeom prst="rect">
            <a:avLst/>
          </a:prstGeom>
          <a:noFill/>
          <a:ln/>
        </p:spPr>
        <p:txBody>
          <a:bodyPr wrap="none" lIns="0" tIns="0" rIns="0" bIns="0" rtlCol="0" anchor="ctr"/>
          <a:lstStyle/>
          <a:p>
            <a:pPr marL="0" indent="0" algn="l">
              <a:lnSpc>
                <a:spcPct val="107000"/>
              </a:lnSpc>
              <a:buNone/>
            </a:pPr>
            <a:r>
              <a:rPr lang="en-US" sz="900" dirty="0">
                <a:solidFill>
                  <a:srgbClr val="142E3A"/>
                </a:solidFill>
                <a:latin typeface="Public Sans" pitchFamily="34" charset="0"/>
                <a:ea typeface="Public Sans" pitchFamily="34" charset="-122"/>
                <a:cs typeface="Public Sans" pitchFamily="34" charset="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3231</Words>
  <Application>Microsoft Office PowerPoint</Application>
  <PresentationFormat>Panorámica</PresentationFormat>
  <Paragraphs>393</Paragraphs>
  <Slides>16</Slides>
  <Notes>16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16</vt:i4>
      </vt:variant>
    </vt:vector>
  </HeadingPairs>
  <TitlesOfParts>
    <vt:vector size="27" baseType="lpstr">
      <vt:lpstr>Rubik</vt:lpstr>
      <vt:lpstr>Consolas</vt:lpstr>
      <vt:lpstr>Public Sans SemiBold</vt:lpstr>
      <vt:lpstr>JetBrains Mono Bold</vt:lpstr>
      <vt:lpstr>Inter</vt:lpstr>
      <vt:lpstr>Arial</vt:lpstr>
      <vt:lpstr>JetBrains Mono Medium</vt:lpstr>
      <vt:lpstr>Montserrat</vt:lpstr>
      <vt:lpstr>Public Sans</vt:lpstr>
      <vt:lpstr>Public Sans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Sofia Cremydas</dc:creator>
  <cp:lastModifiedBy>Sofia Cremydas</cp:lastModifiedBy>
  <cp:revision>3</cp:revision>
  <dcterms:created xsi:type="dcterms:W3CDTF">2026-10-26T15:06:35Z</dcterms:created>
  <dcterms:modified xsi:type="dcterms:W3CDTF">2026-10-27T22:34:33Z</dcterms:modified>
</cp:coreProperties>
</file>